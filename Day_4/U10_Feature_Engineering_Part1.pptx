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3AAFA9"/>
            </a:solidFill>
            <a:ln w="38100" cap="flat">
              <a:solidFill>
                <a:srgbClr val="3AAF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AFA9"/>
              </a:solidFill>
              <a:ln w="9525" cap="flat">
                <a:solidFill>
                  <a:srgbClr val="3AAF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Sheet1!$A$2:$A$52</c:f>
              <c:multiLvlStrCache>
                <c:ptCount val="51"/>
                <c:lvl>
                  <c:pt idx="0">
                    <c:v>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</c:v>
                  </c:pt>
                  <c:pt idx="6">
                    <c:v>1.2</c:v>
                  </c:pt>
                  <c:pt idx="7">
                    <c:v>1.4</c:v>
                  </c:pt>
                  <c:pt idx="8">
                    <c:v>1.6</c:v>
                  </c:pt>
                  <c:pt idx="9">
                    <c:v>1.8</c:v>
                  </c:pt>
                  <c:pt idx="10">
                    <c:v>2</c:v>
                  </c:pt>
                  <c:pt idx="11">
                    <c:v>2.2</c:v>
                  </c:pt>
                  <c:pt idx="12">
                    <c:v>2.4</c:v>
                  </c:pt>
                  <c:pt idx="13">
                    <c:v>2.6</c:v>
                  </c:pt>
                  <c:pt idx="14">
                    <c:v>2.8</c:v>
                  </c:pt>
                  <c:pt idx="15">
                    <c:v>3</c:v>
                  </c:pt>
                  <c:pt idx="16">
                    <c:v>3.2</c:v>
                  </c:pt>
                  <c:pt idx="17">
                    <c:v>3.4</c:v>
                  </c:pt>
                  <c:pt idx="18">
                    <c:v>3.6</c:v>
                  </c:pt>
                  <c:pt idx="19">
                    <c:v>3.8</c:v>
                  </c:pt>
                  <c:pt idx="20">
                    <c:v>4</c:v>
                  </c:pt>
                  <c:pt idx="21">
                    <c:v>4.2</c:v>
                  </c:pt>
                  <c:pt idx="22">
                    <c:v>4.4</c:v>
                  </c:pt>
                  <c:pt idx="23">
                    <c:v>4.6</c:v>
                  </c:pt>
                  <c:pt idx="24">
                    <c:v>4.8</c:v>
                  </c:pt>
                  <c:pt idx="25">
                    <c:v>5</c:v>
                  </c:pt>
                  <c:pt idx="26">
                    <c:v>5.2</c:v>
                  </c:pt>
                  <c:pt idx="27">
                    <c:v>5.4</c:v>
                  </c:pt>
                  <c:pt idx="28">
                    <c:v>5.6</c:v>
                  </c:pt>
                  <c:pt idx="29">
                    <c:v>5.8</c:v>
                  </c:pt>
                  <c:pt idx="30">
                    <c:v>6</c:v>
                  </c:pt>
                  <c:pt idx="31">
                    <c:v>6.2</c:v>
                  </c:pt>
                  <c:pt idx="32">
                    <c:v>6.4</c:v>
                  </c:pt>
                  <c:pt idx="33">
                    <c:v>6.6</c:v>
                  </c:pt>
                  <c:pt idx="34">
                    <c:v>6.8</c:v>
                  </c:pt>
                  <c:pt idx="35">
                    <c:v>7</c:v>
                  </c:pt>
                  <c:pt idx="36">
                    <c:v>7.2</c:v>
                  </c:pt>
                  <c:pt idx="37">
                    <c:v>7.4</c:v>
                  </c:pt>
                  <c:pt idx="38">
                    <c:v>7.6</c:v>
                  </c:pt>
                  <c:pt idx="39">
                    <c:v>7.8</c:v>
                  </c:pt>
                  <c:pt idx="40">
                    <c:v>8</c:v>
                  </c:pt>
                  <c:pt idx="41">
                    <c:v>8.2</c:v>
                  </c:pt>
                  <c:pt idx="42">
                    <c:v>8.4</c:v>
                  </c:pt>
                  <c:pt idx="43">
                    <c:v>8.6</c:v>
                  </c:pt>
                  <c:pt idx="44">
                    <c:v>8.8</c:v>
                  </c:pt>
                  <c:pt idx="45">
                    <c:v>9</c:v>
                  </c:pt>
                  <c:pt idx="46">
                    <c:v>9.2</c:v>
                  </c:pt>
                  <c:pt idx="47">
                    <c:v>9.4</c:v>
                  </c:pt>
                  <c:pt idx="48">
                    <c:v>9.6</c:v>
                  </c:pt>
                  <c:pt idx="49">
                    <c:v>9.8</c:v>
                  </c:pt>
                  <c:pt idx="50">
                    <c:v>10</c:v>
                  </c:pt>
                </c:lvl>
              </c:multiLvlStrCache>
            </c:multiLvlStrRef>
          </c:cat>
          <c:val>
            <c:numRef>
              <c:f>Sheet1!$B$2:$B$52</c:f>
              <c:numCache>
                <c:formatCode>General</c:formatCode>
                <c:ptCount val="51"/>
                <c:pt idx="0">
                  <c:v>0</c:v>
                </c:pt>
                <c:pt idx="1">
                  <c:v>0.0636026171138045</c:v>
                </c:pt>
                <c:pt idx="2">
                  <c:v>0.1610460111962187</c:v>
                </c:pt>
                <c:pt idx="3">
                  <c:v>0.25734929353862146</c:v>
                </c:pt>
                <c:pt idx="4">
                  <c:v>0.3406057318866969</c:v>
                </c:pt>
                <c:pt idx="5">
                  <c:v>0.4065696597405991</c:v>
                </c:pt>
                <c:pt idx="6">
                  <c:v>0.454623575455394</c:v>
                </c:pt>
                <c:pt idx="7">
                  <c:v>0.48595248788891393</c:v>
                </c:pt>
                <c:pt idx="8">
                  <c:v>0.5025831434133231</c:v>
                </c:pt>
                <c:pt idx="9">
                  <c:v>0.50684941255973</c:v>
                </c:pt>
                <c:pt idx="10">
                  <c:v>0.5010925266064185</c:v>
                </c:pt>
                <c:pt idx="11">
                  <c:v>0.48749842300199614</c:v>
                </c:pt>
                <c:pt idx="12">
                  <c:v>0.46801729892448835</c:v>
                </c:pt>
                <c:pt idx="13">
                  <c:v>0.44433269327848646</c:v>
                </c:pt>
                <c:pt idx="14">
                  <c:v>0.4178599574943993</c:v>
                </c:pt>
                <c:pt idx="15">
                  <c:v>0.38976147164675123</c:v>
                </c:pt>
                <c:pt idx="16">
                  <c:v>0.36097062169361593</c:v>
                </c:pt>
                <c:pt idx="17">
                  <c:v>0.33221952476447747</c:v>
                </c:pt>
                <c:pt idx="18">
                  <c:v>0.3040674134893573</c:v>
                </c:pt>
                <c:pt idx="19">
                  <c:v>0.27692784523923525</c:v>
                </c:pt>
                <c:pt idx="20">
                  <c:v>0.2510937202208042</c:v>
                </c:pt>
                <c:pt idx="21">
                  <c:v>0.22675962130861058</c:v>
                </c:pt>
                <c:pt idx="22">
                  <c:v>0.204041324510811</c:v>
                </c:pt>
                <c:pt idx="23">
                  <c:v>0.18299253589932646</c:v>
                </c:pt>
                <c:pt idx="24">
                  <c:v>0.16361903162750618</c:v>
                </c:pt>
                <c:pt idx="25">
                  <c:v>0.14589044143359312</c:v>
                </c:pt>
                <c:pt idx="26">
                  <c:v>0.1297499426344171</c:v>
                </c:pt>
                <c:pt idx="27">
                  <c:v>0.11512213458811359</c:v>
                </c:pt>
                <c:pt idx="28">
                  <c:v>0.10191935215206854</c:v>
                </c:pt>
                <c:pt idx="29">
                  <c:v>0.09004665699578367</c:v>
                </c:pt>
                <c:pt idx="30">
                  <c:v>0.07940572188877987</c:v>
                </c:pt>
                <c:pt idx="31">
                  <c:v>0.06989779797666615</c:v>
                </c:pt>
                <c:pt idx="32">
                  <c:v>0.06142593029849133</c:v>
                </c:pt>
                <c:pt idx="33">
                  <c:v>0.05389656341963395</c:v>
                </c:pt>
                <c:pt idx="34">
                  <c:v>0.047220657628834053</c:v>
                </c:pt>
                <c:pt idx="35">
                  <c:v>0.04131441693863643</c:v>
                </c:pt>
                <c:pt idx="36">
                  <c:v>0.03609971319669375</c:v>
                </c:pt>
                <c:pt idx="37">
                  <c:v>0.03150427589501708</c:v>
                </c:pt>
                <c:pt idx="38">
                  <c:v>0.027461704613457552</c:v>
                </c:pt>
                <c:pt idx="39">
                  <c:v>0.023911350269891916</c:v>
                </c:pt>
                <c:pt idx="40">
                  <c:v>0.020798102272998734</c:v>
                </c:pt>
                <c:pt idx="41">
                  <c:v>0.018072111082577908</c:v>
                </c:pt>
                <c:pt idx="42">
                  <c:v>0.015688469383305096</c:v>
                </c:pt>
                <c:pt idx="43">
                  <c:v>0.01360686989033232</c:v>
                </c:pt>
                <c:pt idx="44">
                  <c:v>0.0117912535653782</c:v>
                </c:pt>
                <c:pt idx="45">
                  <c:v>0.010209458583604917</c:v>
                </c:pt>
                <c:pt idx="46">
                  <c:v>0.008832877625878819</c:v>
                </c:pt>
                <c:pt idx="47">
                  <c:v>0.007636128865919211</c:v>
                </c:pt>
                <c:pt idx="48">
                  <c:v>0.006596744280823932</c:v>
                </c:pt>
                <c:pt idx="49">
                  <c:v>0.005694877554063493</c:v>
                </c:pt>
                <c:pt idx="50">
                  <c:v>0.004913032792350943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2D6A9F"/>
            </a:solidFill>
            <a:ln w="38100" cap="flat">
              <a:solidFill>
                <a:srgbClr val="2D6A9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Sheet1!$A$2:$A$52</c:f>
              <c:multiLvlStrCache>
                <c:ptCount val="51"/>
                <c:lvl>
                  <c:pt idx="0">
                    <c:v>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</c:v>
                  </c:pt>
                  <c:pt idx="6">
                    <c:v>1.2</c:v>
                  </c:pt>
                  <c:pt idx="7">
                    <c:v>1.4</c:v>
                  </c:pt>
                  <c:pt idx="8">
                    <c:v>1.6</c:v>
                  </c:pt>
                  <c:pt idx="9">
                    <c:v>1.8</c:v>
                  </c:pt>
                  <c:pt idx="10">
                    <c:v>2</c:v>
                  </c:pt>
                  <c:pt idx="11">
                    <c:v>2.2</c:v>
                  </c:pt>
                  <c:pt idx="12">
                    <c:v>2.4</c:v>
                  </c:pt>
                  <c:pt idx="13">
                    <c:v>2.6</c:v>
                  </c:pt>
                  <c:pt idx="14">
                    <c:v>2.8</c:v>
                  </c:pt>
                  <c:pt idx="15">
                    <c:v>3</c:v>
                  </c:pt>
                  <c:pt idx="16">
                    <c:v>3.2</c:v>
                  </c:pt>
                  <c:pt idx="17">
                    <c:v>3.4</c:v>
                  </c:pt>
                  <c:pt idx="18">
                    <c:v>3.6</c:v>
                  </c:pt>
                  <c:pt idx="19">
                    <c:v>3.8</c:v>
                  </c:pt>
                  <c:pt idx="20">
                    <c:v>4</c:v>
                  </c:pt>
                  <c:pt idx="21">
                    <c:v>4.2</c:v>
                  </c:pt>
                  <c:pt idx="22">
                    <c:v>4.4</c:v>
                  </c:pt>
                  <c:pt idx="23">
                    <c:v>4.6</c:v>
                  </c:pt>
                  <c:pt idx="24">
                    <c:v>4.8</c:v>
                  </c:pt>
                  <c:pt idx="25">
                    <c:v>5</c:v>
                  </c:pt>
                  <c:pt idx="26">
                    <c:v>5.2</c:v>
                  </c:pt>
                  <c:pt idx="27">
                    <c:v>5.4</c:v>
                  </c:pt>
                  <c:pt idx="28">
                    <c:v>5.6</c:v>
                  </c:pt>
                  <c:pt idx="29">
                    <c:v>5.8</c:v>
                  </c:pt>
                  <c:pt idx="30">
                    <c:v>6</c:v>
                  </c:pt>
                  <c:pt idx="31">
                    <c:v>6.2</c:v>
                  </c:pt>
                  <c:pt idx="32">
                    <c:v>6.4</c:v>
                  </c:pt>
                  <c:pt idx="33">
                    <c:v>6.6</c:v>
                  </c:pt>
                  <c:pt idx="34">
                    <c:v>6.8</c:v>
                  </c:pt>
                  <c:pt idx="35">
                    <c:v>7</c:v>
                  </c:pt>
                  <c:pt idx="36">
                    <c:v>7.2</c:v>
                  </c:pt>
                  <c:pt idx="37">
                    <c:v>7.4</c:v>
                  </c:pt>
                  <c:pt idx="38">
                    <c:v>7.6</c:v>
                  </c:pt>
                  <c:pt idx="39">
                    <c:v>7.8</c:v>
                  </c:pt>
                  <c:pt idx="40">
                    <c:v>8</c:v>
                  </c:pt>
                  <c:pt idx="41">
                    <c:v>8.2</c:v>
                  </c:pt>
                  <c:pt idx="42">
                    <c:v>8.4</c:v>
                  </c:pt>
                  <c:pt idx="43">
                    <c:v>8.6</c:v>
                  </c:pt>
                  <c:pt idx="44">
                    <c:v>8.8</c:v>
                  </c:pt>
                  <c:pt idx="45">
                    <c:v>9</c:v>
                  </c:pt>
                  <c:pt idx="46">
                    <c:v>9.2</c:v>
                  </c:pt>
                  <c:pt idx="47">
                    <c:v>9.4</c:v>
                  </c:pt>
                  <c:pt idx="48">
                    <c:v>9.6</c:v>
                  </c:pt>
                  <c:pt idx="49">
                    <c:v>9.8</c:v>
                  </c:pt>
                  <c:pt idx="50">
                    <c:v>10</c:v>
                  </c:pt>
                </c:lvl>
              </c:multiLvlStrCache>
            </c:multiLvlStrRef>
          </c:cat>
          <c:val>
            <c:numRef>
              <c:f>Sheet1!$B$2:$B$52</c:f>
              <c:numCache>
                <c:formatCode>General</c:formatCode>
                <c:ptCount val="51"/>
                <c:pt idx="0">
                  <c:v>0.00024036947641951407</c:v>
                </c:pt>
                <c:pt idx="1">
                  <c:v>0.0004619748987816513</c:v>
                </c:pt>
                <c:pt idx="2">
                  <c:v>0.0008645224077047147</c:v>
                </c:pt>
                <c:pt idx="3">
                  <c:v>0.001575262532437626</c:v>
                </c:pt>
                <c:pt idx="4">
                  <c:v>0.0027947852750368437</c:v>
                </c:pt>
                <c:pt idx="5">
                  <c:v>0.004827949993831441</c:v>
                </c:pt>
                <c:pt idx="6">
                  <c:v>0.008120745380988049</c:v>
                </c:pt>
                <c:pt idx="7">
                  <c:v>0.013299883542443767</c:v>
                </c:pt>
                <c:pt idx="8">
                  <c:v>0.02120892207309357</c:v>
                </c:pt>
                <c:pt idx="9">
                  <c:v>0.03293124639973676</c:v>
                </c:pt>
                <c:pt idx="10">
                  <c:v>0.049787068367863944</c:v>
                </c:pt>
                <c:pt idx="11">
                  <c:v>0.07328983668888447</c:v>
                </c:pt>
                <c:pt idx="12">
                  <c:v>0.10504847871450167</c:v>
                </c:pt>
                <c:pt idx="13">
                  <c:v>0.14660696213035015</c:v>
                </c:pt>
                <c:pt idx="14">
                  <c:v>0.19922243128212558</c:v>
                </c:pt>
                <c:pt idx="15">
                  <c:v>0.26359713811572677</c:v>
                </c:pt>
                <c:pt idx="16">
                  <c:v>0.3395955256449392</c:v>
                </c:pt>
                <c:pt idx="17">
                  <c:v>0.42599258740013063</c:v>
                </c:pt>
                <c:pt idx="18">
                  <c:v>0.5203085212063069</c:v>
                </c:pt>
                <c:pt idx="19">
                  <c:v>0.6187833918061407</c:v>
                </c:pt>
                <c:pt idx="20">
                  <c:v>0.7165313105737893</c:v>
                </c:pt>
                <c:pt idx="21">
                  <c:v>0.8078867967299913</c:v>
                </c:pt>
                <c:pt idx="22">
                  <c:v>0.8869204367171576</c:v>
                </c:pt>
                <c:pt idx="23">
                  <c:v>0.9480639384933954</c:v>
                </c:pt>
                <c:pt idx="24">
                  <c:v>0.9867551618071957</c:v>
                </c:pt>
                <c:pt idx="25">
                  <c:v>1</c:v>
                </c:pt>
                <c:pt idx="26">
                  <c:v>0.9867551618071957</c:v>
                </c:pt>
                <c:pt idx="27">
                  <c:v>0.9480639384933954</c:v>
                </c:pt>
                <c:pt idx="28">
                  <c:v>0.8869204367171576</c:v>
                </c:pt>
                <c:pt idx="29">
                  <c:v>0.8078867967299913</c:v>
                </c:pt>
                <c:pt idx="30">
                  <c:v>0.7165313105737893</c:v>
                </c:pt>
                <c:pt idx="31">
                  <c:v>0.6187833918061407</c:v>
                </c:pt>
                <c:pt idx="32">
                  <c:v>0.5203085212063067</c:v>
                </c:pt>
                <c:pt idx="33">
                  <c:v>0.42599258740013085</c:v>
                </c:pt>
                <c:pt idx="34">
                  <c:v>0.3395955256449392</c:v>
                </c:pt>
                <c:pt idx="35">
                  <c:v>0.26359713811572677</c:v>
                </c:pt>
                <c:pt idx="36">
                  <c:v>0.19922243128212558</c:v>
                </c:pt>
                <c:pt idx="37">
                  <c:v>0.14660696213035004</c:v>
                </c:pt>
                <c:pt idx="38">
                  <c:v>0.10504847871450176</c:v>
                </c:pt>
                <c:pt idx="39">
                  <c:v>0.07328983668888447</c:v>
                </c:pt>
                <c:pt idx="40">
                  <c:v>0.049787068367863944</c:v>
                </c:pt>
                <c:pt idx="41">
                  <c:v>0.03293124639973684</c:v>
                </c:pt>
                <c:pt idx="42">
                  <c:v>0.02120892207309355</c:v>
                </c:pt>
                <c:pt idx="43">
                  <c:v>0.01329988354244378</c:v>
                </c:pt>
                <c:pt idx="44">
                  <c:v>0.008120745380988035</c:v>
                </c:pt>
                <c:pt idx="45">
                  <c:v>0.004827949993831441</c:v>
                </c:pt>
                <c:pt idx="46">
                  <c:v>0.002794785275036849</c:v>
                </c:pt>
                <c:pt idx="47">
                  <c:v>0.001575262532437626</c:v>
                </c:pt>
                <c:pt idx="48">
                  <c:v>0.0008645224077047147</c:v>
                </c:pt>
                <c:pt idx="49">
                  <c:v>0.0004619748987816501</c:v>
                </c:pt>
                <c:pt idx="50">
                  <c:v>0.00024036947641951407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9-1.png"/><Relationship Id="rId4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1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2.png"/><Relationship Id="rId4" Type="http://schemas.openxmlformats.org/officeDocument/2006/relationships/image" Target="../media/image-18-2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magic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5  ·  PHASE C — DATA ENGINEERING &amp; PREPARATION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 Engineering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1 — </a:t>
            </a:r>
            <a:pPr algn="l" indent="0" marL="0">
              <a:buNone/>
            </a:pPr>
            <a:r>
              <a:rPr lang="en-US" sz="25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Creating &amp; Transforming Features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features matter · numeric transforms · binning · encoding · datetime · domain features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U10  ·  Phase C  ·  18 slides  (selection &amp; extraction follow in Part 2)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ag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Turning raw columns into better inputs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showed you the data; now you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it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features that expose the signal — often the single biggest lever on model performance.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bul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&amp; what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8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lever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pol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transforms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944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log, bin, polynomial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tag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230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strategies</a:t>
            </a:r>
            <a:endParaRPr lang="en-US" sz="103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ca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516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cycle</a:t>
            </a:r>
            <a:endParaRPr lang="en-US" sz="103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compas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features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9802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&amp; knowledge</a:t>
            </a:r>
            <a:endParaRPr lang="en-US" sz="103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creates &amp; transforms features. Part 2 will cover selecting the best and reducing dimensions.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 · Feature Engineering (Part 1)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feature engineering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techniques: what feature engineering is, and why it so often decides the outcome.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· Part 1 · Phase C  ·  01 / 18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ag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feature engineering?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domain knowledge to create, transform and select input variables (features) that make patterns easier for a model to learn.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1472184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magi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313639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94944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new columns from existing ones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3346704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270248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exchan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13639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6432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493008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values (log, scale, bin)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6144768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7068312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tag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313639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4496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91072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categories &amp; dates into numbers</a:t>
            </a:r>
            <a:endParaRPr lang="en-US" sz="1030" dirty="0"/>
          </a:p>
        </p:txBody>
      </p:sp>
      <p:sp>
        <p:nvSpPr>
          <p:cNvPr id="23" name="Shape 17"/>
          <p:cNvSpPr/>
          <p:nvPr/>
        </p:nvSpPr>
        <p:spPr>
          <a:xfrm>
            <a:off x="8942832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9866376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filt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313639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52560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089136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what helps (more in Part 2)</a:t>
            </a:r>
            <a:endParaRPr lang="en-US" sz="1030" dirty="0"/>
          </a:p>
        </p:txBody>
      </p:sp>
      <p:sp>
        <p:nvSpPr>
          <p:cNvPr id="28" name="Text 21"/>
          <p:cNvSpPr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is just a column the model sees. Better columns → an easier learning problem.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 · Feature Engineering (Part 1)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LEVER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feature engineering matters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5440680" cy="2999232"/>
          </a:xfrm>
          <a:prstGeom prst="roundRect">
            <a:avLst>
              <a:gd name="adj" fmla="val 2744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6459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</a:t>
            </a:r>
            <a:endParaRPr lang="en-US" sz="70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Good features beat fancy models.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model on great features usually beats a complex model on raw ones.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81928" y="198424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6556248" y="18745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the signal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patterns the raw data only hints at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81928" y="264261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6556248" y="253288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knowledge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your domain expertise, as columns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81928" y="330098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6556248" y="319125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accuracy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often more than tuning the model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281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7" name="Text 14"/>
          <p:cNvSpPr/>
          <p:nvPr/>
        </p:nvSpPr>
        <p:spPr>
          <a:xfrm>
            <a:off x="6556248" y="384962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Aids interpretability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meaningful features → clearer models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where domain experts add the most value — and where many Kaggle competitions are won.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 · Feature Engineering (Part 1)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hgri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Types of features you'll engineer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768096" y="1901952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ha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4825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86537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508760" y="2212848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transform, bin, combine, polynomial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4297680" y="1645920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517136" y="1901952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ta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04825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57800" y="186537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257800" y="2212848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encode, group rare, target-encode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8046720" y="1645920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8266176" y="1901952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c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04825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06840" y="186537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9006840" y="2212848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parts, cyclical, time-since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548640" y="3182112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768096" y="3438144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fon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584448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340156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508760" y="3749040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counts, TF-IDF (later)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4297680" y="3182112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27" name="Shape 20"/>
          <p:cNvSpPr/>
          <p:nvPr/>
        </p:nvSpPr>
        <p:spPr>
          <a:xfrm>
            <a:off x="4517136" y="3438144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5" descr="ic_compas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584448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57800" y="340156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5257800" y="3749040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&amp; aggregates from knowledge</a:t>
            </a:r>
            <a:endParaRPr lang="en-US" sz="1030" dirty="0"/>
          </a:p>
        </p:txBody>
      </p:sp>
      <p:sp>
        <p:nvSpPr>
          <p:cNvPr id="31" name="Shape 23"/>
          <p:cNvSpPr/>
          <p:nvPr/>
        </p:nvSpPr>
        <p:spPr>
          <a:xfrm>
            <a:off x="8046720" y="3182112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32" name="Shape 24"/>
          <p:cNvSpPr/>
          <p:nvPr/>
        </p:nvSpPr>
        <p:spPr>
          <a:xfrm>
            <a:off x="8266176" y="3438144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3" name="Image 6" descr="ic_lin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3584448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006840" y="340156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9006840" y="3749040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combinations of features</a:t>
            </a:r>
            <a:endParaRPr lang="en-US" sz="1030" dirty="0"/>
          </a:p>
        </p:txBody>
      </p:sp>
      <p:sp>
        <p:nvSpPr>
          <p:cNvPr id="36" name="Text 27"/>
          <p:cNvSpPr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covers numeric, categorical, datetime and domain features — the everyday workhorses.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 · Feature Engineering (Part 1)</a:t>
            </a:r>
            <a:endParaRPr lang="en-US" sz="950" dirty="0"/>
          </a:p>
        </p:txBody>
      </p:sp>
      <p:sp>
        <p:nvSpPr>
          <p:cNvPr id="38" name="Text 2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pol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Transforming numeric features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numeric columns so models can use them: scale, fix skew, bin, and combine.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· Part 1 · Phase C  ·  02 / 18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ca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RECAP (FROM U8)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Scaling puts features on one footing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928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(Min-Max)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233172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16263F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33172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− min)/(max − min)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9900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rescales to [0, 1]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9632" y="169164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/>
        </p:spPr>
      </p:sp>
      <p:sp>
        <p:nvSpPr>
          <p:cNvPr id="12" name="Text 9"/>
          <p:cNvSpPr/>
          <p:nvPr/>
        </p:nvSpPr>
        <p:spPr>
          <a:xfrm>
            <a:off x="6473952" y="18928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 (Z-score)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73952" y="233172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16263F"/>
          </a:solidFill>
          <a:ln/>
        </p:spPr>
      </p:sp>
      <p:sp>
        <p:nvSpPr>
          <p:cNvPr id="14" name="Text 11"/>
          <p:cNvSpPr/>
          <p:nvPr/>
        </p:nvSpPr>
        <p:spPr>
          <a:xfrm>
            <a:off x="6473952" y="233172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− μ)/σ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73952" y="29900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0, std 1 — common default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7033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BF1D8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37033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Reminder: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scaler on training data only (avoid leakage), and scale after splitting. Tree models don't need scaling; distance- &amp; gradient-based ones do.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 · Feature Engineering (Part 1)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v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SKEW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Log &amp; power transforms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276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right-skewed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01952"/>
          <a:ext cx="539496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245352" y="16276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 transform — more symmetric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45352" y="1901952"/>
          <a:ext cx="539496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384048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11" name="Text 6"/>
          <p:cNvSpPr/>
          <p:nvPr/>
        </p:nvSpPr>
        <p:spPr>
          <a:xfrm>
            <a:off x="822960" y="3840480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  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right-skewed, positive data (income, prices, counts). np.log1p compresses the long tail so models aren't dominated by huge values. Box-Cox / Yeo-Johnson generalise this.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3" name="Shape 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4" name="Image 1" descr="ic_flas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np.log1p to a right-skewed column and compare the distribution before/after.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 · Feature Engineering (Part 1)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→ GROUPS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Binning &amp; discretization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bucket a numeric column into ranges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Equal-width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fixed-size bins (0–10, 10–20…)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Equal-frequency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quantile bins with equal counts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captures non-linearity; tames outliers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1920240"/>
          </a:xfrm>
          <a:prstGeom prst="roundRect">
            <a:avLst>
              <a:gd name="adj" fmla="val 3810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17922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 →  age_group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55080" y="2212848"/>
            <a:ext cx="120700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234086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0–17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55080" y="269748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653528" y="2212848"/>
            <a:ext cx="120700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3AAFA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53528" y="234086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18–34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653528" y="269748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951976" y="2212848"/>
            <a:ext cx="120700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C9941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51976" y="234086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6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35–59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951976" y="269748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0250424" y="2212848"/>
            <a:ext cx="1207008" cy="1005840"/>
          </a:xfrm>
          <a:prstGeom prst="roundRect">
            <a:avLst>
              <a:gd name="adj" fmla="val 5455"/>
            </a:avLst>
          </a:prstGeom>
          <a:solidFill>
            <a:srgbClr val="16263F"/>
          </a:solidFill>
          <a:ln w="19050">
            <a:solidFill>
              <a:srgbClr val="16263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250424" y="234086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60+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250424" y="269748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126480" y="3703320"/>
            <a:ext cx="5513832" cy="960120"/>
          </a:xfrm>
          <a:prstGeom prst="roundRect">
            <a:avLst>
              <a:gd name="adj" fmla="val 5714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272784" y="38496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0" name="Shape 27"/>
          <p:cNvSpPr/>
          <p:nvPr/>
        </p:nvSpPr>
        <p:spPr>
          <a:xfrm>
            <a:off x="6419088" y="38496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1" name="Shape 28"/>
          <p:cNvSpPr/>
          <p:nvPr/>
        </p:nvSpPr>
        <p:spPr>
          <a:xfrm>
            <a:off x="6565392" y="38496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2" name="Text 29"/>
          <p:cNvSpPr/>
          <p:nvPr/>
        </p:nvSpPr>
        <p:spPr>
          <a:xfrm>
            <a:off x="6766560" y="3776472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bin.py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327648" y="4087368"/>
            <a:ext cx="51114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pd.cut(df['age'], bins=[0,18,35,60,200],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labels=['child','young','adult','senior'])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5" name="Shape 3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6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a numeric column into 3–4 labelled buckets with pd.cut.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 · Feature Engineering (Part 1)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ol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NON-LINEARITY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Polynomial &amp; interaction features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84448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65960"/>
            <a:ext cx="713232" cy="71323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pol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139696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64208" y="2002536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2788920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x², x³ so linear models can fit curves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15968" y="1691640"/>
            <a:ext cx="3584448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590288" y="1965960"/>
            <a:ext cx="713232" cy="71323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lin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2139696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31536" y="2002536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590288" y="2788920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features: area = length × width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083296" y="1691640"/>
            <a:ext cx="3584448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8357616" y="1965960"/>
            <a:ext cx="713232" cy="71323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pc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2139696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98864" y="2002536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357616" y="2788920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÷ size; clicks ÷ impressions (CTR)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370332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94944" y="38496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17"/>
          <p:cNvSpPr/>
          <p:nvPr/>
        </p:nvSpPr>
        <p:spPr>
          <a:xfrm>
            <a:off x="841248" y="38496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18"/>
          <p:cNvSpPr/>
          <p:nvPr/>
        </p:nvSpPr>
        <p:spPr>
          <a:xfrm>
            <a:off x="987552" y="38496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19"/>
          <p:cNvSpPr/>
          <p:nvPr/>
        </p:nvSpPr>
        <p:spPr>
          <a:xfrm>
            <a:off x="1188720" y="3776472"/>
            <a:ext cx="10268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poly.py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749808" y="4087368"/>
            <a:ext cx="106893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PolynomialFeatures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PolynomialFeatures(degree=2, interaction_only=False).fit_transform(X)  # x, x², x1·x2 …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Powerful, but watch the explosion of columns — and the overfitting risk at high degrees.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9" name="Shape 2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0" name="Image 4" descr="ic_flas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interaction feature (e.g. two columns multiplied) and add it to the data.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 · Feature Engineering (Part 1)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ta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Categorical, datetime &amp; domain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categories smartly, unlock dates, and craft features only a human would think of.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· Part 1 · Phase C  ·  03 / 18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→ NUMBERS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Encoding strategies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691640"/>
            <a:ext cx="91440" cy="713232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6916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0400" y="169164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0/1 column per category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18120" y="16916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</a:t>
            </a:r>
            <a:pPr algn="l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unordered, few categories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496312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2496312"/>
            <a:ext cx="91440" cy="713232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49631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/ label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00400" y="249631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0,1,2 by order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818120" y="249631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</a:t>
            </a:r>
            <a:pPr algn="l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categories (S&lt;M&lt;L)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300984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2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3300984"/>
            <a:ext cx="91440" cy="71323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330098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200400" y="3300984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how often it occurs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818120" y="330098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</a:t>
            </a:r>
            <a:pPr algn="l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high-cardinality columns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4105656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2F5F9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4105656"/>
            <a:ext cx="91440" cy="713232"/>
          </a:xfrm>
          <a:prstGeom prst="rect">
            <a:avLst/>
          </a:prstGeom>
          <a:solidFill>
            <a:srgbClr val="16263F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410565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(mean)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200400" y="4105656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mean target per category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818120" y="410565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</a:t>
            </a:r>
            <a:pPr algn="l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high-cardinality — but leakage-prone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 is powerful but must be fit on training folds only — or it leaks the answer.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 · Feature Engineering (Part 1)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CATEGORIES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Rare categories &amp; high cardinality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100s of categories → 100s of one-hot columns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levels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tiny groups add noise, not signal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them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merge rare values into an 'Other' bucket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encode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frequency / target encoding instead of one-hot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2743200"/>
          </a:xfrm>
          <a:prstGeom prst="roundRect">
            <a:avLst>
              <a:gd name="adj" fmla="val 20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rare.py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27648" y="2048256"/>
            <a:ext cx="51114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top categories, bucket the rest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= df['city'].value_counts().head(10).index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df['city'] = df['city'].where(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df['city'].isin(top), 'Other')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one-hot the reduced column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pd.get_dummies(df['city'])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denser categories make encodings smaller and models more stable.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 · Feature Engineering (Part 1)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THE CALENDAR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Datetime features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103120"/>
          </a:xfrm>
          <a:prstGeom prst="roundRect">
            <a:avLst>
              <a:gd name="adj" fmla="val 391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ca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day, hour, day-of-week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103120"/>
          </a:xfrm>
          <a:prstGeom prst="roundRect">
            <a:avLst>
              <a:gd name="adj" fmla="val 3913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check2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is_weekend, is_holiday, is_month_end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103120"/>
          </a:xfrm>
          <a:prstGeom prst="roundRect">
            <a:avLst>
              <a:gd name="adj" fmla="val 3913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Time-since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signup, recency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103120"/>
          </a:xfrm>
          <a:prstGeom prst="roundRect">
            <a:avLst>
              <a:gd name="adj" fmla="val 3913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rotat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sin/cos of hour &amp; month (no fake jumps)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06908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94944" y="42153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8" name="Shape 21"/>
          <p:cNvSpPr/>
          <p:nvPr/>
        </p:nvSpPr>
        <p:spPr>
          <a:xfrm>
            <a:off x="841248" y="42153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9" name="Shape 22"/>
          <p:cNvSpPr/>
          <p:nvPr/>
        </p:nvSpPr>
        <p:spPr>
          <a:xfrm>
            <a:off x="987552" y="42153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0" name="Text 23"/>
          <p:cNvSpPr/>
          <p:nvPr/>
        </p:nvSpPr>
        <p:spPr>
          <a:xfrm>
            <a:off x="1188720" y="4142232"/>
            <a:ext cx="10268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datetime.py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749808" y="4453128"/>
            <a:ext cx="10689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pd.to_datetime(df['ts']);  df['dow'] = d.dt.dayofweek;  df['is_weekend'] = d.dt.dayofweek &gt;= 5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3" name="Shape 26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4" name="Image 5" descr="ic_flas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timestamp column, extract day-of-week, month and an is_weekend flag.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 · Feature Engineering (Part 1)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mpa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EXPERTISE WINS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Domain-driven features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idea:  </a:t>
            </a:r>
            <a:pPr algn="l" indent="0" marL="0"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what you know about the problem into new columns — the features a model could never derive on its own.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2779776"/>
            <a:ext cx="438912" cy="43891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compas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88036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5603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834640" y="2560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ratio, balance trend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6199632" y="256032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6400800" y="2779776"/>
            <a:ext cx="438912" cy="43891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compas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288036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76872" y="25603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485632" y="2560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basket value, days since last order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548640" y="36118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749808" y="3831336"/>
            <a:ext cx="438912" cy="43891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compas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9319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36118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2834640" y="36118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from height &amp; weight, risk scores</a:t>
            </a:r>
            <a:endParaRPr lang="en-US" sz="1080" dirty="0"/>
          </a:p>
        </p:txBody>
      </p:sp>
      <p:sp>
        <p:nvSpPr>
          <p:cNvPr id="23" name="Shape 17"/>
          <p:cNvSpPr/>
          <p:nvPr/>
        </p:nvSpPr>
        <p:spPr>
          <a:xfrm>
            <a:off x="6199632" y="36118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6400800" y="3831336"/>
            <a:ext cx="438912" cy="43891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compas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393192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76872" y="36118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ads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8485632" y="36118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rate, session length</a:t>
            </a:r>
            <a:endParaRPr lang="en-US" sz="1080" dirty="0"/>
          </a:p>
        </p:txBody>
      </p:sp>
      <p:sp>
        <p:nvSpPr>
          <p:cNvPr id="28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9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0" name="Image 5" descr="ic_flas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one domain feature for your field (a ratio or aggregate) and justify it.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 · Feature Engineering (Part 1)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SAFELY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Pitfalls &amp; best practices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19751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war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17627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529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leakage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16382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future or target info; fit on train only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3736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19751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filt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17627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529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simple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16382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few strong features, not hundreds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3736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19751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rotat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17627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529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with EDA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16382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engineer, test impact, refine — repeat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3736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19751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check2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17627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529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16382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how each feature is built, for reuse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mistake:  </a:t>
            </a:r>
            <a:pPr algn="l" indent="0" marL="0">
              <a:buNone/>
            </a:pPr>
            <a:r>
              <a:rPr lang="en-US" sz="12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— building a feature from information you won't have at prediction time. It inflates scores, then fails in production.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9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0" name="Image 5" descr="ic_flas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engineered features and flag any that could leak target information.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 · Feature Engineering (Part 1)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features beat fancy models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numerics: log, bin, polynomial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categories to fit the data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datetime &amp; domain features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Beware leakage; keep it simple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a skewed column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a numeric column with pd.cut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interaction or ratio feature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datetime parts + is_weekend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one domain feature for your field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PART 2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28600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5" name="Image 1" descr="ic_magic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064" y="240487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979408" y="221284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— keep what helps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394192" y="31821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8" name="Image 2" descr="ic_magic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330098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79408" y="3108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— PCA &amp; embeddings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394192" y="4078224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1" name="Image 3" descr="ic_magic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419709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79408" y="40050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magic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568696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is where human insight meets the model. Create features that expose the signal — and the model's job gets far easier.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 · Feature Engineering (Part 1)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2026-06-10T16:41:59Z</dcterms:created>
  <dcterms:modified xsi:type="dcterms:W3CDTF">2026-06-10T16:41:59Z</dcterms:modified>
</cp:coreProperties>
</file>