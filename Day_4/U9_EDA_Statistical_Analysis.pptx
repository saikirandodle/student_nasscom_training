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5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6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2D6A9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0-10</c:v>
                  </c:pt>
                  <c:pt idx="1">
                    <c:v>10-20</c:v>
                  </c:pt>
                  <c:pt idx="2">
                    <c:v>20-30</c:v>
                  </c:pt>
                  <c:pt idx="3">
                    <c:v>30-40</c:v>
                  </c:pt>
                  <c:pt idx="4">
                    <c:v>40-50</c:v>
                  </c:pt>
                  <c:pt idx="5">
                    <c:v>50-60</c:v>
                  </c:pt>
                  <c:pt idx="6">
                    <c:v>60-70</c:v>
                  </c:pt>
                  <c:pt idx="7">
                    <c:v>70+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22</c:v>
                </c:pt>
                <c:pt idx="1">
                  <c:v>58</c:v>
                </c:pt>
                <c:pt idx="2">
                  <c:v>96</c:v>
                </c:pt>
                <c:pt idx="3">
                  <c:v>78</c:v>
                </c:pt>
                <c:pt idx="4">
                  <c:v>52</c:v>
                </c:pt>
                <c:pt idx="5">
                  <c:v>30</c:v>
                </c:pt>
                <c:pt idx="6">
                  <c:v>14</c:v>
                </c:pt>
                <c:pt idx="7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2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F5F9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</c:v>
                </c:pt>
              </c:strCache>
            </c:strRef>
          </c:tx>
          <c:spPr>
            <a:solidFill>
              <a:srgbClr val="2D6A9F"/>
            </a:solidFill>
            <a:ln w="38100" cap="flat">
              <a:solidFill>
                <a:srgbClr val="2D6A9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D6A9F"/>
              </a:solidFill>
              <a:ln w="9525" cap="flat">
                <a:solidFill>
                  <a:srgbClr val="2D6A9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Sheet1!$A$2:$A$52</c:f>
              <c:multiLvlStrCache>
                <c:ptCount val="51"/>
                <c:lvl>
                  <c:pt idx="0">
                    <c:v>0</c:v>
                  </c:pt>
                  <c:pt idx="1">
                    <c:v>0.2</c:v>
                  </c:pt>
                  <c:pt idx="2">
                    <c:v>0.4</c:v>
                  </c:pt>
                  <c:pt idx="3">
                    <c:v>0.6</c:v>
                  </c:pt>
                  <c:pt idx="4">
                    <c:v>0.8</c:v>
                  </c:pt>
                  <c:pt idx="5">
                    <c:v>1</c:v>
                  </c:pt>
                  <c:pt idx="6">
                    <c:v>1.2</c:v>
                  </c:pt>
                  <c:pt idx="7">
                    <c:v>1.4</c:v>
                  </c:pt>
                  <c:pt idx="8">
                    <c:v>1.6</c:v>
                  </c:pt>
                  <c:pt idx="9">
                    <c:v>1.8</c:v>
                  </c:pt>
                  <c:pt idx="10">
                    <c:v>2</c:v>
                  </c:pt>
                  <c:pt idx="11">
                    <c:v>2.2</c:v>
                  </c:pt>
                  <c:pt idx="12">
                    <c:v>2.4</c:v>
                  </c:pt>
                  <c:pt idx="13">
                    <c:v>2.6</c:v>
                  </c:pt>
                  <c:pt idx="14">
                    <c:v>2.8</c:v>
                  </c:pt>
                  <c:pt idx="15">
                    <c:v>3</c:v>
                  </c:pt>
                  <c:pt idx="16">
                    <c:v>3.2</c:v>
                  </c:pt>
                  <c:pt idx="17">
                    <c:v>3.4</c:v>
                  </c:pt>
                  <c:pt idx="18">
                    <c:v>3.6</c:v>
                  </c:pt>
                  <c:pt idx="19">
                    <c:v>3.8</c:v>
                  </c:pt>
                  <c:pt idx="20">
                    <c:v>4</c:v>
                  </c:pt>
                  <c:pt idx="21">
                    <c:v>4.2</c:v>
                  </c:pt>
                  <c:pt idx="22">
                    <c:v>4.4</c:v>
                  </c:pt>
                  <c:pt idx="23">
                    <c:v>4.6</c:v>
                  </c:pt>
                  <c:pt idx="24">
                    <c:v>4.8</c:v>
                  </c:pt>
                  <c:pt idx="25">
                    <c:v>5</c:v>
                  </c:pt>
                  <c:pt idx="26">
                    <c:v>5.2</c:v>
                  </c:pt>
                  <c:pt idx="27">
                    <c:v>5.4</c:v>
                  </c:pt>
                  <c:pt idx="28">
                    <c:v>5.6</c:v>
                  </c:pt>
                  <c:pt idx="29">
                    <c:v>5.8</c:v>
                  </c:pt>
                  <c:pt idx="30">
                    <c:v>6</c:v>
                  </c:pt>
                  <c:pt idx="31">
                    <c:v>6.2</c:v>
                  </c:pt>
                  <c:pt idx="32">
                    <c:v>6.4</c:v>
                  </c:pt>
                  <c:pt idx="33">
                    <c:v>6.6</c:v>
                  </c:pt>
                  <c:pt idx="34">
                    <c:v>6.8</c:v>
                  </c:pt>
                  <c:pt idx="35">
                    <c:v>7</c:v>
                  </c:pt>
                  <c:pt idx="36">
                    <c:v>7.2</c:v>
                  </c:pt>
                  <c:pt idx="37">
                    <c:v>7.4</c:v>
                  </c:pt>
                  <c:pt idx="38">
                    <c:v>7.6</c:v>
                  </c:pt>
                  <c:pt idx="39">
                    <c:v>7.8</c:v>
                  </c:pt>
                  <c:pt idx="40">
                    <c:v>8</c:v>
                  </c:pt>
                  <c:pt idx="41">
                    <c:v>8.2</c:v>
                  </c:pt>
                  <c:pt idx="42">
                    <c:v>8.4</c:v>
                  </c:pt>
                  <c:pt idx="43">
                    <c:v>8.6</c:v>
                  </c:pt>
                  <c:pt idx="44">
                    <c:v>8.8</c:v>
                  </c:pt>
                  <c:pt idx="45">
                    <c:v>9</c:v>
                  </c:pt>
                  <c:pt idx="46">
                    <c:v>9.2</c:v>
                  </c:pt>
                  <c:pt idx="47">
                    <c:v>9.4</c:v>
                  </c:pt>
                  <c:pt idx="48">
                    <c:v>9.6</c:v>
                  </c:pt>
                  <c:pt idx="49">
                    <c:v>9.8</c:v>
                  </c:pt>
                  <c:pt idx="50">
                    <c:v>10</c:v>
                  </c:pt>
                </c:lvl>
              </c:multiLvlStrCache>
            </c:multiLvlStrRef>
          </c:cat>
          <c:val>
            <c:numRef>
              <c:f>Sheet1!$B$2:$B$52</c:f>
              <c:numCache>
                <c:formatCode>General</c:formatCode>
                <c:ptCount val="51"/>
                <c:pt idx="0">
                  <c:v>0.00004539992976248485</c:v>
                </c:pt>
                <c:pt idx="1">
                  <c:v>0.0000994356357499278</c:v>
                </c:pt>
                <c:pt idx="2">
                  <c:v>0.00021092667431085727</c:v>
                </c:pt>
                <c:pt idx="3">
                  <c:v>0.00043333476471489087</c:v>
                </c:pt>
                <c:pt idx="4">
                  <c:v>0.0008622200857444533</c:v>
                </c:pt>
                <c:pt idx="5">
                  <c:v>0.001661557273173934</c:v>
                </c:pt>
                <c:pt idx="6">
                  <c:v>0.003101095012572254</c:v>
                </c:pt>
                <c:pt idx="7">
                  <c:v>0.005605539352825678</c:v>
                </c:pt>
                <c:pt idx="8">
                  <c:v>0.009813463594319522</c:v>
                </c:pt>
                <c:pt idx="9">
                  <c:v>0.01663909886172361</c:v>
                </c:pt>
                <c:pt idx="10">
                  <c:v>0.02732372244729256</c:v>
                </c:pt>
                <c:pt idx="11">
                  <c:v>0.04345627581810223</c:v>
                </c:pt>
                <c:pt idx="12">
                  <c:v>0.06693722761675015</c:v>
                </c:pt>
                <c:pt idx="13">
                  <c:v>0.09985860935030322</c:v>
                </c:pt>
                <c:pt idx="14">
                  <c:v>0.1442799167427881</c:v>
                </c:pt>
                <c:pt idx="15">
                  <c:v>0.20189651799465538</c:v>
                </c:pt>
                <c:pt idx="16">
                  <c:v>0.2736241033704081</c:v>
                </c:pt>
                <c:pt idx="17">
                  <c:v>0.3591554413294045</c:v>
                </c:pt>
                <c:pt idx="18">
                  <c:v>0.4565760496233148</c:v>
                </c:pt>
                <c:pt idx="19">
                  <c:v>0.5621424451968223</c:v>
                </c:pt>
                <c:pt idx="20">
                  <c:v>0.6703200460356393</c:v>
                </c:pt>
                <c:pt idx="21">
                  <c:v>0.7741419687922484</c:v>
                </c:pt>
                <c:pt idx="22">
                  <c:v>0.8658877480592051</c:v>
                </c:pt>
                <c:pt idx="23">
                  <c:v>0.9380049995307294</c:v>
                </c:pt>
                <c:pt idx="24">
                  <c:v>0.9841273200552851</c:v>
                </c:pt>
                <c:pt idx="25">
                  <c:v>1</c:v>
                </c:pt>
                <c:pt idx="26">
                  <c:v>0.9841273200552851</c:v>
                </c:pt>
                <c:pt idx="27">
                  <c:v>0.9380049995307294</c:v>
                </c:pt>
                <c:pt idx="28">
                  <c:v>0.8658877480592051</c:v>
                </c:pt>
                <c:pt idx="29">
                  <c:v>0.7741419687922484</c:v>
                </c:pt>
                <c:pt idx="30">
                  <c:v>0.6703200460356393</c:v>
                </c:pt>
                <c:pt idx="31">
                  <c:v>0.5621424451968223</c:v>
                </c:pt>
                <c:pt idx="32">
                  <c:v>0.4565760496233145</c:v>
                </c:pt>
                <c:pt idx="33">
                  <c:v>0.3591554413294048</c:v>
                </c:pt>
                <c:pt idx="34">
                  <c:v>0.2736241033704081</c:v>
                </c:pt>
                <c:pt idx="35">
                  <c:v>0.20189651799465538</c:v>
                </c:pt>
                <c:pt idx="36">
                  <c:v>0.1442799167427881</c:v>
                </c:pt>
                <c:pt idx="37">
                  <c:v>0.09985860935030313</c:v>
                </c:pt>
                <c:pt idx="38">
                  <c:v>0.06693722761675021</c:v>
                </c:pt>
                <c:pt idx="39">
                  <c:v>0.04345627581810223</c:v>
                </c:pt>
                <c:pt idx="40">
                  <c:v>0.02732372244729256</c:v>
                </c:pt>
                <c:pt idx="41">
                  <c:v>0.016639098861723656</c:v>
                </c:pt>
                <c:pt idx="42">
                  <c:v>0.009813463594319513</c:v>
                </c:pt>
                <c:pt idx="43">
                  <c:v>0.005605539352825682</c:v>
                </c:pt>
                <c:pt idx="44">
                  <c:v>0.0031010950125722483</c:v>
                </c:pt>
                <c:pt idx="45">
                  <c:v>0.001661557273173934</c:v>
                </c:pt>
                <c:pt idx="46">
                  <c:v>0.0008622200857444556</c:v>
                </c:pt>
                <c:pt idx="47">
                  <c:v>0.00043333476471489087</c:v>
                </c:pt>
                <c:pt idx="48">
                  <c:v>0.00021092667431085727</c:v>
                </c:pt>
                <c:pt idx="49">
                  <c:v>0.00009943563574992745</c:v>
                </c:pt>
                <c:pt idx="50">
                  <c:v>0.00004539992976248485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F5F9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</c:v>
                </c:pt>
              </c:strCache>
            </c:strRef>
          </c:tx>
          <c:spPr>
            <a:solidFill>
              <a:srgbClr val="3AAFA9"/>
            </a:solidFill>
            <a:ln w="38100" cap="flat">
              <a:solidFill>
                <a:srgbClr val="3AAFA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AAFA9"/>
              </a:solidFill>
              <a:ln w="9525" cap="flat">
                <a:solidFill>
                  <a:srgbClr val="3AAFA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Sheet1!$A$2:$A$52</c:f>
              <c:multiLvlStrCache>
                <c:ptCount val="51"/>
                <c:lvl>
                  <c:pt idx="0">
                    <c:v>0</c:v>
                  </c:pt>
                  <c:pt idx="1">
                    <c:v>0.2</c:v>
                  </c:pt>
                  <c:pt idx="2">
                    <c:v>0.4</c:v>
                  </c:pt>
                  <c:pt idx="3">
                    <c:v>0.6</c:v>
                  </c:pt>
                  <c:pt idx="4">
                    <c:v>0.8</c:v>
                  </c:pt>
                  <c:pt idx="5">
                    <c:v>1</c:v>
                  </c:pt>
                  <c:pt idx="6">
                    <c:v>1.2</c:v>
                  </c:pt>
                  <c:pt idx="7">
                    <c:v>1.4</c:v>
                  </c:pt>
                  <c:pt idx="8">
                    <c:v>1.6</c:v>
                  </c:pt>
                  <c:pt idx="9">
                    <c:v>1.8</c:v>
                  </c:pt>
                  <c:pt idx="10">
                    <c:v>2</c:v>
                  </c:pt>
                  <c:pt idx="11">
                    <c:v>2.2</c:v>
                  </c:pt>
                  <c:pt idx="12">
                    <c:v>2.4</c:v>
                  </c:pt>
                  <c:pt idx="13">
                    <c:v>2.6</c:v>
                  </c:pt>
                  <c:pt idx="14">
                    <c:v>2.8</c:v>
                  </c:pt>
                  <c:pt idx="15">
                    <c:v>3</c:v>
                  </c:pt>
                  <c:pt idx="16">
                    <c:v>3.2</c:v>
                  </c:pt>
                  <c:pt idx="17">
                    <c:v>3.4</c:v>
                  </c:pt>
                  <c:pt idx="18">
                    <c:v>3.6</c:v>
                  </c:pt>
                  <c:pt idx="19">
                    <c:v>3.8</c:v>
                  </c:pt>
                  <c:pt idx="20">
                    <c:v>4</c:v>
                  </c:pt>
                  <c:pt idx="21">
                    <c:v>4.2</c:v>
                  </c:pt>
                  <c:pt idx="22">
                    <c:v>4.4</c:v>
                  </c:pt>
                  <c:pt idx="23">
                    <c:v>4.6</c:v>
                  </c:pt>
                  <c:pt idx="24">
                    <c:v>4.8</c:v>
                  </c:pt>
                  <c:pt idx="25">
                    <c:v>5</c:v>
                  </c:pt>
                  <c:pt idx="26">
                    <c:v>5.2</c:v>
                  </c:pt>
                  <c:pt idx="27">
                    <c:v>5.4</c:v>
                  </c:pt>
                  <c:pt idx="28">
                    <c:v>5.6</c:v>
                  </c:pt>
                  <c:pt idx="29">
                    <c:v>5.8</c:v>
                  </c:pt>
                  <c:pt idx="30">
                    <c:v>6</c:v>
                  </c:pt>
                  <c:pt idx="31">
                    <c:v>6.2</c:v>
                  </c:pt>
                  <c:pt idx="32">
                    <c:v>6.4</c:v>
                  </c:pt>
                  <c:pt idx="33">
                    <c:v>6.6</c:v>
                  </c:pt>
                  <c:pt idx="34">
                    <c:v>6.8</c:v>
                  </c:pt>
                  <c:pt idx="35">
                    <c:v>7</c:v>
                  </c:pt>
                  <c:pt idx="36">
                    <c:v>7.2</c:v>
                  </c:pt>
                  <c:pt idx="37">
                    <c:v>7.4</c:v>
                  </c:pt>
                  <c:pt idx="38">
                    <c:v>7.6</c:v>
                  </c:pt>
                  <c:pt idx="39">
                    <c:v>7.8</c:v>
                  </c:pt>
                  <c:pt idx="40">
                    <c:v>8</c:v>
                  </c:pt>
                  <c:pt idx="41">
                    <c:v>8.2</c:v>
                  </c:pt>
                  <c:pt idx="42">
                    <c:v>8.4</c:v>
                  </c:pt>
                  <c:pt idx="43">
                    <c:v>8.6</c:v>
                  </c:pt>
                  <c:pt idx="44">
                    <c:v>8.8</c:v>
                  </c:pt>
                  <c:pt idx="45">
                    <c:v>9</c:v>
                  </c:pt>
                  <c:pt idx="46">
                    <c:v>9.2</c:v>
                  </c:pt>
                  <c:pt idx="47">
                    <c:v>9.4</c:v>
                  </c:pt>
                  <c:pt idx="48">
                    <c:v>9.6</c:v>
                  </c:pt>
                  <c:pt idx="49">
                    <c:v>9.8</c:v>
                  </c:pt>
                  <c:pt idx="50">
                    <c:v>10</c:v>
                  </c:pt>
                </c:lvl>
              </c:multiLvlStrCache>
            </c:multiLvlStrRef>
          </c:cat>
          <c:val>
            <c:numRef>
              <c:f>Sheet1!$B$2:$B$52</c:f>
              <c:numCache>
                <c:formatCode>General</c:formatCode>
                <c:ptCount val="51"/>
                <c:pt idx="0">
                  <c:v>0</c:v>
                </c:pt>
                <c:pt idx="1">
                  <c:v>0.0636026171138045</c:v>
                </c:pt>
                <c:pt idx="2">
                  <c:v>0.1610460111962187</c:v>
                </c:pt>
                <c:pt idx="3">
                  <c:v>0.25734929353862146</c:v>
                </c:pt>
                <c:pt idx="4">
                  <c:v>0.3406057318866969</c:v>
                </c:pt>
                <c:pt idx="5">
                  <c:v>0.4065696597405991</c:v>
                </c:pt>
                <c:pt idx="6">
                  <c:v>0.454623575455394</c:v>
                </c:pt>
                <c:pt idx="7">
                  <c:v>0.48595248788891393</c:v>
                </c:pt>
                <c:pt idx="8">
                  <c:v>0.5025831434133231</c:v>
                </c:pt>
                <c:pt idx="9">
                  <c:v>0.50684941255973</c:v>
                </c:pt>
                <c:pt idx="10">
                  <c:v>0.5010925266064185</c:v>
                </c:pt>
                <c:pt idx="11">
                  <c:v>0.48749842300199614</c:v>
                </c:pt>
                <c:pt idx="12">
                  <c:v>0.46801729892448835</c:v>
                </c:pt>
                <c:pt idx="13">
                  <c:v>0.44433269327848646</c:v>
                </c:pt>
                <c:pt idx="14">
                  <c:v>0.4178599574943993</c:v>
                </c:pt>
                <c:pt idx="15">
                  <c:v>0.38976147164675123</c:v>
                </c:pt>
                <c:pt idx="16">
                  <c:v>0.36097062169361593</c:v>
                </c:pt>
                <c:pt idx="17">
                  <c:v>0.33221952476447747</c:v>
                </c:pt>
                <c:pt idx="18">
                  <c:v>0.3040674134893573</c:v>
                </c:pt>
                <c:pt idx="19">
                  <c:v>0.27692784523923525</c:v>
                </c:pt>
                <c:pt idx="20">
                  <c:v>0.2510937202208042</c:v>
                </c:pt>
                <c:pt idx="21">
                  <c:v>0.22675962130861058</c:v>
                </c:pt>
                <c:pt idx="22">
                  <c:v>0.204041324510811</c:v>
                </c:pt>
                <c:pt idx="23">
                  <c:v>0.18299253589932646</c:v>
                </c:pt>
                <c:pt idx="24">
                  <c:v>0.16361903162750618</c:v>
                </c:pt>
                <c:pt idx="25">
                  <c:v>0.14589044143359312</c:v>
                </c:pt>
                <c:pt idx="26">
                  <c:v>0.1297499426344171</c:v>
                </c:pt>
                <c:pt idx="27">
                  <c:v>0.11512213458811359</c:v>
                </c:pt>
                <c:pt idx="28">
                  <c:v>0.10191935215206854</c:v>
                </c:pt>
                <c:pt idx="29">
                  <c:v>0.09004665699578367</c:v>
                </c:pt>
                <c:pt idx="30">
                  <c:v>0.07940572188877987</c:v>
                </c:pt>
                <c:pt idx="31">
                  <c:v>0.06989779797666615</c:v>
                </c:pt>
                <c:pt idx="32">
                  <c:v>0.06142593029849133</c:v>
                </c:pt>
                <c:pt idx="33">
                  <c:v>0.05389656341963395</c:v>
                </c:pt>
                <c:pt idx="34">
                  <c:v>0.047220657628834053</c:v>
                </c:pt>
                <c:pt idx="35">
                  <c:v>0.04131441693863643</c:v>
                </c:pt>
                <c:pt idx="36">
                  <c:v>0.03609971319669375</c:v>
                </c:pt>
                <c:pt idx="37">
                  <c:v>0.03150427589501708</c:v>
                </c:pt>
                <c:pt idx="38">
                  <c:v>0.027461704613457552</c:v>
                </c:pt>
                <c:pt idx="39">
                  <c:v>0.023911350269891916</c:v>
                </c:pt>
                <c:pt idx="40">
                  <c:v>0.020798102272998734</c:v>
                </c:pt>
                <c:pt idx="41">
                  <c:v>0.018072111082577908</c:v>
                </c:pt>
                <c:pt idx="42">
                  <c:v>0.015688469383305096</c:v>
                </c:pt>
                <c:pt idx="43">
                  <c:v>0.01360686989033232</c:v>
                </c:pt>
                <c:pt idx="44">
                  <c:v>0.0117912535653782</c:v>
                </c:pt>
                <c:pt idx="45">
                  <c:v>0.010209458583604917</c:v>
                </c:pt>
                <c:pt idx="46">
                  <c:v>0.008832877625878819</c:v>
                </c:pt>
                <c:pt idx="47">
                  <c:v>0.007636128865919211</c:v>
                </c:pt>
                <c:pt idx="48">
                  <c:v>0.006596744280823932</c:v>
                </c:pt>
                <c:pt idx="49">
                  <c:v>0.005694877554063493</c:v>
                </c:pt>
                <c:pt idx="50">
                  <c:v>0.004913032792350943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F5F9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</c:v>
                </c:pt>
              </c:strCache>
            </c:strRef>
          </c:tx>
          <c:spPr>
            <a:solidFill>
              <a:srgbClr val="F4B942"/>
            </a:solidFill>
            <a:ln w="38100" cap="flat">
              <a:solidFill>
                <a:srgbClr val="F4B94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4B942"/>
              </a:solidFill>
              <a:ln w="9525" cap="flat">
                <a:solidFill>
                  <a:srgbClr val="F4B94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Sheet1!$A$2:$A$52</c:f>
              <c:multiLvlStrCache>
                <c:ptCount val="51"/>
                <c:lvl>
                  <c:pt idx="0">
                    <c:v>0</c:v>
                  </c:pt>
                  <c:pt idx="1">
                    <c:v>0.2</c:v>
                  </c:pt>
                  <c:pt idx="2">
                    <c:v>0.4</c:v>
                  </c:pt>
                  <c:pt idx="3">
                    <c:v>0.6</c:v>
                  </c:pt>
                  <c:pt idx="4">
                    <c:v>0.8</c:v>
                  </c:pt>
                  <c:pt idx="5">
                    <c:v>1</c:v>
                  </c:pt>
                  <c:pt idx="6">
                    <c:v>1.2</c:v>
                  </c:pt>
                  <c:pt idx="7">
                    <c:v>1.4</c:v>
                  </c:pt>
                  <c:pt idx="8">
                    <c:v>1.6</c:v>
                  </c:pt>
                  <c:pt idx="9">
                    <c:v>1.8</c:v>
                  </c:pt>
                  <c:pt idx="10">
                    <c:v>2</c:v>
                  </c:pt>
                  <c:pt idx="11">
                    <c:v>2.2</c:v>
                  </c:pt>
                  <c:pt idx="12">
                    <c:v>2.4</c:v>
                  </c:pt>
                  <c:pt idx="13">
                    <c:v>2.6</c:v>
                  </c:pt>
                  <c:pt idx="14">
                    <c:v>2.8</c:v>
                  </c:pt>
                  <c:pt idx="15">
                    <c:v>3</c:v>
                  </c:pt>
                  <c:pt idx="16">
                    <c:v>3.2</c:v>
                  </c:pt>
                  <c:pt idx="17">
                    <c:v>3.4</c:v>
                  </c:pt>
                  <c:pt idx="18">
                    <c:v>3.6</c:v>
                  </c:pt>
                  <c:pt idx="19">
                    <c:v>3.8</c:v>
                  </c:pt>
                  <c:pt idx="20">
                    <c:v>4</c:v>
                  </c:pt>
                  <c:pt idx="21">
                    <c:v>4.2</c:v>
                  </c:pt>
                  <c:pt idx="22">
                    <c:v>4.4</c:v>
                  </c:pt>
                  <c:pt idx="23">
                    <c:v>4.6</c:v>
                  </c:pt>
                  <c:pt idx="24">
                    <c:v>4.8</c:v>
                  </c:pt>
                  <c:pt idx="25">
                    <c:v>5</c:v>
                  </c:pt>
                  <c:pt idx="26">
                    <c:v>5.2</c:v>
                  </c:pt>
                  <c:pt idx="27">
                    <c:v>5.4</c:v>
                  </c:pt>
                  <c:pt idx="28">
                    <c:v>5.6</c:v>
                  </c:pt>
                  <c:pt idx="29">
                    <c:v>5.8</c:v>
                  </c:pt>
                  <c:pt idx="30">
                    <c:v>6</c:v>
                  </c:pt>
                  <c:pt idx="31">
                    <c:v>6.2</c:v>
                  </c:pt>
                  <c:pt idx="32">
                    <c:v>6.4</c:v>
                  </c:pt>
                  <c:pt idx="33">
                    <c:v>6.6</c:v>
                  </c:pt>
                  <c:pt idx="34">
                    <c:v>6.8</c:v>
                  </c:pt>
                  <c:pt idx="35">
                    <c:v>7</c:v>
                  </c:pt>
                  <c:pt idx="36">
                    <c:v>7.2</c:v>
                  </c:pt>
                  <c:pt idx="37">
                    <c:v>7.4</c:v>
                  </c:pt>
                  <c:pt idx="38">
                    <c:v>7.6</c:v>
                  </c:pt>
                  <c:pt idx="39">
                    <c:v>7.8</c:v>
                  </c:pt>
                  <c:pt idx="40">
                    <c:v>8</c:v>
                  </c:pt>
                  <c:pt idx="41">
                    <c:v>8.2</c:v>
                  </c:pt>
                  <c:pt idx="42">
                    <c:v>8.4</c:v>
                  </c:pt>
                  <c:pt idx="43">
                    <c:v>8.6</c:v>
                  </c:pt>
                  <c:pt idx="44">
                    <c:v>8.8</c:v>
                  </c:pt>
                  <c:pt idx="45">
                    <c:v>9</c:v>
                  </c:pt>
                  <c:pt idx="46">
                    <c:v>9.2</c:v>
                  </c:pt>
                  <c:pt idx="47">
                    <c:v>9.4</c:v>
                  </c:pt>
                  <c:pt idx="48">
                    <c:v>9.6</c:v>
                  </c:pt>
                  <c:pt idx="49">
                    <c:v>9.8</c:v>
                  </c:pt>
                  <c:pt idx="50">
                    <c:v>10</c:v>
                  </c:pt>
                </c:lvl>
              </c:multiLvlStrCache>
            </c:multiLvlStrRef>
          </c:cat>
          <c:val>
            <c:numRef>
              <c:f>Sheet1!$B$2:$B$52</c:f>
              <c:numCache>
                <c:formatCode>General</c:formatCode>
                <c:ptCount val="51"/>
                <c:pt idx="0">
                  <c:v>0.004913032792350943</c:v>
                </c:pt>
                <c:pt idx="1">
                  <c:v>0.005694877554063493</c:v>
                </c:pt>
                <c:pt idx="2">
                  <c:v>0.006596744280823932</c:v>
                </c:pt>
                <c:pt idx="3">
                  <c:v>0.007636128865919211</c:v>
                </c:pt>
                <c:pt idx="4">
                  <c:v>0.008832877625878819</c:v>
                </c:pt>
                <c:pt idx="5">
                  <c:v>0.010209458583604917</c:v>
                </c:pt>
                <c:pt idx="6">
                  <c:v>0.0117912535653782</c:v>
                </c:pt>
                <c:pt idx="7">
                  <c:v>0.01360686989033232</c:v>
                </c:pt>
                <c:pt idx="8">
                  <c:v>0.015688469383305096</c:v>
                </c:pt>
                <c:pt idx="9">
                  <c:v>0.018072111082577908</c:v>
                </c:pt>
                <c:pt idx="10">
                  <c:v>0.020798102272998734</c:v>
                </c:pt>
                <c:pt idx="11">
                  <c:v>0.023911350269891916</c:v>
                </c:pt>
                <c:pt idx="12">
                  <c:v>0.027461704613457552</c:v>
                </c:pt>
                <c:pt idx="13">
                  <c:v>0.03150427589501708</c:v>
                </c:pt>
                <c:pt idx="14">
                  <c:v>0.03609971319669375</c:v>
                </c:pt>
                <c:pt idx="15">
                  <c:v>0.04131441693863643</c:v>
                </c:pt>
                <c:pt idx="16">
                  <c:v>0.047220657628834053</c:v>
                </c:pt>
                <c:pt idx="17">
                  <c:v>0.05389656341963395</c:v>
                </c:pt>
                <c:pt idx="18">
                  <c:v>0.06142593029849133</c:v>
                </c:pt>
                <c:pt idx="19">
                  <c:v>0.06989779797666615</c:v>
                </c:pt>
                <c:pt idx="20">
                  <c:v>0.07940572188877987</c:v>
                </c:pt>
                <c:pt idx="21">
                  <c:v>0.09004665699578367</c:v>
                </c:pt>
                <c:pt idx="22">
                  <c:v>0.10191935215206854</c:v>
                </c:pt>
                <c:pt idx="23">
                  <c:v>0.11512213458811359</c:v>
                </c:pt>
                <c:pt idx="24">
                  <c:v>0.1297499426344171</c:v>
                </c:pt>
                <c:pt idx="25">
                  <c:v>0.14589044143359312</c:v>
                </c:pt>
                <c:pt idx="26">
                  <c:v>0.16361903162750618</c:v>
                </c:pt>
                <c:pt idx="27">
                  <c:v>0.18299253589932646</c:v>
                </c:pt>
                <c:pt idx="28">
                  <c:v>0.204041324510811</c:v>
                </c:pt>
                <c:pt idx="29">
                  <c:v>0.22675962130861058</c:v>
                </c:pt>
                <c:pt idx="30">
                  <c:v>0.2510937202208042</c:v>
                </c:pt>
                <c:pt idx="31">
                  <c:v>0.27692784523923525</c:v>
                </c:pt>
                <c:pt idx="32">
                  <c:v>0.3040674134893574</c:v>
                </c:pt>
                <c:pt idx="33">
                  <c:v>0.3322195247644774</c:v>
                </c:pt>
                <c:pt idx="34">
                  <c:v>0.36097062169361593</c:v>
                </c:pt>
                <c:pt idx="35">
                  <c:v>0.38976147164675123</c:v>
                </c:pt>
                <c:pt idx="36">
                  <c:v>0.4178599574943993</c:v>
                </c:pt>
                <c:pt idx="37">
                  <c:v>0.4443326932784865</c:v>
                </c:pt>
                <c:pt idx="38">
                  <c:v>0.4680172989244883</c:v>
                </c:pt>
                <c:pt idx="39">
                  <c:v>0.48749842300199614</c:v>
                </c:pt>
                <c:pt idx="40">
                  <c:v>0.5010925266064185</c:v>
                </c:pt>
                <c:pt idx="41">
                  <c:v>0.50684941255973</c:v>
                </c:pt>
                <c:pt idx="42">
                  <c:v>0.5025831434133231</c:v>
                </c:pt>
                <c:pt idx="43">
                  <c:v>0.4859524878889139</c:v>
                </c:pt>
                <c:pt idx="44">
                  <c:v>0.45462357545539384</c:v>
                </c:pt>
                <c:pt idx="45">
                  <c:v>0.4065696597405991</c:v>
                </c:pt>
                <c:pt idx="46">
                  <c:v>0.3406057318866972</c:v>
                </c:pt>
                <c:pt idx="47">
                  <c:v>0.25734929353862135</c:v>
                </c:pt>
                <c:pt idx="48">
                  <c:v>0.16104601119621886</c:v>
                </c:pt>
                <c:pt idx="49">
                  <c:v>0.06360261711380417</c:v>
                </c:pt>
                <c:pt idx="50">
                  <c:v>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F5F9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3AAFA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Economy</c:v>
                  </c:pt>
                  <c:pt idx="1">
                    <c:v>Business</c:v>
                  </c:pt>
                  <c:pt idx="2">
                    <c:v>First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620</c:v>
                </c:pt>
                <c:pt idx="1">
                  <c:v>180</c:v>
                </c:pt>
                <c:pt idx="2">
                  <c:v>60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F5F9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</c:v>
                </c:pt>
              </c:strCache>
            </c:strRef>
          </c:tx>
          <c:spPr>
            <a:solidFill>
              <a:srgbClr val="2D6A9F"/>
            </a:solidFill>
            <a:ln>
              <a:noFill/>
            </a:ln>
            <a:effectLst/>
          </c:spPr>
          <c:marker>
            <c:symbol val="circle"/>
            <c:size val="8"/>
            <c:spPr>
              <a:solidFill>
                <a:srgbClr val="2D6A9F"/>
              </a:solidFill>
              <a:ln w="9525" cap="flat">
                <a:solidFill>
                  <a:srgbClr val="2D6A9F"/>
                </a:solidFill>
                <a:prstDash val="solid"/>
                <a:round/>
              </a:ln>
              <a:effectLst/>
            </c:spPr>
          </c:marker>
          <c:xVal>
            <c:numRef>
              <c:f>Sheet1!$A$2:$A$13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3.5</c:v>
                </c:pt>
                <c:pt idx="10">
                  <c:v>6.5</c:v>
                </c:pt>
                <c:pt idx="11">
                  <c:v>2.5</c:v>
                </c:pt>
              </c:numCache>
            </c:numRef>
          </c:xVal>
          <c:yVal>
            <c:numRef>
              <c:f>Sheet1!$B$2:$B$13</c:f>
              <c:numCache>
                <c:formatCode>General</c:formatCode>
                <c:ptCount val="12"/>
                <c:pt idx="0">
                  <c:v>2.2</c:v>
                </c:pt>
                <c:pt idx="1">
                  <c:v>2.8</c:v>
                </c:pt>
                <c:pt idx="2">
                  <c:v>3.1</c:v>
                </c:pt>
                <c:pt idx="3">
                  <c:v>4</c:v>
                </c:pt>
                <c:pt idx="4">
                  <c:v>4.4</c:v>
                </c:pt>
                <c:pt idx="5">
                  <c:v>5.3</c:v>
                </c:pt>
                <c:pt idx="6">
                  <c:v>5.6</c:v>
                </c:pt>
                <c:pt idx="7">
                  <c:v>6.6</c:v>
                </c:pt>
                <c:pt idx="8">
                  <c:v>6.9</c:v>
                </c:pt>
                <c:pt idx="9">
                  <c:v>3</c:v>
                </c:pt>
                <c:pt idx="10">
                  <c:v>5</c:v>
                </c:pt>
                <c:pt idx="11">
                  <c:v>3.4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2F5F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3.png"/><Relationship Id="rId6" Type="http://schemas.openxmlformats.org/officeDocument/2006/relationships/image" Target="../media/image-5-6.png"/><Relationship Id="rId7" Type="http://schemas.openxmlformats.org/officeDocument/2006/relationships/image" Target="../media/image-5-3.png"/><Relationship Id="rId8" Type="http://schemas.openxmlformats.org/officeDocument/2006/relationships/image" Target="../media/image-5-8.png"/><Relationship Id="rId9" Type="http://schemas.openxmlformats.org/officeDocument/2006/relationships/image" Target="../media/image-5-3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8-1.png"/><Relationship Id="rId3" Type="http://schemas.openxmlformats.org/officeDocument/2006/relationships/image" Target="../media/image-8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chart" Target="/ppt/charts/chart4.xml"/><Relationship Id="rId1" Type="http://schemas.openxmlformats.org/officeDocument/2006/relationships/image" Target="../media/image-10-1.png"/><Relationship Id="rId5" Type="http://schemas.openxmlformats.org/officeDocument/2006/relationships/image" Target="../media/image-10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5.xml"/><Relationship Id="rId1" Type="http://schemas.openxmlformats.org/officeDocument/2006/relationships/image" Target="../media/image-11-1.png"/><Relationship Id="rId3" Type="http://schemas.openxmlformats.org/officeDocument/2006/relationships/image" Target="../media/image-11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6.xml"/><Relationship Id="rId1" Type="http://schemas.openxmlformats.org/officeDocument/2006/relationships/image" Target="../media/image-13-1.png"/><Relationship Id="rId3" Type="http://schemas.openxmlformats.org/officeDocument/2006/relationships/image" Target="../media/image-1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1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320000">
            <a:off x="8686800" y="-1097280"/>
            <a:ext cx="5486400" cy="5486400"/>
          </a:xfrm>
          <a:prstGeom prst="roundRect">
            <a:avLst>
              <a:gd name="adj" fmla="val 3333"/>
            </a:avLst>
          </a:prstGeom>
          <a:solidFill>
            <a:srgbClr val="2D6A9F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320000">
            <a:off x="9509760" y="2377440"/>
            <a:ext cx="5486400" cy="5486400"/>
          </a:xfrm>
          <a:prstGeom prst="roundRect">
            <a:avLst>
              <a:gd name="adj" fmla="val 3333"/>
            </a:avLst>
          </a:prstGeom>
          <a:solidFill>
            <a:srgbClr val="3AAFA9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868680"/>
            <a:ext cx="914400" cy="91440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5" name="Image 0" descr="ic_binoc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0972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2011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TRAINING  ·  DAY 4–5  ·  PHASE C — DATA ENGINEERING &amp; PREPARATION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2432304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EDA &amp; Statistical Analysis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841248" y="34015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DCE7F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Get to know your data before you model it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68680" y="4114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EDA workflow · univariate · distributions · bivariate · correlation · red flags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68680" y="61264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E9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U9  ·  Phase C  ·  18 slides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binoc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we'll explore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7276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goal:  </a:t>
            </a:r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training any model, </a:t>
            </a:r>
            <a:pPr algn="l" indent="0" marL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data</a:t>
            </a:r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understand its shape, spot problems, and find the relationships worth modelling.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225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0" name="Image 1" descr="ic_zoom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8176" y="3236976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4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40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&amp; why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58368" y="4498848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goals of EDA</a:t>
            </a:r>
            <a:endParaRPr lang="en-US" sz="1030" dirty="0"/>
          </a:p>
        </p:txBody>
      </p:sp>
      <p:sp>
        <p:nvSpPr>
          <p:cNvPr id="14" name="Shape 10"/>
          <p:cNvSpPr/>
          <p:nvPr/>
        </p:nvSpPr>
        <p:spPr>
          <a:xfrm>
            <a:off x="2834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511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6" name="Image 2" descr="ic_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4176" y="3236976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980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2926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2944368" y="4498848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variable at a time</a:t>
            </a:r>
            <a:endParaRPr lang="en-US" sz="1030" dirty="0"/>
          </a:p>
        </p:txBody>
      </p:sp>
      <p:sp>
        <p:nvSpPr>
          <p:cNvPr id="20" name="Shape 15"/>
          <p:cNvSpPr/>
          <p:nvPr/>
        </p:nvSpPr>
        <p:spPr>
          <a:xfrm>
            <a:off x="5120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797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2" name="Image 3" descr="ic_wav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176" y="3236976"/>
            <a:ext cx="402336" cy="40233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266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212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5230368" y="4498848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&amp; skew</a:t>
            </a:r>
            <a:endParaRPr lang="en-US" sz="1030" dirty="0"/>
          </a:p>
        </p:txBody>
      </p:sp>
      <p:sp>
        <p:nvSpPr>
          <p:cNvPr id="26" name="Shape 20"/>
          <p:cNvSpPr/>
          <p:nvPr/>
        </p:nvSpPr>
        <p:spPr>
          <a:xfrm>
            <a:off x="7406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083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8" name="Image 4" descr="ic_scatter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6176" y="3236976"/>
            <a:ext cx="402336" cy="40233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552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7498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Bivariate</a:t>
            </a:r>
            <a:endParaRPr lang="en-US" sz="1350" dirty="0"/>
          </a:p>
        </p:txBody>
      </p:sp>
      <p:sp>
        <p:nvSpPr>
          <p:cNvPr id="31" name="Text 24"/>
          <p:cNvSpPr/>
          <p:nvPr/>
        </p:nvSpPr>
        <p:spPr>
          <a:xfrm>
            <a:off x="7516368" y="4498848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030" dirty="0"/>
          </a:p>
        </p:txBody>
      </p:sp>
      <p:sp>
        <p:nvSpPr>
          <p:cNvPr id="32" name="Shape 25"/>
          <p:cNvSpPr/>
          <p:nvPr/>
        </p:nvSpPr>
        <p:spPr>
          <a:xfrm>
            <a:off x="9692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10369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34" name="Image 5" descr="ic_thgrid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52176" y="3236976"/>
            <a:ext cx="402336" cy="402336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9838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6" name="Text 28"/>
          <p:cNvSpPr/>
          <p:nvPr/>
        </p:nvSpPr>
        <p:spPr>
          <a:xfrm>
            <a:off x="9784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1350" dirty="0"/>
          </a:p>
        </p:txBody>
      </p:sp>
      <p:sp>
        <p:nvSpPr>
          <p:cNvPr id="37" name="Text 29"/>
          <p:cNvSpPr/>
          <p:nvPr/>
        </p:nvSpPr>
        <p:spPr>
          <a:xfrm>
            <a:off x="9802368" y="4498848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heatmaps &amp; red flags</a:t>
            </a:r>
            <a:endParaRPr lang="en-US" sz="1030" dirty="0"/>
          </a:p>
        </p:txBody>
      </p:sp>
      <p:sp>
        <p:nvSpPr>
          <p:cNvPr id="38" name="Text 30"/>
          <p:cNvSpPr/>
          <p:nvPr/>
        </p:nvSpPr>
        <p:spPr>
          <a:xfrm>
            <a:off x="548640" y="53218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pandas for summaries, matplotlib &amp; seaborn for plots — all on the clean data from U8.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U9 · EDA &amp; Statistical Analysis</a:t>
            </a:r>
            <a:endParaRPr lang="en-US" sz="950" dirty="0"/>
          </a:p>
        </p:txBody>
      </p:sp>
      <p:sp>
        <p:nvSpPr>
          <p:cNvPr id="40" name="Text 3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914400"/>
            <a:ext cx="2286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24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zoom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is EDA &amp; why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is the detective work that comes before modelling.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Statistical Analysis · Phase C  ·  01 / 18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zoom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DETECTIVE WORK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is Exploratory Data Analysis?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72768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 </a:t>
            </a:r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is summarising and visualising a dataset to understand its main characteristics — before making assumptions or building models.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2615184" cy="1874520"/>
          </a:xfrm>
          <a:prstGeom prst="roundRect">
            <a:avLst>
              <a:gd name="adj" fmla="val 4390"/>
            </a:avLst>
          </a:prstGeom>
          <a:solidFill>
            <a:srgbClr val="F2F5F9"/>
          </a:solidFill>
          <a:ln/>
        </p:spPr>
      </p:sp>
      <p:sp>
        <p:nvSpPr>
          <p:cNvPr id="9" name="Shape 6"/>
          <p:cNvSpPr/>
          <p:nvPr/>
        </p:nvSpPr>
        <p:spPr>
          <a:xfrm>
            <a:off x="1472184" y="29352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0" name="Image 1" descr="ic_zoom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064" y="3136392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58368" y="38130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structure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694944" y="4123944"/>
            <a:ext cx="23225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variables, types, ranges and scales exist</a:t>
            </a:r>
            <a:endParaRPr lang="en-US" sz="1030" dirty="0"/>
          </a:p>
        </p:txBody>
      </p:sp>
      <p:sp>
        <p:nvSpPr>
          <p:cNvPr id="13" name="Shape 9"/>
          <p:cNvSpPr/>
          <p:nvPr/>
        </p:nvSpPr>
        <p:spPr>
          <a:xfrm>
            <a:off x="3346704" y="2697480"/>
            <a:ext cx="2615184" cy="1874520"/>
          </a:xfrm>
          <a:prstGeom prst="roundRect">
            <a:avLst>
              <a:gd name="adj" fmla="val 4390"/>
            </a:avLst>
          </a:prstGeom>
          <a:solidFill>
            <a:srgbClr val="F2F5F9"/>
          </a:solidFill>
          <a:ln/>
        </p:spPr>
      </p:sp>
      <p:sp>
        <p:nvSpPr>
          <p:cNvPr id="14" name="Shape 10"/>
          <p:cNvSpPr/>
          <p:nvPr/>
        </p:nvSpPr>
        <p:spPr>
          <a:xfrm>
            <a:off x="4270248" y="29352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5" name="Image 2" descr="ic_war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3136392"/>
            <a:ext cx="402336" cy="40233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456432" y="38130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problems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3493008" y="4123944"/>
            <a:ext cx="23225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data, outliers, errors, imbalance</a:t>
            </a:r>
            <a:endParaRPr lang="en-US" sz="1030" dirty="0"/>
          </a:p>
        </p:txBody>
      </p:sp>
      <p:sp>
        <p:nvSpPr>
          <p:cNvPr id="18" name="Shape 13"/>
          <p:cNvSpPr/>
          <p:nvPr/>
        </p:nvSpPr>
        <p:spPr>
          <a:xfrm>
            <a:off x="6144768" y="2697480"/>
            <a:ext cx="2615184" cy="1874520"/>
          </a:xfrm>
          <a:prstGeom prst="roundRect">
            <a:avLst>
              <a:gd name="adj" fmla="val 4390"/>
            </a:avLst>
          </a:prstGeom>
          <a:solidFill>
            <a:srgbClr val="F2F5F9"/>
          </a:solidFill>
          <a:ln/>
        </p:spPr>
      </p:sp>
      <p:sp>
        <p:nvSpPr>
          <p:cNvPr id="19" name="Shape 14"/>
          <p:cNvSpPr/>
          <p:nvPr/>
        </p:nvSpPr>
        <p:spPr>
          <a:xfrm>
            <a:off x="7068312" y="29352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0" name="Image 3" descr="ic_lin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2" y="3136392"/>
            <a:ext cx="402336" cy="40233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254496" y="38130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relationships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6291072" y="4123944"/>
            <a:ext cx="23225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variables move together</a:t>
            </a:r>
            <a:endParaRPr lang="en-US" sz="1030" dirty="0"/>
          </a:p>
        </p:txBody>
      </p:sp>
      <p:sp>
        <p:nvSpPr>
          <p:cNvPr id="23" name="Shape 17"/>
          <p:cNvSpPr/>
          <p:nvPr/>
        </p:nvSpPr>
        <p:spPr>
          <a:xfrm>
            <a:off x="8942832" y="2697480"/>
            <a:ext cx="2615184" cy="1874520"/>
          </a:xfrm>
          <a:prstGeom prst="roundRect">
            <a:avLst>
              <a:gd name="adj" fmla="val 4390"/>
            </a:avLst>
          </a:prstGeom>
          <a:solidFill>
            <a:srgbClr val="F2F5F9"/>
          </a:solidFill>
          <a:ln/>
        </p:spPr>
      </p:sp>
      <p:sp>
        <p:nvSpPr>
          <p:cNvPr id="24" name="Shape 18"/>
          <p:cNvSpPr/>
          <p:nvPr/>
        </p:nvSpPr>
        <p:spPr>
          <a:xfrm>
            <a:off x="9866376" y="29352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5" name="Image 4" descr="ic_bulb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9256" y="3136392"/>
            <a:ext cx="402336" cy="40233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052560" y="38130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hypotheses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9089136" y="4123944"/>
            <a:ext cx="23225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engineer, test and model next</a:t>
            </a:r>
            <a:endParaRPr lang="en-US" sz="1030" dirty="0"/>
          </a:p>
        </p:txBody>
      </p:sp>
      <p:sp>
        <p:nvSpPr>
          <p:cNvPr id="28" name="Text 21"/>
          <p:cNvSpPr/>
          <p:nvPr/>
        </p:nvSpPr>
        <p:spPr>
          <a:xfrm>
            <a:off x="548640" y="4709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is iterative and visual — you ask a question, plot it, and let the answer raise the next question.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U9 · EDA &amp; Statistical Analysis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rotat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REPEATABLE PROCESS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EDA workflow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920240"/>
            <a:ext cx="2057400" cy="1691640"/>
          </a:xfrm>
          <a:prstGeom prst="roundRect">
            <a:avLst>
              <a:gd name="adj" fmla="val 5405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1284732" y="2176272"/>
            <a:ext cx="621792" cy="621792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zoom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1036" y="2331720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13232" y="20299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58368" y="2944368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50" kern="0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676656" y="3236976"/>
            <a:ext cx="1837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the whole dataset</a:t>
            </a:r>
            <a:endParaRPr lang="en-US" sz="950" dirty="0"/>
          </a:p>
        </p:txBody>
      </p:sp>
      <p:pic>
        <p:nvPicPr>
          <p:cNvPr id="12" name="Image 2" descr="ic_arrow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760" y="2683764"/>
            <a:ext cx="146304" cy="146304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2834640" y="1920240"/>
            <a:ext cx="2057400" cy="1691640"/>
          </a:xfrm>
          <a:prstGeom prst="roundRect">
            <a:avLst>
              <a:gd name="adj" fmla="val 5405"/>
            </a:avLst>
          </a:prstGeom>
          <a:solidFill>
            <a:srgbClr val="F2F5F9"/>
          </a:solidFill>
          <a:ln/>
        </p:spPr>
      </p:sp>
      <p:sp>
        <p:nvSpPr>
          <p:cNvPr id="14" name="Shape 9"/>
          <p:cNvSpPr/>
          <p:nvPr/>
        </p:nvSpPr>
        <p:spPr>
          <a:xfrm>
            <a:off x="3552444" y="2176272"/>
            <a:ext cx="621792" cy="621792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5" name="Image 3" descr="ic_ch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8748" y="2331720"/>
            <a:ext cx="329184" cy="32918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2980944" y="20299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2926080" y="2944368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50" kern="0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2944368" y="3236976"/>
            <a:ext cx="1837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 each variable alone</a:t>
            </a:r>
            <a:endParaRPr lang="en-US" sz="950" dirty="0"/>
          </a:p>
        </p:txBody>
      </p:sp>
      <p:pic>
        <p:nvPicPr>
          <p:cNvPr id="19" name="Image 4" descr="ic_arrow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472" y="2683764"/>
            <a:ext cx="146304" cy="146304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5102352" y="1920240"/>
            <a:ext cx="2057400" cy="1691640"/>
          </a:xfrm>
          <a:prstGeom prst="roundRect">
            <a:avLst>
              <a:gd name="adj" fmla="val 5405"/>
            </a:avLst>
          </a:prstGeom>
          <a:solidFill>
            <a:srgbClr val="F2F5F9"/>
          </a:solidFill>
          <a:ln/>
        </p:spPr>
      </p:sp>
      <p:sp>
        <p:nvSpPr>
          <p:cNvPr id="21" name="Shape 14"/>
          <p:cNvSpPr/>
          <p:nvPr/>
        </p:nvSpPr>
        <p:spPr>
          <a:xfrm>
            <a:off x="5820156" y="2176272"/>
            <a:ext cx="621792" cy="621792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2" name="Image 5" descr="ic_scatter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6460" y="2331720"/>
            <a:ext cx="329184" cy="329184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248656" y="20299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16"/>
          <p:cNvSpPr/>
          <p:nvPr/>
        </p:nvSpPr>
        <p:spPr>
          <a:xfrm>
            <a:off x="5193792" y="2944368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50" kern="0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BIVARIATE</a:t>
            </a:r>
            <a:endParaRPr lang="en-US" sz="1250" dirty="0"/>
          </a:p>
        </p:txBody>
      </p:sp>
      <p:sp>
        <p:nvSpPr>
          <p:cNvPr id="25" name="Text 17"/>
          <p:cNvSpPr/>
          <p:nvPr/>
        </p:nvSpPr>
        <p:spPr>
          <a:xfrm>
            <a:off x="5212080" y="3236976"/>
            <a:ext cx="1837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pairs of variables</a:t>
            </a:r>
            <a:endParaRPr lang="en-US" sz="950" dirty="0"/>
          </a:p>
        </p:txBody>
      </p:sp>
      <p:pic>
        <p:nvPicPr>
          <p:cNvPr id="26" name="Image 6" descr="ic_arrow_gol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87184" y="2683764"/>
            <a:ext cx="146304" cy="146304"/>
          </a:xfrm>
          <a:prstGeom prst="rect">
            <a:avLst/>
          </a:prstGeom>
        </p:spPr>
      </p:pic>
      <p:sp>
        <p:nvSpPr>
          <p:cNvPr id="27" name="Shape 18"/>
          <p:cNvSpPr/>
          <p:nvPr/>
        </p:nvSpPr>
        <p:spPr>
          <a:xfrm>
            <a:off x="7370064" y="1920240"/>
            <a:ext cx="2057400" cy="1691640"/>
          </a:xfrm>
          <a:prstGeom prst="roundRect">
            <a:avLst>
              <a:gd name="adj" fmla="val 5405"/>
            </a:avLst>
          </a:prstGeom>
          <a:solidFill>
            <a:srgbClr val="F2F5F9"/>
          </a:solidFill>
          <a:ln/>
        </p:spPr>
      </p:sp>
      <p:sp>
        <p:nvSpPr>
          <p:cNvPr id="28" name="Shape 19"/>
          <p:cNvSpPr/>
          <p:nvPr/>
        </p:nvSpPr>
        <p:spPr>
          <a:xfrm>
            <a:off x="8087868" y="2176272"/>
            <a:ext cx="621792" cy="621792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9" name="Image 7" descr="ic_thgrid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34172" y="2331720"/>
            <a:ext cx="329184" cy="329184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7516368" y="20299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Text 21"/>
          <p:cNvSpPr/>
          <p:nvPr/>
        </p:nvSpPr>
        <p:spPr>
          <a:xfrm>
            <a:off x="7461504" y="2944368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50" kern="0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</a:t>
            </a:r>
            <a:endParaRPr lang="en-US" sz="1250" dirty="0"/>
          </a:p>
        </p:txBody>
      </p:sp>
      <p:sp>
        <p:nvSpPr>
          <p:cNvPr id="32" name="Text 22"/>
          <p:cNvSpPr/>
          <p:nvPr/>
        </p:nvSpPr>
        <p:spPr>
          <a:xfrm>
            <a:off x="7479792" y="3236976"/>
            <a:ext cx="1837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variables at once</a:t>
            </a:r>
            <a:endParaRPr lang="en-US" sz="950" dirty="0"/>
          </a:p>
        </p:txBody>
      </p:sp>
      <p:pic>
        <p:nvPicPr>
          <p:cNvPr id="33" name="Image 8" descr="ic_arrow_gol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54896" y="2683764"/>
            <a:ext cx="146304" cy="146304"/>
          </a:xfrm>
          <a:prstGeom prst="rect">
            <a:avLst/>
          </a:prstGeom>
        </p:spPr>
      </p:pic>
      <p:sp>
        <p:nvSpPr>
          <p:cNvPr id="34" name="Shape 23"/>
          <p:cNvSpPr/>
          <p:nvPr/>
        </p:nvSpPr>
        <p:spPr>
          <a:xfrm>
            <a:off x="9637776" y="1920240"/>
            <a:ext cx="2057400" cy="1691640"/>
          </a:xfrm>
          <a:prstGeom prst="roundRect">
            <a:avLst>
              <a:gd name="adj" fmla="val 5405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35" name="Shape 24"/>
          <p:cNvSpPr/>
          <p:nvPr/>
        </p:nvSpPr>
        <p:spPr>
          <a:xfrm>
            <a:off x="10355580" y="2176272"/>
            <a:ext cx="621792" cy="621792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36" name="Image 9" descr="ic_check2_nav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01884" y="2331720"/>
            <a:ext cx="329184" cy="329184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9784080" y="20299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8" name="Text 26"/>
          <p:cNvSpPr/>
          <p:nvPr/>
        </p:nvSpPr>
        <p:spPr>
          <a:xfrm>
            <a:off x="9729216" y="2944368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5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CONCLUDE</a:t>
            </a:r>
            <a:endParaRPr lang="en-US" sz="1250" dirty="0"/>
          </a:p>
        </p:txBody>
      </p:sp>
      <p:sp>
        <p:nvSpPr>
          <p:cNvPr id="39" name="Text 27"/>
          <p:cNvSpPr/>
          <p:nvPr/>
        </p:nvSpPr>
        <p:spPr>
          <a:xfrm>
            <a:off x="9747504" y="3236976"/>
            <a:ext cx="1837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findings &amp; next steps</a:t>
            </a:r>
            <a:endParaRPr lang="en-US" sz="950" dirty="0"/>
          </a:p>
        </p:txBody>
      </p:sp>
      <p:sp>
        <p:nvSpPr>
          <p:cNvPr id="40" name="Shape 28"/>
          <p:cNvSpPr/>
          <p:nvPr/>
        </p:nvSpPr>
        <p:spPr>
          <a:xfrm>
            <a:off x="548640" y="402336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2F5F9"/>
          </a:solidFill>
          <a:ln/>
        </p:spPr>
      </p:sp>
      <p:sp>
        <p:nvSpPr>
          <p:cNvPr id="41" name="Text 29"/>
          <p:cNvSpPr/>
          <p:nvPr/>
        </p:nvSpPr>
        <p:spPr>
          <a:xfrm>
            <a:off x="822960" y="402336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from broad to narrow:  </a:t>
            </a:r>
            <a:pPr algn="l"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whole dataset, zoom into single variables, then study how they relate.</a:t>
            </a:r>
            <a:endParaRPr lang="en-US" sz="1350" dirty="0"/>
          </a:p>
        </p:txBody>
      </p:sp>
      <p:sp>
        <p:nvSpPr>
          <p:cNvPr id="42" name="Text 30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U9 · EDA &amp; Statistical Analysis</a:t>
            </a:r>
            <a:endParaRPr lang="en-US" sz="950" dirty="0"/>
          </a:p>
        </p:txBody>
      </p:sp>
      <p:sp>
        <p:nvSpPr>
          <p:cNvPr id="43" name="Text 31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zoom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OVERVIEW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First look: profile the dataset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099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&amp; columns  </a:t>
            </a:r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how many rows &amp; features?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66928" y="2459736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5000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 </a:t>
            </a:r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numeric vs categorical vs datetime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66928" y="320954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099816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stats  </a:t>
            </a:r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ranges, means, spot odd min/max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66928" y="395935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849624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&amp; dupes  </a:t>
            </a:r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how complete is each column?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126480" y="1664208"/>
            <a:ext cx="5513832" cy="2743200"/>
          </a:xfrm>
          <a:prstGeom prst="roundRect">
            <a:avLst>
              <a:gd name="adj" fmla="val 2000"/>
            </a:avLst>
          </a:prstGeom>
          <a:solidFill>
            <a:srgbClr val="0E1B2E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272784" y="1810512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6" name="Shape 13"/>
          <p:cNvSpPr/>
          <p:nvPr/>
        </p:nvSpPr>
        <p:spPr>
          <a:xfrm>
            <a:off x="6419088" y="1810512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7" name="Shape 14"/>
          <p:cNvSpPr/>
          <p:nvPr/>
        </p:nvSpPr>
        <p:spPr>
          <a:xfrm>
            <a:off x="6565392" y="1810512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8" name="Text 15"/>
          <p:cNvSpPr/>
          <p:nvPr/>
        </p:nvSpPr>
        <p:spPr>
          <a:xfrm>
            <a:off x="6766560" y="1737360"/>
            <a:ext cx="4690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FA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first_look.py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327648" y="2048256"/>
            <a:ext cx="5111496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pd, seaborn as sns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sns.load_dataset('titanic')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df.shape          # (rows, cols)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df.info()         # types + non-null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df.describe()     # numeric summary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df.isna().mean()  # % missing/column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df.head()         # eyeball real rows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21" name="Shape 18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2" name="Image 1" descr="ic_flas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 dataset and profile it: shape, info, describe, missingness.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548640" y="5870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commands give you a working mental model of the data in under a minute.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U9 · EDA &amp; Statistical Analysis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914400"/>
            <a:ext cx="2286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24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Univariate analysis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variable at a time — what does each column look like on its own?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Statistical Analysis · Phase C  ·  02 / 18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NUMERIC VARIABLE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Histograms &amp; distributions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57276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histogram shows where the values pile up</a:t>
            </a:r>
            <a:endParaRPr lang="en-US" sz="13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965960"/>
          <a:ext cx="54864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6281928" y="202996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5"/>
          <p:cNvSpPr/>
          <p:nvPr/>
        </p:nvSpPr>
        <p:spPr>
          <a:xfrm>
            <a:off x="6556248" y="192024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  </a:t>
            </a:r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where most values sit (the peak)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281928" y="263347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7"/>
          <p:cNvSpPr/>
          <p:nvPr/>
        </p:nvSpPr>
        <p:spPr>
          <a:xfrm>
            <a:off x="6556248" y="2523744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 </a:t>
            </a:r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wide or narrow range?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281928" y="3236976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9"/>
          <p:cNvSpPr/>
          <p:nvPr/>
        </p:nvSpPr>
        <p:spPr>
          <a:xfrm>
            <a:off x="6556248" y="312724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 </a:t>
            </a:r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symmetric, skewed, or multi-peaked?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281928" y="3840480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5" name="Text 11"/>
          <p:cNvSpPr/>
          <p:nvPr/>
        </p:nvSpPr>
        <p:spPr>
          <a:xfrm>
            <a:off x="6556248" y="3730752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&amp; spikes  </a:t>
            </a:r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hints of mixed groups or errors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17" name="Shape 13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18" name="Image 1" descr="ic_flask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a histogram of a numeric column; describe its center, spread and shape.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U9 · EDA &amp; Statistical Analysis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calc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BEHIND THE PICTURE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Summary statistics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3584448" cy="2788920"/>
          </a:xfrm>
          <a:prstGeom prst="roundRect">
            <a:avLst>
              <a:gd name="adj" fmla="val 2951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1691640"/>
            <a:ext cx="3584448" cy="548640"/>
          </a:xfrm>
          <a:prstGeom prst="roundRect">
            <a:avLst>
              <a:gd name="adj" fmla="val 15000"/>
            </a:avLst>
          </a:prstGeom>
          <a:solidFill>
            <a:srgbClr val="2D6A9F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691640"/>
            <a:ext cx="3218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TENDENCY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" y="2423160"/>
            <a:ext cx="3127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 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average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3081528"/>
            <a:ext cx="3127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 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middle value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77240" y="3739896"/>
            <a:ext cx="3127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 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most common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315968" y="1691640"/>
            <a:ext cx="3584448" cy="2788920"/>
          </a:xfrm>
          <a:prstGeom prst="roundRect">
            <a:avLst>
              <a:gd name="adj" fmla="val 2951"/>
            </a:avLst>
          </a:prstGeom>
          <a:solidFill>
            <a:srgbClr val="F2F5F9"/>
          </a:solidFill>
          <a:ln/>
        </p:spPr>
      </p:sp>
      <p:sp>
        <p:nvSpPr>
          <p:cNvPr id="13" name="Shape 10"/>
          <p:cNvSpPr/>
          <p:nvPr/>
        </p:nvSpPr>
        <p:spPr>
          <a:xfrm>
            <a:off x="4315968" y="1691640"/>
            <a:ext cx="3584448" cy="548640"/>
          </a:xfrm>
          <a:prstGeom prst="roundRect">
            <a:avLst>
              <a:gd name="adj" fmla="val 15000"/>
            </a:avLst>
          </a:prstGeom>
          <a:solidFill>
            <a:srgbClr val="3AAFA9"/>
          </a:solidFill>
          <a:ln/>
        </p:spPr>
      </p:sp>
      <p:sp>
        <p:nvSpPr>
          <p:cNvPr id="14" name="Text 11"/>
          <p:cNvSpPr/>
          <p:nvPr/>
        </p:nvSpPr>
        <p:spPr>
          <a:xfrm>
            <a:off x="4498848" y="1691640"/>
            <a:ext cx="3218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44568" y="2423160"/>
            <a:ext cx="3127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 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max − min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544568" y="3081528"/>
            <a:ext cx="3127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  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typical distance from mean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544568" y="3739896"/>
            <a:ext cx="3127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 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middle 50% width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083296" y="1691640"/>
            <a:ext cx="3584448" cy="2788920"/>
          </a:xfrm>
          <a:prstGeom prst="roundRect">
            <a:avLst>
              <a:gd name="adj" fmla="val 2951"/>
            </a:avLst>
          </a:prstGeom>
          <a:solidFill>
            <a:srgbClr val="F2F5F9"/>
          </a:solidFill>
          <a:ln/>
        </p:spPr>
      </p:sp>
      <p:sp>
        <p:nvSpPr>
          <p:cNvPr id="19" name="Shape 16"/>
          <p:cNvSpPr/>
          <p:nvPr/>
        </p:nvSpPr>
        <p:spPr>
          <a:xfrm>
            <a:off x="8083296" y="1691640"/>
            <a:ext cx="3584448" cy="548640"/>
          </a:xfrm>
          <a:prstGeom prst="roundRect">
            <a:avLst>
              <a:gd name="adj" fmla="val 15000"/>
            </a:avLst>
          </a:prstGeom>
          <a:solidFill>
            <a:srgbClr val="F4B942"/>
          </a:solidFill>
          <a:ln/>
        </p:spPr>
      </p:sp>
      <p:sp>
        <p:nvSpPr>
          <p:cNvPr id="20" name="Text 17"/>
          <p:cNvSpPr/>
          <p:nvPr/>
        </p:nvSpPr>
        <p:spPr>
          <a:xfrm>
            <a:off x="8266176" y="1691640"/>
            <a:ext cx="3218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311896" y="2423160"/>
            <a:ext cx="3127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  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lopsidedness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8311896" y="3081528"/>
            <a:ext cx="3127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Kurtosis  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tail heaviness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8311896" y="3739896"/>
            <a:ext cx="3127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Quantiles  </a:t>
            </a:r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25 / 50 / 75%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548640" y="4663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df.describe() gives most of these at once — pair the numbers with the histogram to interpret them.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U9 · EDA &amp; Statistical Analysis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wav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SHAPE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Distributions &amp; skew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572768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(normal)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828800"/>
          <a:ext cx="3584448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3657600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≈ median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4315968" y="1572768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Right-skew (tail right)</a:t>
            </a:r>
            <a:endParaRPr lang="en-US" sz="12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4315968" y="1828800"/>
          <a:ext cx="3584448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 6"/>
          <p:cNvSpPr/>
          <p:nvPr/>
        </p:nvSpPr>
        <p:spPr>
          <a:xfrm>
            <a:off x="4315968" y="3657600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&gt; median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8083296" y="1572768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Left-skew (tail left)</a:t>
            </a:r>
            <a:endParaRPr lang="en-US" sz="1200" dirty="0"/>
          </a:p>
        </p:txBody>
      </p:sp>
      <p:graphicFrame>
        <p:nvGraphicFramePr>
          <p:cNvPr id="13" name="Chart 2" descr=""/>
          <p:cNvGraphicFramePr/>
          <p:nvPr/>
        </p:nvGraphicFramePr>
        <p:xfrm>
          <a:off x="8083296" y="1828800"/>
          <a:ext cx="3584448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8083296" y="3657600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&lt; median</a:t>
            </a:r>
            <a:endParaRPr lang="en-US" sz="1050" dirty="0"/>
          </a:p>
        </p:txBody>
      </p:sp>
      <p:sp>
        <p:nvSpPr>
          <p:cNvPr id="15" name="Shape 9"/>
          <p:cNvSpPr/>
          <p:nvPr/>
        </p:nvSpPr>
        <p:spPr>
          <a:xfrm>
            <a:off x="548640" y="4160520"/>
            <a:ext cx="11091672" cy="713232"/>
          </a:xfrm>
          <a:prstGeom prst="roundRect">
            <a:avLst>
              <a:gd name="adj" fmla="val 10256"/>
            </a:avLst>
          </a:prstGeom>
          <a:solidFill>
            <a:srgbClr val="F2F5F9"/>
          </a:solidFill>
          <a:ln/>
        </p:spPr>
      </p:sp>
      <p:sp>
        <p:nvSpPr>
          <p:cNvPr id="16" name="Text 10"/>
          <p:cNvSpPr/>
          <p:nvPr/>
        </p:nvSpPr>
        <p:spPr>
          <a:xfrm>
            <a:off x="822960" y="4160520"/>
            <a:ext cx="10515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skew matters:  </a:t>
            </a:r>
            <a:pPr algn="l"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skewed features can distort models — a log transform (U10) often fixes right-skew. Use median, not mean, for skewed data.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18" name="Shape 12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19" name="Image 1" descr="ic_flask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a column's distribution; decide whether it's skewed and which average to report.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U9 · EDA &amp; Statistical Analysis</a:t>
            </a:r>
            <a:endParaRPr lang="en-US" sz="950" dirty="0"/>
          </a:p>
        </p:txBody>
      </p:sp>
      <p:sp>
        <p:nvSpPr>
          <p:cNvPr id="22" name="Text 1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pi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CATEGORICAL VARIABLE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Counts &amp; bar charts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57276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how often each category appears</a:t>
            </a:r>
            <a:endParaRPr lang="en-US" sz="13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965960"/>
          <a:ext cx="54864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6281928" y="202996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5"/>
          <p:cNvSpPr/>
          <p:nvPr/>
        </p:nvSpPr>
        <p:spPr>
          <a:xfrm>
            <a:off x="6556248" y="192024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value_counts()  </a:t>
            </a:r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frequency of each category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281928" y="263347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7"/>
          <p:cNvSpPr/>
          <p:nvPr/>
        </p:nvSpPr>
        <p:spPr>
          <a:xfrm>
            <a:off x="6556248" y="2523744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class  </a:t>
            </a:r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is one category most rows?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281928" y="3236976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9"/>
          <p:cNvSpPr/>
          <p:nvPr/>
        </p:nvSpPr>
        <p:spPr>
          <a:xfrm>
            <a:off x="6556248" y="312724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categories  </a:t>
            </a:r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tiny groups to merge later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281928" y="3840480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5" name="Text 11"/>
          <p:cNvSpPr/>
          <p:nvPr/>
        </p:nvSpPr>
        <p:spPr>
          <a:xfrm>
            <a:off x="6556248" y="3730752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  </a:t>
            </a:r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red flag for classification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17" name="Shape 13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18" name="Image 1" descr="ic_flask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value_counts() and a bar chart to summarise a categorical column.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U9 · EDA &amp; Statistical Analysis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914400"/>
            <a:ext cx="2286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24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scatt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Bivariate &amp; multivariate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variables relate? The relationships here are what models actually learn.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Statistical Analysis · Phase C  ·  03 / 18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scatt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NUMERIC VARIABLES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Scatter plots &amp; correlation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57276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Scatter: does y rise with x?</a:t>
            </a:r>
            <a:endParaRPr lang="en-US" sz="13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965960"/>
          <a:ext cx="54864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6281928" y="202996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5"/>
          <p:cNvSpPr/>
          <p:nvPr/>
        </p:nvSpPr>
        <p:spPr>
          <a:xfrm>
            <a:off x="6556248" y="192024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r  </a:t>
            </a:r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−1 to +1: strength &amp; direction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281928" y="263347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7"/>
          <p:cNvSpPr/>
          <p:nvPr/>
        </p:nvSpPr>
        <p:spPr>
          <a:xfrm>
            <a:off x="6556248" y="2523744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 </a:t>
            </a:r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both rise together (r &gt; 0)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281928" y="3236976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9"/>
          <p:cNvSpPr/>
          <p:nvPr/>
        </p:nvSpPr>
        <p:spPr>
          <a:xfrm>
            <a:off x="6556248" y="312724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 </a:t>
            </a:r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one rises as other falls (r &lt; 0)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281928" y="3840480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5" name="Text 11"/>
          <p:cNvSpPr/>
          <p:nvPr/>
        </p:nvSpPr>
        <p:spPr>
          <a:xfrm>
            <a:off x="6556248" y="3730752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Beware  </a:t>
            </a:r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correlation ≠ causation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17" name="Shape 13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18" name="Image 1" descr="ic_flask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scatter plot of two numeric columns and compute their correlation.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U9 · EDA &amp; Statistical Analysis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sprea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ACROSS GROUPS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Box plots by category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57276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 numeric variable across categories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1463040" y="1828800"/>
            <a:ext cx="0" cy="1236269"/>
          </a:xfrm>
          <a:prstGeom prst="line">
            <a:avLst/>
          </a:prstGeom>
          <a:noFill/>
          <a:ln w="19050">
            <a:solidFill>
              <a:srgbClr val="16263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05840" y="2161642"/>
            <a:ext cx="914400" cy="523037"/>
          </a:xfrm>
          <a:prstGeom prst="rect">
            <a:avLst/>
          </a:prstGeom>
          <a:solidFill>
            <a:srgbClr val="2D6A9F">
              <a:alpha val="65000"/>
            </a:srgbClr>
          </a:solidFill>
          <a:ln w="19050">
            <a:solidFill>
              <a:srgbClr val="16263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05840" y="2446934"/>
            <a:ext cx="914400" cy="0"/>
          </a:xfrm>
          <a:prstGeom prst="line">
            <a:avLst/>
          </a:prstGeom>
          <a:noFill/>
          <a:ln w="38100">
            <a:solidFill>
              <a:srgbClr val="2D6A9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61872" y="3065069"/>
            <a:ext cx="402336" cy="0"/>
          </a:xfrm>
          <a:prstGeom prst="line">
            <a:avLst/>
          </a:prstGeom>
          <a:noFill/>
          <a:ln w="19050">
            <a:solidFill>
              <a:srgbClr val="16263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261872" y="1828800"/>
            <a:ext cx="402336" cy="0"/>
          </a:xfrm>
          <a:prstGeom prst="line">
            <a:avLst/>
          </a:prstGeom>
          <a:noFill/>
          <a:ln w="19050">
            <a:solidFill>
              <a:srgbClr val="16263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4343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0" y="1258214"/>
            <a:ext cx="0" cy="1426464"/>
          </a:xfrm>
          <a:prstGeom prst="line">
            <a:avLst/>
          </a:prstGeom>
          <a:noFill/>
          <a:ln w="19050">
            <a:solidFill>
              <a:srgbClr val="16263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114800" y="1686154"/>
            <a:ext cx="914400" cy="618134"/>
          </a:xfrm>
          <a:prstGeom prst="rect">
            <a:avLst/>
          </a:prstGeom>
          <a:solidFill>
            <a:srgbClr val="3AAFA9">
              <a:alpha val="65000"/>
            </a:srgbClr>
          </a:solidFill>
          <a:ln w="19050">
            <a:solidFill>
              <a:srgbClr val="16263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114800" y="2018995"/>
            <a:ext cx="914400" cy="0"/>
          </a:xfrm>
          <a:prstGeom prst="line">
            <a:avLst/>
          </a:prstGeom>
          <a:noFill/>
          <a:ln w="38100">
            <a:solidFill>
              <a:srgbClr val="3AAFA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370832" y="2684678"/>
            <a:ext cx="402336" cy="0"/>
          </a:xfrm>
          <a:prstGeom prst="line">
            <a:avLst/>
          </a:prstGeom>
          <a:noFill/>
          <a:ln w="19050">
            <a:solidFill>
              <a:srgbClr val="16263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370832" y="1258214"/>
            <a:ext cx="402336" cy="0"/>
          </a:xfrm>
          <a:prstGeom prst="line">
            <a:avLst/>
          </a:prstGeom>
          <a:noFill/>
          <a:ln w="19050">
            <a:solidFill>
              <a:srgbClr val="16263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931920" y="4343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680960" y="2114093"/>
            <a:ext cx="0" cy="1236269"/>
          </a:xfrm>
          <a:prstGeom prst="line">
            <a:avLst/>
          </a:prstGeom>
          <a:noFill/>
          <a:ln w="19050">
            <a:solidFill>
              <a:srgbClr val="16263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223760" y="2494483"/>
            <a:ext cx="914400" cy="523037"/>
          </a:xfrm>
          <a:prstGeom prst="rect">
            <a:avLst/>
          </a:prstGeom>
          <a:solidFill>
            <a:srgbClr val="F4B942">
              <a:alpha val="65000"/>
            </a:srgbClr>
          </a:solidFill>
          <a:ln w="19050">
            <a:solidFill>
              <a:srgbClr val="16263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223760" y="2779776"/>
            <a:ext cx="914400" cy="0"/>
          </a:xfrm>
          <a:prstGeom prst="line">
            <a:avLst/>
          </a:prstGeom>
          <a:noFill/>
          <a:ln w="38100">
            <a:solidFill>
              <a:srgbClr val="9A6B12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479792" y="3350362"/>
            <a:ext cx="402336" cy="0"/>
          </a:xfrm>
          <a:prstGeom prst="line">
            <a:avLst/>
          </a:prstGeom>
          <a:noFill/>
          <a:ln w="19050">
            <a:solidFill>
              <a:srgbClr val="16263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479792" y="2114093"/>
            <a:ext cx="402336" cy="0"/>
          </a:xfrm>
          <a:prstGeom prst="line">
            <a:avLst/>
          </a:prstGeom>
          <a:noFill/>
          <a:ln w="19050">
            <a:solidFill>
              <a:srgbClr val="16263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040880" y="4343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48640" y="46177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box = middle 50% (IQR); the line = median; whiskers = range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27" name="Shape 24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8" name="Image 1" descr="ic_flas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box plots of a numeric variable grouped by a category; compare the medians.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U9 · EDA &amp; Statistical Analysis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thgri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VARIABLES AT ONCE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Correlation analysis &amp; the heatmap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2011680" y="1783080"/>
            <a:ext cx="621792" cy="621792"/>
          </a:xfrm>
          <a:prstGeom prst="rect">
            <a:avLst/>
          </a:prstGeom>
          <a:solidFill>
            <a:srgbClr val="F4B9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011680" y="178308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670048" y="1783080"/>
            <a:ext cx="621792" cy="621792"/>
          </a:xfrm>
          <a:prstGeom prst="rect">
            <a:avLst/>
          </a:prstGeom>
          <a:solidFill>
            <a:srgbClr val="F2EFE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670048" y="178308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328416" y="1783080"/>
            <a:ext cx="621792" cy="621792"/>
          </a:xfrm>
          <a:prstGeom prst="rect">
            <a:avLst/>
          </a:prstGeom>
          <a:solidFill>
            <a:srgbClr val="AFC6D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328416" y="178308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-0.34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986784" y="1783080"/>
            <a:ext cx="621792" cy="621792"/>
          </a:xfrm>
          <a:prstGeom prst="rect">
            <a:avLst/>
          </a:prstGeom>
          <a:solidFill>
            <a:srgbClr val="C5D5E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986784" y="178308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-0.23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645152" y="1783080"/>
            <a:ext cx="621792" cy="621792"/>
          </a:xfrm>
          <a:prstGeom prst="rect">
            <a:avLst/>
          </a:prstGeom>
          <a:solidFill>
            <a:srgbClr val="E2EA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45152" y="178308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-0.08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2011680" y="2441448"/>
            <a:ext cx="621792" cy="621792"/>
          </a:xfrm>
          <a:prstGeom prst="rect">
            <a:avLst/>
          </a:prstGeom>
          <a:solidFill>
            <a:srgbClr val="F2EFE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011680" y="244144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2670048" y="2441448"/>
            <a:ext cx="621792" cy="621792"/>
          </a:xfrm>
          <a:prstGeom prst="rect">
            <a:avLst/>
          </a:prstGeom>
          <a:solidFill>
            <a:srgbClr val="F4B9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670048" y="244144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3328416" y="2441448"/>
            <a:ext cx="621792" cy="621792"/>
          </a:xfrm>
          <a:prstGeom prst="rect">
            <a:avLst/>
          </a:prstGeom>
          <a:solidFill>
            <a:srgbClr val="86A9C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328416" y="244144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-0.55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3986784" y="2441448"/>
            <a:ext cx="621792" cy="621792"/>
          </a:xfrm>
          <a:prstGeom prst="rect">
            <a:avLst/>
          </a:prstGeom>
          <a:solidFill>
            <a:srgbClr val="F2EB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986784" y="244144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0.16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4645152" y="2441448"/>
            <a:ext cx="621792" cy="621792"/>
          </a:xfrm>
          <a:prstGeom prst="rect">
            <a:avLst/>
          </a:prstGeom>
          <a:solidFill>
            <a:srgbClr val="F3E5C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645152" y="244144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0.26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2011680" y="3099816"/>
            <a:ext cx="621792" cy="621792"/>
          </a:xfrm>
          <a:prstGeom prst="rect">
            <a:avLst/>
          </a:prstGeom>
          <a:solidFill>
            <a:srgbClr val="AFC6D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011680" y="309981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-0.34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2670048" y="3099816"/>
            <a:ext cx="621792" cy="621792"/>
          </a:xfrm>
          <a:prstGeom prst="rect">
            <a:avLst/>
          </a:prstGeom>
          <a:solidFill>
            <a:srgbClr val="86A9C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670048" y="309981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-0.55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3328416" y="3099816"/>
            <a:ext cx="621792" cy="621792"/>
          </a:xfrm>
          <a:prstGeom prst="rect">
            <a:avLst/>
          </a:prstGeom>
          <a:solidFill>
            <a:srgbClr val="F4B9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328416" y="309981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3986784" y="3099816"/>
            <a:ext cx="621792" cy="621792"/>
          </a:xfrm>
          <a:prstGeom prst="rect">
            <a:avLst/>
          </a:prstGeom>
          <a:solidFill>
            <a:srgbClr val="F2F0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986784" y="309981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4645152" y="3099816"/>
            <a:ext cx="621792" cy="621792"/>
          </a:xfrm>
          <a:prstGeom prst="rect">
            <a:avLst/>
          </a:prstGeom>
          <a:solidFill>
            <a:srgbClr val="AFC6D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645152" y="309981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-0.34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2011680" y="3758184"/>
            <a:ext cx="621792" cy="621792"/>
          </a:xfrm>
          <a:prstGeom prst="rect">
            <a:avLst/>
          </a:prstGeom>
          <a:solidFill>
            <a:srgbClr val="C5D5E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2011680" y="375818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-0.23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2670048" y="3758184"/>
            <a:ext cx="621792" cy="621792"/>
          </a:xfrm>
          <a:prstGeom prst="rect">
            <a:avLst/>
          </a:prstGeom>
          <a:solidFill>
            <a:srgbClr val="F2EB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2670048" y="375818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0.16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3328416" y="3758184"/>
            <a:ext cx="621792" cy="621792"/>
          </a:xfrm>
          <a:prstGeom prst="rect">
            <a:avLst/>
          </a:prstGeom>
          <a:solidFill>
            <a:srgbClr val="F2F0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3328416" y="375818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3986784" y="3758184"/>
            <a:ext cx="621792" cy="621792"/>
          </a:xfrm>
          <a:prstGeom prst="rect">
            <a:avLst/>
          </a:prstGeom>
          <a:solidFill>
            <a:srgbClr val="F4B9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3986784" y="375818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4645152" y="3758184"/>
            <a:ext cx="621792" cy="621792"/>
          </a:xfrm>
          <a:prstGeom prst="rect">
            <a:avLst/>
          </a:prstGeom>
          <a:solidFill>
            <a:srgbClr val="EAEF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645152" y="375818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-0.04</a:t>
            </a:r>
            <a:endParaRPr lang="en-US" sz="850" dirty="0"/>
          </a:p>
        </p:txBody>
      </p:sp>
      <p:sp>
        <p:nvSpPr>
          <p:cNvPr id="46" name="Shape 43"/>
          <p:cNvSpPr/>
          <p:nvPr/>
        </p:nvSpPr>
        <p:spPr>
          <a:xfrm>
            <a:off x="2011680" y="4416552"/>
            <a:ext cx="621792" cy="621792"/>
          </a:xfrm>
          <a:prstGeom prst="rect">
            <a:avLst/>
          </a:prstGeom>
          <a:solidFill>
            <a:srgbClr val="E2EA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2011680" y="441655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-0.08</a:t>
            </a:r>
            <a:endParaRPr lang="en-US" sz="850" dirty="0"/>
          </a:p>
        </p:txBody>
      </p:sp>
      <p:sp>
        <p:nvSpPr>
          <p:cNvPr id="48" name="Shape 45"/>
          <p:cNvSpPr/>
          <p:nvPr/>
        </p:nvSpPr>
        <p:spPr>
          <a:xfrm>
            <a:off x="2670048" y="4416552"/>
            <a:ext cx="621792" cy="621792"/>
          </a:xfrm>
          <a:prstGeom prst="rect">
            <a:avLst/>
          </a:prstGeom>
          <a:solidFill>
            <a:srgbClr val="F3E5C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2670048" y="441655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0.26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3328416" y="4416552"/>
            <a:ext cx="621792" cy="621792"/>
          </a:xfrm>
          <a:prstGeom prst="rect">
            <a:avLst/>
          </a:prstGeom>
          <a:solidFill>
            <a:srgbClr val="AFC6D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3328416" y="441655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-0.34</a:t>
            </a:r>
            <a:endParaRPr lang="en-US" sz="850" dirty="0"/>
          </a:p>
        </p:txBody>
      </p:sp>
      <p:sp>
        <p:nvSpPr>
          <p:cNvPr id="52" name="Shape 49"/>
          <p:cNvSpPr/>
          <p:nvPr/>
        </p:nvSpPr>
        <p:spPr>
          <a:xfrm>
            <a:off x="3986784" y="4416552"/>
            <a:ext cx="621792" cy="621792"/>
          </a:xfrm>
          <a:prstGeom prst="rect">
            <a:avLst/>
          </a:prstGeom>
          <a:solidFill>
            <a:srgbClr val="EAEF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3986784" y="441655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-0.04</a:t>
            </a:r>
            <a:endParaRPr lang="en-US" sz="850" dirty="0"/>
          </a:p>
        </p:txBody>
      </p:sp>
      <p:sp>
        <p:nvSpPr>
          <p:cNvPr id="54" name="Shape 51"/>
          <p:cNvSpPr/>
          <p:nvPr/>
        </p:nvSpPr>
        <p:spPr>
          <a:xfrm>
            <a:off x="4645152" y="4416552"/>
            <a:ext cx="621792" cy="621792"/>
          </a:xfrm>
          <a:prstGeom prst="rect">
            <a:avLst/>
          </a:prstGeom>
          <a:solidFill>
            <a:srgbClr val="F4B9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4645152" y="441655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850" dirty="0"/>
          </a:p>
        </p:txBody>
      </p:sp>
      <p:sp>
        <p:nvSpPr>
          <p:cNvPr id="56" name="Text 53"/>
          <p:cNvSpPr/>
          <p:nvPr/>
        </p:nvSpPr>
        <p:spPr>
          <a:xfrm>
            <a:off x="2011680" y="149047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900" dirty="0"/>
          </a:p>
        </p:txBody>
      </p:sp>
      <p:sp>
        <p:nvSpPr>
          <p:cNvPr id="57" name="Text 54"/>
          <p:cNvSpPr/>
          <p:nvPr/>
        </p:nvSpPr>
        <p:spPr>
          <a:xfrm>
            <a:off x="1051560" y="178308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900" dirty="0"/>
          </a:p>
        </p:txBody>
      </p:sp>
      <p:sp>
        <p:nvSpPr>
          <p:cNvPr id="58" name="Text 55"/>
          <p:cNvSpPr/>
          <p:nvPr/>
        </p:nvSpPr>
        <p:spPr>
          <a:xfrm>
            <a:off x="2670048" y="149047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1051560" y="2441448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</a:t>
            </a:r>
            <a:endParaRPr lang="en-US" sz="900" dirty="0"/>
          </a:p>
        </p:txBody>
      </p:sp>
      <p:sp>
        <p:nvSpPr>
          <p:cNvPr id="60" name="Text 57"/>
          <p:cNvSpPr/>
          <p:nvPr/>
        </p:nvSpPr>
        <p:spPr>
          <a:xfrm>
            <a:off x="3328416" y="149047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900" dirty="0"/>
          </a:p>
        </p:txBody>
      </p:sp>
      <p:sp>
        <p:nvSpPr>
          <p:cNvPr id="61" name="Text 58"/>
          <p:cNvSpPr/>
          <p:nvPr/>
        </p:nvSpPr>
        <p:spPr>
          <a:xfrm>
            <a:off x="1051560" y="3099816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900" dirty="0"/>
          </a:p>
        </p:txBody>
      </p:sp>
      <p:sp>
        <p:nvSpPr>
          <p:cNvPr id="62" name="Text 59"/>
          <p:cNvSpPr/>
          <p:nvPr/>
        </p:nvSpPr>
        <p:spPr>
          <a:xfrm>
            <a:off x="3986784" y="149047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sibsp</a:t>
            </a:r>
            <a:endParaRPr lang="en-US" sz="900" dirty="0"/>
          </a:p>
        </p:txBody>
      </p:sp>
      <p:sp>
        <p:nvSpPr>
          <p:cNvPr id="63" name="Text 60"/>
          <p:cNvSpPr/>
          <p:nvPr/>
        </p:nvSpPr>
        <p:spPr>
          <a:xfrm>
            <a:off x="1051560" y="3758184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sibsp</a:t>
            </a:r>
            <a:endParaRPr lang="en-US" sz="900" dirty="0"/>
          </a:p>
        </p:txBody>
      </p:sp>
      <p:sp>
        <p:nvSpPr>
          <p:cNvPr id="64" name="Text 61"/>
          <p:cNvSpPr/>
          <p:nvPr/>
        </p:nvSpPr>
        <p:spPr>
          <a:xfrm>
            <a:off x="4645152" y="149047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survived</a:t>
            </a:r>
            <a:endParaRPr lang="en-US" sz="900" dirty="0"/>
          </a:p>
        </p:txBody>
      </p:sp>
      <p:sp>
        <p:nvSpPr>
          <p:cNvPr id="65" name="Text 62"/>
          <p:cNvSpPr/>
          <p:nvPr/>
        </p:nvSpPr>
        <p:spPr>
          <a:xfrm>
            <a:off x="1051560" y="4416552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survived</a:t>
            </a:r>
            <a:endParaRPr lang="en-US" sz="900" dirty="0"/>
          </a:p>
        </p:txBody>
      </p:sp>
      <p:sp>
        <p:nvSpPr>
          <p:cNvPr id="66" name="Shape 63"/>
          <p:cNvSpPr/>
          <p:nvPr/>
        </p:nvSpPr>
        <p:spPr>
          <a:xfrm>
            <a:off x="5961888" y="202996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67" name="Text 64"/>
          <p:cNvSpPr/>
          <p:nvPr/>
        </p:nvSpPr>
        <p:spPr>
          <a:xfrm>
            <a:off x="6236208" y="19202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 </a:t>
            </a:r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dark = strong; blue −, gold +</a:t>
            </a:r>
            <a:endParaRPr lang="en-US" sz="1250" dirty="0"/>
          </a:p>
        </p:txBody>
      </p:sp>
      <p:sp>
        <p:nvSpPr>
          <p:cNvPr id="68" name="Shape 65"/>
          <p:cNvSpPr/>
          <p:nvPr/>
        </p:nvSpPr>
        <p:spPr>
          <a:xfrm>
            <a:off x="5961888" y="267004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69" name="Text 66"/>
          <p:cNvSpPr/>
          <p:nvPr/>
        </p:nvSpPr>
        <p:spPr>
          <a:xfrm>
            <a:off x="6236208" y="25603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drivers  </a:t>
            </a:r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what correlates with the target</a:t>
            </a:r>
            <a:endParaRPr lang="en-US" sz="1250" dirty="0"/>
          </a:p>
        </p:txBody>
      </p:sp>
      <p:sp>
        <p:nvSpPr>
          <p:cNvPr id="70" name="Shape 67"/>
          <p:cNvSpPr/>
          <p:nvPr/>
        </p:nvSpPr>
        <p:spPr>
          <a:xfrm>
            <a:off x="5961888" y="33101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1" name="Text 68"/>
          <p:cNvSpPr/>
          <p:nvPr/>
        </p:nvSpPr>
        <p:spPr>
          <a:xfrm>
            <a:off x="6236208" y="32004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Multicollinearity  </a:t>
            </a:r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highly-correlated feature pairs</a:t>
            </a:r>
            <a:endParaRPr lang="en-US" sz="1250" dirty="0"/>
          </a:p>
        </p:txBody>
      </p:sp>
      <p:sp>
        <p:nvSpPr>
          <p:cNvPr id="72" name="Shape 69"/>
          <p:cNvSpPr/>
          <p:nvPr/>
        </p:nvSpPr>
        <p:spPr>
          <a:xfrm>
            <a:off x="5961888" y="395020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3" name="Text 70"/>
          <p:cNvSpPr/>
          <p:nvPr/>
        </p:nvSpPr>
        <p:spPr>
          <a:xfrm>
            <a:off x="6236208" y="38404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.corr()  </a:t>
            </a:r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one call builds the matrix</a:t>
            </a:r>
            <a:endParaRPr lang="en-US" sz="1250" dirty="0"/>
          </a:p>
        </p:txBody>
      </p:sp>
      <p:sp>
        <p:nvSpPr>
          <p:cNvPr id="74" name="Shape 71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75" name="Shape 72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76" name="Image 1" descr="ic_flas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77" name="Text 73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correlation heatmap; identify the strongest driver of the target.</a:t>
            </a:r>
            <a:endParaRPr lang="en-US" sz="1100" dirty="0"/>
          </a:p>
        </p:txBody>
      </p:sp>
      <p:sp>
        <p:nvSpPr>
          <p:cNvPr id="78" name="Text 7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U9 · EDA &amp; Statistical Analysis</a:t>
            </a:r>
            <a:endParaRPr lang="en-US" sz="950" dirty="0"/>
          </a:p>
        </p:txBody>
      </p:sp>
      <p:sp>
        <p:nvSpPr>
          <p:cNvPr id="79" name="Text 7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lay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&amp; SUMMARISE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Grouping &amp; aggregation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099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  </a:t>
            </a:r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split rows into groups by a category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66928" y="2459736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5000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 </a:t>
            </a:r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mean, count, sum per group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66928" y="320954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099816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pivot_table  </a:t>
            </a:r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summarise across two dimensions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66928" y="395935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849624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Reveals patterns  </a:t>
            </a:r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differences hidden in the overall average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126480" y="1664208"/>
            <a:ext cx="5513832" cy="2743200"/>
          </a:xfrm>
          <a:prstGeom prst="roundRect">
            <a:avLst>
              <a:gd name="adj" fmla="val 2000"/>
            </a:avLst>
          </a:prstGeom>
          <a:solidFill>
            <a:srgbClr val="0E1B2E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272784" y="1810512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6" name="Shape 13"/>
          <p:cNvSpPr/>
          <p:nvPr/>
        </p:nvSpPr>
        <p:spPr>
          <a:xfrm>
            <a:off x="6419088" y="1810512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7" name="Shape 14"/>
          <p:cNvSpPr/>
          <p:nvPr/>
        </p:nvSpPr>
        <p:spPr>
          <a:xfrm>
            <a:off x="6565392" y="1810512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8" name="Text 15"/>
          <p:cNvSpPr/>
          <p:nvPr/>
        </p:nvSpPr>
        <p:spPr>
          <a:xfrm>
            <a:off x="6766560" y="1737360"/>
            <a:ext cx="4690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FA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groupby.py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327648" y="2048256"/>
            <a:ext cx="5111496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survival rate by passenger class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df.groupby('class')['survived'].mean()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two-way summary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df.pivot_table(values='survived',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index='class', columns='sex',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aggfunc='mean')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21" name="Shape 18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2" name="Image 1" descr="ic_flas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groupby to compare an outcome across categories; build one pivot table.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548640" y="5870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views often expose the real story — and suggest the features worth engineering.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U9 · EDA &amp; Statistical Analysis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war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WATCH FOR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EDA red flags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2615184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1472184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wav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064" y="2221992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8368" y="2898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94944" y="3209544"/>
            <a:ext cx="2322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lopsided distributions distort many models — consider transforms</a:t>
            </a:r>
            <a:endParaRPr lang="en-US" sz="1030" dirty="0"/>
          </a:p>
        </p:txBody>
      </p:sp>
      <p:sp>
        <p:nvSpPr>
          <p:cNvPr id="11" name="Shape 7"/>
          <p:cNvSpPr/>
          <p:nvPr/>
        </p:nvSpPr>
        <p:spPr>
          <a:xfrm>
            <a:off x="3346704" y="1783080"/>
            <a:ext cx="2615184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</p:spPr>
      </p:sp>
      <p:sp>
        <p:nvSpPr>
          <p:cNvPr id="12" name="Shape 8"/>
          <p:cNvSpPr/>
          <p:nvPr/>
        </p:nvSpPr>
        <p:spPr>
          <a:xfrm>
            <a:off x="4270248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3" name="Image 2" descr="ic_war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2221992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56432" y="2898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3493008" y="3209544"/>
            <a:ext cx="2322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values can dominate; decide keep / cap / remove</a:t>
            </a:r>
            <a:endParaRPr lang="en-US" sz="1030" dirty="0"/>
          </a:p>
        </p:txBody>
      </p:sp>
      <p:sp>
        <p:nvSpPr>
          <p:cNvPr id="16" name="Shape 11"/>
          <p:cNvSpPr/>
          <p:nvPr/>
        </p:nvSpPr>
        <p:spPr>
          <a:xfrm>
            <a:off x="6144768" y="1783080"/>
            <a:ext cx="2615184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</p:spPr>
      </p:sp>
      <p:sp>
        <p:nvSpPr>
          <p:cNvPr id="17" name="Shape 12"/>
          <p:cNvSpPr/>
          <p:nvPr/>
        </p:nvSpPr>
        <p:spPr>
          <a:xfrm>
            <a:off x="7068312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8" name="Image 3" descr="ic_pi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2" y="2221992"/>
            <a:ext cx="402336" cy="40233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54496" y="2898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6291072" y="3209544"/>
            <a:ext cx="2322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target class hurts classifiers — resample or reweight</a:t>
            </a:r>
            <a:endParaRPr lang="en-US" sz="1030" dirty="0"/>
          </a:p>
        </p:txBody>
      </p:sp>
      <p:sp>
        <p:nvSpPr>
          <p:cNvPr id="21" name="Shape 15"/>
          <p:cNvSpPr/>
          <p:nvPr/>
        </p:nvSpPr>
        <p:spPr>
          <a:xfrm>
            <a:off x="8942832" y="1783080"/>
            <a:ext cx="2615184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</p:spPr>
      </p:sp>
      <p:sp>
        <p:nvSpPr>
          <p:cNvPr id="22" name="Shape 16"/>
          <p:cNvSpPr/>
          <p:nvPr/>
        </p:nvSpPr>
        <p:spPr>
          <a:xfrm>
            <a:off x="9866376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3" name="Image 4" descr="ic_lin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9256" y="2221992"/>
            <a:ext cx="402336" cy="40233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052560" y="2898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&amp; collinearity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9089136" y="3209544"/>
            <a:ext cx="2322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hints in features; redundant correlated pairs</a:t>
            </a:r>
            <a:endParaRPr lang="en-US" sz="1030" dirty="0"/>
          </a:p>
        </p:txBody>
      </p:sp>
      <p:sp>
        <p:nvSpPr>
          <p:cNvPr id="26" name="Shape 19"/>
          <p:cNvSpPr/>
          <p:nvPr/>
        </p:nvSpPr>
        <p:spPr>
          <a:xfrm>
            <a:off x="548640" y="4343400"/>
            <a:ext cx="11091672" cy="548640"/>
          </a:xfrm>
          <a:prstGeom prst="roundRect">
            <a:avLst>
              <a:gd name="adj" fmla="val 13333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7" name="Text 20"/>
          <p:cNvSpPr/>
          <p:nvPr/>
        </p:nvSpPr>
        <p:spPr>
          <a:xfrm>
            <a:off x="822960" y="43434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EDA's real payoff:  </a:t>
            </a:r>
            <a:pPr algn="l" indent="0" marL="0">
              <a:buNone/>
            </a:pPr>
            <a:r>
              <a:rPr lang="en-US" sz="13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catching these before modelling saves you from misleading results later.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29" name="Shape 22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30" name="Image 5" descr="ic_flask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real dataset, find one example each of skew, an outlier, and class imbalance.</a:t>
            </a:r>
            <a:endParaRPr lang="en-US" sz="1100" dirty="0"/>
          </a:p>
        </p:txBody>
      </p:sp>
      <p:sp>
        <p:nvSpPr>
          <p:cNvPr id="32" name="Text 2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U9 · EDA &amp; Statistical Analysis</a:t>
            </a:r>
            <a:endParaRPr lang="en-US" sz="950" dirty="0"/>
          </a:p>
        </p:txBody>
      </p:sp>
      <p:sp>
        <p:nvSpPr>
          <p:cNvPr id="33" name="Text 2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bul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Recap, homework &amp; what comes next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3657600" cy="3383280"/>
          </a:xfrm>
          <a:prstGeom prst="roundRect">
            <a:avLst>
              <a:gd name="adj" fmla="val 2162"/>
            </a:avLst>
          </a:prstGeom>
          <a:solidFill>
            <a:srgbClr val="F2F5F9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181051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49808" y="2212848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= understand data before modelling</a:t>
            </a:r>
            <a:endParaRPr lang="en-US" sz="120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overview → univariate → bivariate</a:t>
            </a:r>
            <a:endParaRPr lang="en-US" sz="120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Histograms, bars, scatters, box plots</a:t>
            </a:r>
            <a:endParaRPr lang="en-US" sz="120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heatmaps find drivers</a:t>
            </a:r>
            <a:endParaRPr lang="en-US" sz="120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skew, outliers, imbalance, leakage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70832" y="1645920"/>
            <a:ext cx="3657600" cy="3383280"/>
          </a:xfrm>
          <a:prstGeom prst="roundRect">
            <a:avLst>
              <a:gd name="adj" fmla="val 2162"/>
            </a:avLst>
          </a:prstGeom>
          <a:solidFill>
            <a:srgbClr val="FBF1D8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0" y="181051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20" kern="0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/ SELF-PACED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0" y="2212848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a dataset (shape, types, missing)</a:t>
            </a:r>
            <a:endParaRPr lang="en-US" sz="115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univariate histograms &amp; bar charts</a:t>
            </a:r>
            <a:endParaRPr lang="en-US" sz="115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+ correlation for two numerics</a:t>
            </a:r>
            <a:endParaRPr lang="en-US" sz="115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correlation heatmap</a:t>
            </a:r>
            <a:endParaRPr lang="en-US" sz="115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skew, an outlier &amp; class imbalance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193024" y="1645920"/>
            <a:ext cx="3447288" cy="3383280"/>
          </a:xfrm>
          <a:prstGeom prst="roundRect">
            <a:avLst>
              <a:gd name="adj" fmla="val 216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394192" y="181051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 — PHASE C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394192" y="2331720"/>
            <a:ext cx="457200" cy="45720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5" name="Text 12"/>
          <p:cNvSpPr/>
          <p:nvPr/>
        </p:nvSpPr>
        <p:spPr>
          <a:xfrm>
            <a:off x="8394192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U10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979408" y="22860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— turn insights into better features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394192" y="3383280"/>
            <a:ext cx="457200" cy="45720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8" name="Text 15"/>
          <p:cNvSpPr/>
          <p:nvPr/>
        </p:nvSpPr>
        <p:spPr>
          <a:xfrm>
            <a:off x="8394192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8979408" y="333756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findings drive what you engineer next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48640" y="5285232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F2F5F9"/>
          </a:solidFill>
          <a:ln/>
        </p:spPr>
      </p:sp>
      <p:sp>
        <p:nvSpPr>
          <p:cNvPr id="21" name="Shape 18"/>
          <p:cNvSpPr/>
          <p:nvPr/>
        </p:nvSpPr>
        <p:spPr>
          <a:xfrm>
            <a:off x="777240" y="5458968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2" name="Image 1" descr="ic_binoc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5568696"/>
            <a:ext cx="292608" cy="29260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463040" y="5285232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 </a:t>
            </a:r>
            <a:pPr algn="l"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is where you build intuition for the data. Every plot you make now is a feature or a fix you'll use later.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U9 · EDA &amp; Statistical Analysis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AI/ML Training</dc:creator>
  <cp:lastModifiedBy>AI/ML Training</cp:lastModifiedBy>
  <cp:revision>1</cp:revision>
  <dcterms:created xsi:type="dcterms:W3CDTF">2026-06-10T16:38:57Z</dcterms:created>
  <dcterms:modified xsi:type="dcterms:W3CDTF">2026-06-10T16:38:57Z</dcterms:modified>
</cp:coreProperties>
</file>