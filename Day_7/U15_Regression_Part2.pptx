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6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7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8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9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</c:v>
                </c:pt>
              </c:strCache>
            </c:strRef>
          </c:tx>
          <c:spPr>
            <a:solidFill>
              <a:srgbClr val="2E8B57"/>
            </a:solidFill>
            <a:ln>
              <a:noFill/>
            </a:ln>
            <a:effectLst/>
          </c:spPr>
          <c:marker>
            <c:symbol val="circle"/>
            <c:size val="5"/>
            <c:spPr>
              <a:solidFill>
                <a:srgbClr val="2E8B57"/>
              </a:solidFill>
              <a:ln w="9525" cap="flat">
                <a:solidFill>
                  <a:srgbClr val="2E8B57"/>
                </a:solidFill>
                <a:prstDash val="solid"/>
                <a:round/>
              </a:ln>
              <a:effectLst/>
            </c:spPr>
          </c:marker>
          <c:xVal>
            <c:numRef>
              <c:f>Sheet1!$A$2:$A$23</c:f>
              <c:numCache>
                <c:formatCode>General</c:formatCode>
                <c:ptCount val="22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</c:numCache>
            </c:numRef>
          </c:xVal>
          <c:yVal>
            <c:numRef>
              <c:f>Sheet1!$B$2:$B$23</c:f>
              <c:numCache>
                <c:formatCode>General</c:formatCode>
                <c:ptCount val="22"/>
                <c:pt idx="0">
                  <c:v>0</c:v>
                </c:pt>
                <c:pt idx="1">
                  <c:v>0.924367347622452</c:v>
                </c:pt>
                <c:pt idx="2">
                  <c:v>0.9952813994483906</c:v>
                </c:pt>
                <c:pt idx="3">
                  <c:v>-0.4198295220127104</c:v>
                </c:pt>
                <c:pt idx="4">
                  <c:v>-0.8124554994662125</c:v>
                </c:pt>
                <c:pt idx="5">
                  <c:v>-1.0245855950242713</c:v>
                </c:pt>
                <c:pt idx="6">
                  <c:v>0.8238744859127508</c:v>
                </c:pt>
                <c:pt idx="7">
                  <c:v>0.6619649453558637</c:v>
                </c:pt>
                <c:pt idx="8">
                  <c:v>1.0134258662283537</c:v>
                </c:pt>
                <c:pt idx="9">
                  <c:v>-1.1969609587247325</c:v>
                </c:pt>
                <c:pt idx="10">
                  <c:v>-0.47709153714921243</c:v>
                </c:pt>
                <c:pt idx="11">
                  <c:v>-0.9645822380897375</c:v>
                </c:pt>
                <c:pt idx="12">
                  <c:v>1.5251120281098438</c:v>
                </c:pt>
                <c:pt idx="13">
                  <c:v>0.263697334363154</c:v>
                </c:pt>
                <c:pt idx="14">
                  <c:v>0.8822777239916203</c:v>
                </c:pt>
                <c:pt idx="15">
                  <c:v>-1.7960867209277027</c:v>
                </c:pt>
                <c:pt idx="16">
                  <c:v>-0.029122371402235038</c:v>
                </c:pt>
                <c:pt idx="17">
                  <c:v>-0.7719304726281053</c:v>
                </c:pt>
                <c:pt idx="18">
                  <c:v>1.9998501217102556</c:v>
                </c:pt>
                <c:pt idx="19">
                  <c:v>-0.2180751110654963</c:v>
                </c:pt>
                <c:pt idx="20">
                  <c:v>0.6398619082597655</c:v>
                </c:pt>
                <c:pt idx="21">
                  <c:v>-2.12895615449609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ax val="6"/>
          <c:min val="-6"/>
        </c:scaling>
        <c:delete val="1"/>
        <c:axPos val="l"/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2F5F9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</c:v>
                </c:pt>
              </c:strCache>
            </c:strRef>
          </c:tx>
          <c:spPr>
            <a:solidFill>
              <a:srgbClr val="2D6A9F"/>
            </a:solidFill>
            <a:ln>
              <a:noFill/>
            </a:ln>
            <a:effectLst/>
          </c:spPr>
          <c:marker>
            <c:symbol val="circle"/>
            <c:size val="5"/>
            <c:spPr>
              <a:solidFill>
                <a:srgbClr val="2D6A9F"/>
              </a:solidFill>
              <a:ln w="9525" cap="flat">
                <a:solidFill>
                  <a:srgbClr val="2D6A9F"/>
                </a:solidFill>
                <a:prstDash val="solid"/>
                <a:round/>
              </a:ln>
              <a:effectLst/>
            </c:spPr>
          </c:marker>
          <c:xVal>
            <c:numRef>
              <c:f>Sheet1!$A$2:$A$23</c:f>
              <c:numCache>
                <c:formatCode>General</c:formatCode>
                <c:ptCount val="22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</c:numCache>
            </c:numRef>
          </c:xVal>
          <c:yVal>
            <c:numRef>
              <c:f>Sheet1!$B$2:$B$23</c:f>
              <c:numCache>
                <c:formatCode>General</c:formatCode>
                <c:ptCount val="22"/>
                <c:pt idx="0">
                  <c:v>0</c:v>
                </c:pt>
                <c:pt idx="1">
                  <c:v>0.7161931306743387</c:v>
                </c:pt>
                <c:pt idx="2">
                  <c:v>1.3671218565815175</c:v>
                </c:pt>
                <c:pt idx="3">
                  <c:v>1.8934691108262176</c:v>
                </c:pt>
                <c:pt idx="4">
                  <c:v>2.2472705402502835</c:v>
                </c:pt>
                <c:pt idx="5">
                  <c:v>2.3962853445609347</c:v>
                </c:pt>
                <c:pt idx="6">
                  <c:v>2.3269342780375766</c:v>
                </c:pt>
                <c:pt idx="7">
                  <c:v>2.0455370830552204</c:v>
                </c:pt>
                <c:pt idx="8">
                  <c:v>1.577736592038661</c:v>
                </c:pt>
                <c:pt idx="9">
                  <c:v>0.9661619776067907</c:v>
                </c:pt>
                <c:pt idx="10">
                  <c:v>0.2665440914979113</c:v>
                </c:pt>
                <c:pt idx="11">
                  <c:v>-0.4573631109011649</c:v>
                </c:pt>
                <c:pt idx="12">
                  <c:v>-1.1395922659733757</c:v>
                </c:pt>
                <c:pt idx="13">
                  <c:v>-1.7179739981500564</c:v>
                </c:pt>
                <c:pt idx="14">
                  <c:v>-2.1398022176043363</c:v>
                </c:pt>
                <c:pt idx="15">
                  <c:v>-2.3666370587782315</c:v>
                </c:pt>
                <c:pt idx="16">
                  <c:v>-2.377807783213625</c:v>
                </c:pt>
                <c:pt idx="17">
                  <c:v>-2.1722964382803283</c:v>
                </c:pt>
                <c:pt idx="18">
                  <c:v>-1.7688306199653907</c:v>
                </c:pt>
                <c:pt idx="19">
                  <c:v>-1.204176886545387</c:v>
                </c:pt>
                <c:pt idx="20">
                  <c:v>-0.529790338932152</c:v>
                </c:pt>
                <c:pt idx="21">
                  <c:v>0.19287431920867829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ax val="6"/>
          <c:min val="-6"/>
        </c:scaling>
        <c:delete val="1"/>
        <c:axPos val="l"/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2F5F9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</c:v>
                </c:pt>
              </c:strCache>
            </c:strRef>
          </c:tx>
          <c:spPr>
            <a:solidFill>
              <a:srgbClr val="2D6A9F"/>
            </a:solidFill>
            <a:ln>
              <a:noFill/>
            </a:ln>
            <a:effectLst/>
          </c:spPr>
          <c:marker>
            <c:symbol val="circle"/>
            <c:size val="5"/>
            <c:spPr>
              <a:solidFill>
                <a:srgbClr val="2D6A9F"/>
              </a:solidFill>
              <a:ln w="9525" cap="flat">
                <a:solidFill>
                  <a:srgbClr val="2D6A9F"/>
                </a:solidFill>
                <a:prstDash val="solid"/>
                <a:round/>
              </a:ln>
              <a:effectLst/>
            </c:spPr>
          </c:marker>
          <c:xVal>
            <c:numRef>
              <c:f>Sheet1!$A$2:$A$23</c:f>
              <c:numCache>
                <c:formatCode>General</c:formatCode>
                <c:ptCount val="22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</c:numCache>
            </c:numRef>
          </c:xVal>
          <c:yVal>
            <c:numRef>
              <c:f>Sheet1!$B$2:$B$23</c:f>
              <c:numCache>
                <c:formatCode>General</c:formatCode>
                <c:ptCount val="22"/>
                <c:pt idx="0">
                  <c:v>0</c:v>
                </c:pt>
                <c:pt idx="1">
                  <c:v>-0.41996776817692233</c:v>
                </c:pt>
                <c:pt idx="2">
                  <c:v>0.013378729744813194</c:v>
                </c:pt>
                <c:pt idx="3">
                  <c:v>0.6595441965736256</c:v>
                </c:pt>
                <c:pt idx="4">
                  <c:v>-0.03863779988512659</c:v>
                </c:pt>
                <c:pt idx="5">
                  <c:v>-0.8982738251814566</c:v>
                </c:pt>
                <c:pt idx="6">
                  <c:v>0.07575075449604493</c:v>
                </c:pt>
                <c:pt idx="7">
                  <c:v>1.1357157987805444</c:v>
                </c:pt>
                <c:pt idx="8">
                  <c:v>-0.12467656851336482</c:v>
                </c:pt>
                <c:pt idx="9">
                  <c:v>-1.3714305046219544</c:v>
                </c:pt>
                <c:pt idx="10">
                  <c:v>0.185359684117836</c:v>
                </c:pt>
                <c:pt idx="11">
                  <c:v>1.604980022708058</c:v>
                </c:pt>
                <c:pt idx="12">
                  <c:v>-0.25773006051103503</c:v>
                </c:pt>
                <c:pt idx="13">
                  <c:v>-1.835928574645499</c:v>
                </c:pt>
                <c:pt idx="14">
                  <c:v>0.3417032370427199</c:v>
                </c:pt>
                <c:pt idx="15">
                  <c:v>2.0638429706846546</c:v>
                </c:pt>
                <c:pt idx="16">
                  <c:v>-0.4371804096382981</c:v>
                </c:pt>
                <c:pt idx="17">
                  <c:v>-2.2882930545609836</c:v>
                </c:pt>
                <c:pt idx="18">
                  <c:v>0.5440485204648997</c:v>
                </c:pt>
                <c:pt idx="19">
                  <c:v>2.5088521457552795</c:v>
                </c:pt>
                <c:pt idx="20">
                  <c:v>-0.6621803607626666</c:v>
                </c:pt>
                <c:pt idx="21">
                  <c:v>-2.7250974787920392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ax val="6"/>
          <c:min val="-6"/>
        </c:scaling>
        <c:delete val="1"/>
        <c:axPos val="l"/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2F5F9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</c:v>
                </c:pt>
              </c:strCache>
            </c:strRef>
          </c:tx>
          <c:spPr>
            <a:solidFill>
              <a:srgbClr val="2D6A9F"/>
            </a:solidFill>
            <a:ln>
              <a:noFill/>
            </a:ln>
            <a:effectLst/>
          </c:spPr>
          <c:marker>
            <c:symbol val="circle"/>
            <c:size val="5"/>
            <c:spPr>
              <a:solidFill>
                <a:srgbClr val="2D6A9F"/>
              </a:solidFill>
              <a:ln w="9525" cap="flat">
                <a:solidFill>
                  <a:srgbClr val="2D6A9F"/>
                </a:solidFill>
                <a:prstDash val="solid"/>
                <a:round/>
              </a:ln>
              <a:effectLst/>
            </c:spPr>
          </c:marker>
          <c:xVal>
            <c:numRef>
              <c:f>Sheet1!$A$2:$A$23</c:f>
              <c:numCache>
                <c:formatCode>General</c:formatCode>
                <c:ptCount val="22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</c:numCache>
            </c:numRef>
          </c:xVal>
          <c:yVal>
            <c:numRef>
              <c:f>Sheet1!$B$2:$B$23</c:f>
              <c:numCache>
                <c:formatCode>General</c:formatCode>
                <c:ptCount val="22"/>
                <c:pt idx="0">
                  <c:v>0</c:v>
                </c:pt>
                <c:pt idx="1">
                  <c:v>-1.2961405552588254</c:v>
                </c:pt>
                <c:pt idx="2">
                  <c:v>-0.9798245626309592</c:v>
                </c:pt>
                <c:pt idx="3">
                  <c:v>0.5554368023828591</c:v>
                </c:pt>
                <c:pt idx="4">
                  <c:v>1.3997100601997368</c:v>
                </c:pt>
                <c:pt idx="5">
                  <c:v>0.5026816956310356</c:v>
                </c:pt>
                <c:pt idx="6">
                  <c:v>-1.0197050749642342</c:v>
                </c:pt>
                <c:pt idx="7">
                  <c:v>5.5</c:v>
                </c:pt>
                <c:pt idx="8">
                  <c:v>0.0569705602898108</c:v>
                </c:pt>
                <c:pt idx="9">
                  <c:v>1.3166005481258083</c:v>
                </c:pt>
                <c:pt idx="10">
                  <c:v>0.9383208461807245</c:v>
                </c:pt>
                <c:pt idx="11">
                  <c:v>-0.6072717573659665</c:v>
                </c:pt>
                <c:pt idx="12">
                  <c:v>-1.3973912623057845</c:v>
                </c:pt>
                <c:pt idx="13">
                  <c:v>-0.44909383266040304</c:v>
                </c:pt>
                <c:pt idx="14">
                  <c:v>1.0578963160351895</c:v>
                </c:pt>
                <c:pt idx="15">
                  <c:v>-5</c:v>
                </c:pt>
                <c:pt idx="16">
                  <c:v>-0.11384674159430629</c:v>
                </c:pt>
                <c:pt idx="17">
                  <c:v>-1.3348794245852051</c:v>
                </c:pt>
                <c:pt idx="18">
                  <c:v>-0.8952626818031314</c:v>
                </c:pt>
                <c:pt idx="19">
                  <c:v>0.6581006893789746</c:v>
                </c:pt>
                <c:pt idx="20">
                  <c:v>1.3927575079017689</c:v>
                </c:pt>
                <c:pt idx="21">
                  <c:v>0.39476198858756184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ax val="6"/>
          <c:min val="-6"/>
        </c:scaling>
        <c:delete val="1"/>
        <c:axPos val="l"/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2F5F9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</c:v>
                </c:pt>
              </c:strCache>
            </c:strRef>
          </c:tx>
          <c:spPr>
            <a:solidFill>
              <a:srgbClr val="2D6A9F"/>
            </a:solidFill>
            <a:ln>
              <a:noFill/>
            </a:ln>
            <a:effectLst/>
          </c:spPr>
          <c:marker>
            <c:symbol val="circle"/>
            <c:size val="6"/>
            <c:spPr>
              <a:solidFill>
                <a:srgbClr val="2D6A9F"/>
              </a:solidFill>
              <a:ln w="9525" cap="flat">
                <a:solidFill>
                  <a:srgbClr val="2D6A9F"/>
                </a:solidFill>
                <a:prstDash val="solid"/>
                <a:round/>
              </a:ln>
              <a:effectLst/>
            </c:spPr>
          </c:marker>
          <c:xVal>
            <c:numRef>
              <c:f>Sheet1!$A$2:$A$26</c:f>
              <c:numCache>
                <c:formatCode>General</c:formatCode>
                <c:ptCount val="25"/>
                <c:pt idx="0">
                  <c:v>-3</c:v>
                </c:pt>
                <c:pt idx="1">
                  <c:v>-2.75</c:v>
                </c:pt>
                <c:pt idx="2">
                  <c:v>-2.5</c:v>
                </c:pt>
                <c:pt idx="3">
                  <c:v>-2.25</c:v>
                </c:pt>
                <c:pt idx="4">
                  <c:v>-2</c:v>
                </c:pt>
                <c:pt idx="5">
                  <c:v>-1.75</c:v>
                </c:pt>
                <c:pt idx="6">
                  <c:v>-1.5</c:v>
                </c:pt>
                <c:pt idx="7">
                  <c:v>-1.25</c:v>
                </c:pt>
                <c:pt idx="8">
                  <c:v>-1</c:v>
                </c:pt>
                <c:pt idx="9">
                  <c:v>-0.75</c:v>
                </c:pt>
                <c:pt idx="10">
                  <c:v>-0.5</c:v>
                </c:pt>
                <c:pt idx="11">
                  <c:v>-0.25</c:v>
                </c:pt>
                <c:pt idx="12">
                  <c:v>0</c:v>
                </c:pt>
                <c:pt idx="13">
                  <c:v>0.25</c:v>
                </c:pt>
                <c:pt idx="14">
                  <c:v>0.5</c:v>
                </c:pt>
                <c:pt idx="15">
                  <c:v>0.75</c:v>
                </c:pt>
                <c:pt idx="16">
                  <c:v>1</c:v>
                </c:pt>
                <c:pt idx="17">
                  <c:v>1.25</c:v>
                </c:pt>
                <c:pt idx="18">
                  <c:v>1.5</c:v>
                </c:pt>
                <c:pt idx="19">
                  <c:v>1.75</c:v>
                </c:pt>
                <c:pt idx="20">
                  <c:v>2</c:v>
                </c:pt>
                <c:pt idx="21">
                  <c:v>2.25</c:v>
                </c:pt>
                <c:pt idx="22">
                  <c:v>2.5</c:v>
                </c:pt>
                <c:pt idx="23">
                  <c:v>2.75</c:v>
                </c:pt>
                <c:pt idx="24">
                  <c:v>3</c:v>
                </c:pt>
              </c:numCache>
            </c:numRef>
          </c:xVal>
          <c:yVal>
            <c:numRef>
              <c:f>Sheet1!$B$2:$B$26</c:f>
              <c:numCache>
                <c:formatCode>General</c:formatCode>
                <c:ptCount val="25"/>
                <c:pt idx="0">
                  <c:v>-3.8</c:v>
                </c:pt>
                <c:pt idx="1">
                  <c:v>-3.4237793522788156</c:v>
                </c:pt>
                <c:pt idx="2">
                  <c:v>-3.1636053859761475</c:v>
                </c:pt>
                <c:pt idx="3">
                  <c:v>-3.02883199879102</c:v>
                </c:pt>
                <c:pt idx="4">
                  <c:v>-2.113520374296189</c:v>
                </c:pt>
                <c:pt idx="5">
                  <c:v>-1.8938386411994708</c:v>
                </c:pt>
                <c:pt idx="6">
                  <c:v>-1.541912324729839</c:v>
                </c:pt>
                <c:pt idx="7">
                  <c:v>-1.1514520101921817</c:v>
                </c:pt>
                <c:pt idx="8">
                  <c:v>-0.8515962630064927</c:v>
                </c:pt>
                <c:pt idx="9">
                  <c:v>-0.6881822272137366</c:v>
                </c:pt>
                <c:pt idx="10">
                  <c:v>-0.5816031666334055</c:v>
                </c:pt>
                <c:pt idx="11">
                  <c:v>-0.3999985309826055</c:v>
                </c:pt>
                <c:pt idx="12">
                  <c:v>-0.08048593770006524</c:v>
                </c:pt>
                <c:pt idx="13">
                  <c:v>0.3130250555239961</c:v>
                </c:pt>
                <c:pt idx="14">
                  <c:v>0.6485911033542305</c:v>
                </c:pt>
                <c:pt idx="15">
                  <c:v>0.8475431760235675</c:v>
                </c:pt>
                <c:pt idx="16">
                  <c:v>0.9568145025002402</c:v>
                </c:pt>
                <c:pt idx="17">
                  <c:v>1.1057903762180665</c:v>
                </c:pt>
                <c:pt idx="18">
                  <c:v>1.3873519129842486</c:v>
                </c:pt>
                <c:pt idx="19">
                  <c:v>1.7724815814494428</c:v>
                </c:pt>
                <c:pt idx="20">
                  <c:v>2.1369417876091443</c:v>
                </c:pt>
                <c:pt idx="21">
                  <c:v>3.175498345780408</c:v>
                </c:pt>
                <c:pt idx="22">
                  <c:v>3.2986723036064394</c:v>
                </c:pt>
                <c:pt idx="23">
                  <c:v>3.423066939373724</c:v>
                </c:pt>
                <c:pt idx="24">
                  <c:v>3.6641632456990063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2F5F9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</c:v>
                </c:pt>
              </c:strCache>
            </c:strRef>
          </c:tx>
          <c:spPr>
            <a:solidFill>
              <a:srgbClr val="2D6A9F"/>
            </a:solidFill>
            <a:ln>
              <a:noFill/>
            </a:ln>
            <a:effectLst/>
          </c:spPr>
          <c:marker>
            <c:symbol val="circle"/>
            <c:size val="6"/>
            <c:spPr>
              <a:solidFill>
                <a:srgbClr val="2D6A9F"/>
              </a:solidFill>
              <a:ln w="9525" cap="flat">
                <a:solidFill>
                  <a:srgbClr val="2D6A9F"/>
                </a:solidFill>
                <a:prstDash val="solid"/>
                <a:round/>
              </a:ln>
              <a:effectLst/>
            </c:spPr>
          </c:marker>
          <c:xVal>
            <c:numRef>
              <c:f>Sheet1!$A$2:$A$26</c:f>
              <c:numCache>
                <c:formatCode>General</c:formatCode>
                <c:ptCount val="25"/>
                <c:pt idx="0">
                  <c:v>1</c:v>
                </c:pt>
                <c:pt idx="1">
                  <c:v>1.3478260869565217</c:v>
                </c:pt>
                <c:pt idx="2">
                  <c:v>1.6956521739130435</c:v>
                </c:pt>
                <c:pt idx="3">
                  <c:v>2.0434782608695654</c:v>
                </c:pt>
                <c:pt idx="4">
                  <c:v>2.391304347826087</c:v>
                </c:pt>
                <c:pt idx="5">
                  <c:v>2.7391304347826084</c:v>
                </c:pt>
                <c:pt idx="6">
                  <c:v>3.0869565217391304</c:v>
                </c:pt>
                <c:pt idx="7">
                  <c:v>3.4347826086956523</c:v>
                </c:pt>
                <c:pt idx="8">
                  <c:v>3.782608695652174</c:v>
                </c:pt>
                <c:pt idx="9">
                  <c:v>4.130434782608695</c:v>
                </c:pt>
                <c:pt idx="10">
                  <c:v>4.478260869565217</c:v>
                </c:pt>
                <c:pt idx="11">
                  <c:v>4.826086956521739</c:v>
                </c:pt>
                <c:pt idx="12">
                  <c:v>5.173913043478261</c:v>
                </c:pt>
                <c:pt idx="13">
                  <c:v>5.521739130434782</c:v>
                </c:pt>
                <c:pt idx="14">
                  <c:v>5.869565217391305</c:v>
                </c:pt>
                <c:pt idx="15">
                  <c:v>6.217391304347826</c:v>
                </c:pt>
                <c:pt idx="16">
                  <c:v>6.565217391304348</c:v>
                </c:pt>
                <c:pt idx="17">
                  <c:v>6.913043478260869</c:v>
                </c:pt>
                <c:pt idx="18">
                  <c:v>7.260869565217392</c:v>
                </c:pt>
                <c:pt idx="19">
                  <c:v>7.608695652173913</c:v>
                </c:pt>
                <c:pt idx="20">
                  <c:v>7.956521739130435</c:v>
                </c:pt>
                <c:pt idx="21">
                  <c:v>8.304347826086957</c:v>
                </c:pt>
                <c:pt idx="22">
                  <c:v>8.652173913043478</c:v>
                </c:pt>
                <c:pt idx="23">
                  <c:v>9</c:v>
                </c:pt>
                <c:pt idx="24">
                  <c:v>8.5</c:v>
                </c:pt>
              </c:numCache>
            </c:numRef>
          </c:xVal>
          <c:yVal>
            <c:numRef>
              <c:f>Sheet1!$B$2:$B$26</c:f>
              <c:numCache>
                <c:formatCode>General</c:formatCode>
                <c:ptCount val="25"/>
                <c:pt idx="0">
                  <c:v>2.3</c:v>
                </c:pt>
                <c:pt idx="1">
                  <c:v>3.0831434604499552</c:v>
                </c:pt>
                <c:pt idx="2">
                  <c:v>3.402100195225844</c:v>
                </c:pt>
                <c:pt idx="3">
                  <c:v>3.219454613531573</c:v>
                </c:pt>
                <c:pt idx="4">
                  <c:v>2.9589619810761127</c:v>
                </c:pt>
                <c:pt idx="5">
                  <c:v>3.1159497830282037</c:v>
                </c:pt>
                <c:pt idx="6">
                  <c:v>3.801915918471949</c:v>
                </c:pt>
                <c:pt idx="7">
                  <c:v>4.642018046187795</c:v>
                </c:pt>
                <c:pt idx="8">
                  <c:v>5.119701904495768</c:v>
                </c:pt>
                <c:pt idx="9">
                  <c:v>5.051618917232011</c:v>
                </c:pt>
                <c:pt idx="10">
                  <c:v>4.756196029118552</c:v>
                </c:pt>
                <c:pt idx="11">
                  <c:v>4.76087544128697</c:v>
                </c:pt>
                <c:pt idx="12">
                  <c:v>5.317186683982348</c:v>
                </c:pt>
                <c:pt idx="13">
                  <c:v>6.169491526443811</c:v>
                </c:pt>
                <c:pt idx="14">
                  <c:v>6.790016587329966</c:v>
                </c:pt>
                <c:pt idx="15">
                  <c:v>6.864085747572531</c:v>
                </c:pt>
                <c:pt idx="16">
                  <c:v>6.579431923044439</c:v>
                </c:pt>
                <c:pt idx="17">
                  <c:v>6.453596287480962</c:v>
                </c:pt>
                <c:pt idx="18">
                  <c:v>6.858103304110908</c:v>
                </c:pt>
                <c:pt idx="19">
                  <c:v>7.676882847536902</c:v>
                </c:pt>
                <c:pt idx="20">
                  <c:v>8.412984541740926</c:v>
                </c:pt>
                <c:pt idx="21">
                  <c:v>8.6454716439912</c:v>
                </c:pt>
                <c:pt idx="22">
                  <c:v>8.416428344860542</c:v>
                </c:pt>
                <c:pt idx="23">
                  <c:v>8.192267757494896</c:v>
                </c:pt>
                <c:pt idx="24">
                  <c:v>16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2F5F9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cv</c:v>
                </c:pt>
              </c:strCache>
            </c:strRef>
          </c:tx>
          <c:spPr>
            <a:solidFill>
              <a:srgbClr val="3AAFA9"/>
            </a:solidFill>
            <a:ln w="38100" cap="flat">
              <a:solidFill>
                <a:srgbClr val="3AAFA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AAFA9"/>
              </a:solidFill>
              <a:ln w="9525" cap="flat">
                <a:solidFill>
                  <a:srgbClr val="3AAFA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Sheet1!$A$2:$A$20</c:f>
              <c:multiLvlStrCache>
                <c:ptCount val="19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</c:lvl>
              </c:multiLvlStrCache>
            </c:multiLvl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10.86</c:v>
                </c:pt>
                <c:pt idx="1">
                  <c:v>9.84</c:v>
                </c:pt>
                <c:pt idx="2">
                  <c:v>8.94</c:v>
                </c:pt>
                <c:pt idx="3">
                  <c:v>8.16</c:v>
                </c:pt>
                <c:pt idx="4">
                  <c:v>7.5</c:v>
                </c:pt>
                <c:pt idx="5">
                  <c:v>6.96</c:v>
                </c:pt>
                <c:pt idx="6">
                  <c:v>6.54</c:v>
                </c:pt>
                <c:pt idx="7">
                  <c:v>6.24</c:v>
                </c:pt>
                <c:pt idx="8">
                  <c:v>6.06</c:v>
                </c:pt>
                <c:pt idx="9">
                  <c:v>6</c:v>
                </c:pt>
                <c:pt idx="10">
                  <c:v>6.06</c:v>
                </c:pt>
                <c:pt idx="11">
                  <c:v>6.24</c:v>
                </c:pt>
                <c:pt idx="12">
                  <c:v>6.54</c:v>
                </c:pt>
                <c:pt idx="13">
                  <c:v>6.96</c:v>
                </c:pt>
                <c:pt idx="14">
                  <c:v>7.5</c:v>
                </c:pt>
                <c:pt idx="15">
                  <c:v>8.16</c:v>
                </c:pt>
                <c:pt idx="16">
                  <c:v>8.94</c:v>
                </c:pt>
                <c:pt idx="17">
                  <c:v>9.84</c:v>
                </c:pt>
                <c:pt idx="18">
                  <c:v>10.86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F5F9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</c:v>
                </c:pt>
              </c:strCache>
            </c:strRef>
          </c:tx>
          <c:spPr>
            <a:solidFill>
              <a:srgbClr val="3AAFA9"/>
            </a:solidFill>
            <a:ln w="38100" cap="flat">
              <a:solidFill>
                <a:srgbClr val="3AAFA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AAFA9"/>
              </a:solidFill>
              <a:ln w="9525" cap="flat">
                <a:solidFill>
                  <a:srgbClr val="3AAFA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Sheet1!$A$2:$A$42</c:f>
              <c:multiLvlStrCache>
                <c:ptCount val="41"/>
                <c:lvl>
                  <c:pt idx="0">
                    <c:v>0</c:v>
                  </c:pt>
                  <c:pt idx="1">
                    <c:v>0.25</c:v>
                  </c:pt>
                  <c:pt idx="2">
                    <c:v>0.5</c:v>
                  </c:pt>
                  <c:pt idx="3">
                    <c:v>0.75</c:v>
                  </c:pt>
                  <c:pt idx="4">
                    <c:v>1</c:v>
                  </c:pt>
                  <c:pt idx="5">
                    <c:v>1.25</c:v>
                  </c:pt>
                  <c:pt idx="6">
                    <c:v>1.5</c:v>
                  </c:pt>
                  <c:pt idx="7">
                    <c:v>1.75</c:v>
                  </c:pt>
                  <c:pt idx="8">
                    <c:v>2</c:v>
                  </c:pt>
                  <c:pt idx="9">
                    <c:v>2.25</c:v>
                  </c:pt>
                  <c:pt idx="10">
                    <c:v>2.5</c:v>
                  </c:pt>
                  <c:pt idx="11">
                    <c:v>2.75</c:v>
                  </c:pt>
                  <c:pt idx="12">
                    <c:v>3</c:v>
                  </c:pt>
                  <c:pt idx="13">
                    <c:v>3.25</c:v>
                  </c:pt>
                  <c:pt idx="14">
                    <c:v>3.5</c:v>
                  </c:pt>
                  <c:pt idx="15">
                    <c:v>3.75</c:v>
                  </c:pt>
                  <c:pt idx="16">
                    <c:v>4</c:v>
                  </c:pt>
                  <c:pt idx="17">
                    <c:v>4.25</c:v>
                  </c:pt>
                  <c:pt idx="18">
                    <c:v>4.5</c:v>
                  </c:pt>
                  <c:pt idx="19">
                    <c:v>4.75</c:v>
                  </c:pt>
                  <c:pt idx="20">
                    <c:v>5</c:v>
                  </c:pt>
                  <c:pt idx="21">
                    <c:v>5.25</c:v>
                  </c:pt>
                  <c:pt idx="22">
                    <c:v>5.5</c:v>
                  </c:pt>
                  <c:pt idx="23">
                    <c:v>5.75</c:v>
                  </c:pt>
                  <c:pt idx="24">
                    <c:v>6</c:v>
                  </c:pt>
                  <c:pt idx="25">
                    <c:v>6.25</c:v>
                  </c:pt>
                  <c:pt idx="26">
                    <c:v>6.5</c:v>
                  </c:pt>
                  <c:pt idx="27">
                    <c:v>6.75</c:v>
                  </c:pt>
                  <c:pt idx="28">
                    <c:v>7</c:v>
                  </c:pt>
                  <c:pt idx="29">
                    <c:v>7.25</c:v>
                  </c:pt>
                  <c:pt idx="30">
                    <c:v>7.5</c:v>
                  </c:pt>
                  <c:pt idx="31">
                    <c:v>7.75</c:v>
                  </c:pt>
                  <c:pt idx="32">
                    <c:v>8</c:v>
                  </c:pt>
                  <c:pt idx="33">
                    <c:v>8.25</c:v>
                  </c:pt>
                  <c:pt idx="34">
                    <c:v>8.5</c:v>
                  </c:pt>
                  <c:pt idx="35">
                    <c:v>8.75</c:v>
                  </c:pt>
                  <c:pt idx="36">
                    <c:v>9</c:v>
                  </c:pt>
                  <c:pt idx="37">
                    <c:v>9.25</c:v>
                  </c:pt>
                  <c:pt idx="38">
                    <c:v>9.5</c:v>
                  </c:pt>
                  <c:pt idx="39">
                    <c:v>9.75</c:v>
                  </c:pt>
                  <c:pt idx="40">
                    <c:v>10</c:v>
                  </c:pt>
                </c:lvl>
              </c:multiLvlStrCache>
            </c:multiLvlStrRef>
          </c:cat>
          <c:val>
            <c:numRef>
              <c:f>Sheet1!$B$2:$B$42</c:f>
              <c:numCache>
                <c:formatCode>General</c:formatCode>
                <c:ptCount val="41"/>
                <c:pt idx="0">
                  <c:v>2.9</c:v>
                </c:pt>
                <c:pt idx="1">
                  <c:v>2.9</c:v>
                </c:pt>
                <c:pt idx="2">
                  <c:v>2.9</c:v>
                </c:pt>
                <c:pt idx="3">
                  <c:v>2.9</c:v>
                </c:pt>
                <c:pt idx="4">
                  <c:v>2.9</c:v>
                </c:pt>
                <c:pt idx="5">
                  <c:v>2.9</c:v>
                </c:pt>
                <c:pt idx="6">
                  <c:v>2.9</c:v>
                </c:pt>
                <c:pt idx="7">
                  <c:v>2.9</c:v>
                </c:pt>
                <c:pt idx="8">
                  <c:v>4.7</c:v>
                </c:pt>
                <c:pt idx="9">
                  <c:v>4.7</c:v>
                </c:pt>
                <c:pt idx="10">
                  <c:v>4.7</c:v>
                </c:pt>
                <c:pt idx="11">
                  <c:v>4.7</c:v>
                </c:pt>
                <c:pt idx="12">
                  <c:v>4.7</c:v>
                </c:pt>
                <c:pt idx="13">
                  <c:v>4.7</c:v>
                </c:pt>
                <c:pt idx="14">
                  <c:v>4.7</c:v>
                </c:pt>
                <c:pt idx="15">
                  <c:v>4.7</c:v>
                </c:pt>
                <c:pt idx="16">
                  <c:v>6.5</c:v>
                </c:pt>
                <c:pt idx="17">
                  <c:v>6.5</c:v>
                </c:pt>
                <c:pt idx="18">
                  <c:v>6.5</c:v>
                </c:pt>
                <c:pt idx="19">
                  <c:v>6.5</c:v>
                </c:pt>
                <c:pt idx="20">
                  <c:v>6.5</c:v>
                </c:pt>
                <c:pt idx="21">
                  <c:v>6.5</c:v>
                </c:pt>
                <c:pt idx="22">
                  <c:v>6.5</c:v>
                </c:pt>
                <c:pt idx="23">
                  <c:v>6.5</c:v>
                </c:pt>
                <c:pt idx="24">
                  <c:v>8.3</c:v>
                </c:pt>
                <c:pt idx="25">
                  <c:v>8.3</c:v>
                </c:pt>
                <c:pt idx="26">
                  <c:v>8.3</c:v>
                </c:pt>
                <c:pt idx="27">
                  <c:v>8.3</c:v>
                </c:pt>
                <c:pt idx="28">
                  <c:v>8.3</c:v>
                </c:pt>
                <c:pt idx="29">
                  <c:v>8.3</c:v>
                </c:pt>
                <c:pt idx="30">
                  <c:v>8.3</c:v>
                </c:pt>
                <c:pt idx="31">
                  <c:v>8.3</c:v>
                </c:pt>
                <c:pt idx="32">
                  <c:v>10.1</c:v>
                </c:pt>
                <c:pt idx="33">
                  <c:v>10.1</c:v>
                </c:pt>
                <c:pt idx="34">
                  <c:v>10.1</c:v>
                </c:pt>
                <c:pt idx="35">
                  <c:v>10.1</c:v>
                </c:pt>
                <c:pt idx="36">
                  <c:v>10.1</c:v>
                </c:pt>
                <c:pt idx="37">
                  <c:v>10.1</c:v>
                </c:pt>
                <c:pt idx="38">
                  <c:v>10.1</c:v>
                </c:pt>
                <c:pt idx="39">
                  <c:v>10.1</c:v>
                </c:pt>
                <c:pt idx="40">
                  <c:v>11.9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F5F9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</c:v>
                </c:pt>
              </c:strCache>
            </c:strRef>
          </c:tx>
          <c:spPr>
            <a:solidFill>
              <a:srgbClr val="3AAFA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power</c:v>
                  </c:pt>
                  <c:pt idx="1">
                    <c:v>machining</c:v>
                  </c:pt>
                  <c:pt idx="2">
                    <c:v>material</c:v>
                  </c:pt>
                  <c:pt idx="3">
                    <c:v>tolerance</c:v>
                  </c:pt>
                  <c:pt idx="4">
                    <c:v>region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0.41</c:v>
                </c:pt>
                <c:pt idx="1">
                  <c:v>0.24</c:v>
                </c:pt>
                <c:pt idx="2">
                  <c:v>0.18</c:v>
                </c:pt>
                <c:pt idx="3">
                  <c:v>0.11</c:v>
                </c:pt>
                <c:pt idx="4">
                  <c:v>0.06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F5F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3" Type="http://schemas.openxmlformats.org/officeDocument/2006/relationships/chart" Target="/ppt/charts/chart2.xml"/><Relationship Id="rId4" Type="http://schemas.openxmlformats.org/officeDocument/2006/relationships/chart" Target="/ppt/charts/chart3.xml"/><Relationship Id="rId5" Type="http://schemas.openxmlformats.org/officeDocument/2006/relationships/chart" Target="/ppt/charts/chart4.xml"/><Relationship Id="rId1" Type="http://schemas.openxmlformats.org/officeDocument/2006/relationships/image" Target="../media/image-5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5.xml"/><Relationship Id="rId1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6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7.xml"/><Relationship Id="rId1" Type="http://schemas.openxmlformats.org/officeDocument/2006/relationships/image" Target="../media/image-1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8.xml"/><Relationship Id="rId1" Type="http://schemas.openxmlformats.org/officeDocument/2006/relationships/image" Target="../media/image-14-1.png"/><Relationship Id="rId3" Type="http://schemas.openxmlformats.org/officeDocument/2006/relationships/image" Target="../media/image-14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2.png"/><Relationship Id="rId4" Type="http://schemas.openxmlformats.org/officeDocument/2006/relationships/image" Target="../media/image-16-2.png"/><Relationship Id="rId5" Type="http://schemas.openxmlformats.org/officeDocument/2006/relationships/image" Target="../media/image-16-2.png"/><Relationship Id="rId6" Type="http://schemas.openxmlformats.org/officeDocument/2006/relationships/image" Target="../media/image-16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9.xml"/><Relationship Id="rId1" Type="http://schemas.openxmlformats.org/officeDocument/2006/relationships/image" Target="../media/image-1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3.png"/><Relationship Id="rId6" Type="http://schemas.openxmlformats.org/officeDocument/2006/relationships/image" Target="../media/image-20-6.png"/><Relationship Id="rId7" Type="http://schemas.openxmlformats.org/officeDocument/2006/relationships/image" Target="../media/image-20-3.png"/><Relationship Id="rId8" Type="http://schemas.openxmlformats.org/officeDocument/2006/relationships/image" Target="../media/image-20-8.png"/><Relationship Id="rId9" Type="http://schemas.openxmlformats.org/officeDocument/2006/relationships/image" Target="../media/image-20-3.png"/><Relationship Id="rId10" Type="http://schemas.openxmlformats.org/officeDocument/2006/relationships/image" Target="../media/image-20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320000">
            <a:off x="8686800" y="-1097280"/>
            <a:ext cx="5486400" cy="5486400"/>
          </a:xfrm>
          <a:prstGeom prst="roundRect">
            <a:avLst>
              <a:gd name="adj" fmla="val 3333"/>
            </a:avLst>
          </a:prstGeom>
          <a:solidFill>
            <a:srgbClr val="2D6A9F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320000">
            <a:off x="9509760" y="2377440"/>
            <a:ext cx="5486400" cy="5486400"/>
          </a:xfrm>
          <a:prstGeom prst="roundRect">
            <a:avLst>
              <a:gd name="adj" fmla="val 3333"/>
            </a:avLst>
          </a:prstGeom>
          <a:solidFill>
            <a:srgbClr val="3AAFA9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868680"/>
            <a:ext cx="914400" cy="91440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5" name="Image 0" descr="ic_trend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0972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2011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TRAINING  ·  DAY 7  ·  PHASE D — MODELLING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2432304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Regression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841248" y="3346704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4B94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Part 2 (finish) — </a:t>
            </a:r>
            <a:pPr algn="l" indent="0" marL="0">
              <a:buNone/>
            </a:pPr>
            <a:r>
              <a:rPr lang="en-US" sz="2200" dirty="0">
                <a:solidFill>
                  <a:srgbClr val="DCE7F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Diagnostics, Regularisation &amp; Beyond Linear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68680" y="4114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diagnostics · transforms · ElasticNet · tree-based regressors · tuning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68680" y="61264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E9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U15 (finish)  ·  Phase D  ·  22 slides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tren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From a working model to a great one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7276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</a:t>
            </a:r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interpreted linear regression. Part 2 makes it </a:t>
            </a:r>
            <a:pPr algn="l" indent="0" marL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and powerful</a:t>
            </a:r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diagnose what's wrong, fix it with transforms &amp; regularisation, and go beyond the straight line.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225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0" name="Image 1" descr="ic_wav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8176" y="3236976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4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40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58368" y="44805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residuals, normality, outliers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2834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511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6" name="Image 2" descr="ic_functio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4176" y="3236976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980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2926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2944368" y="44805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&amp; Box-Cox fixes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120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797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2" name="Image 3" descr="ic_weigh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176" y="3236976"/>
            <a:ext cx="402336" cy="40233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266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212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Regularise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230368" y="44805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/ Lasso / ElasticNet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7406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083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8" name="Image 4" descr="ic_tre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6176" y="3236976"/>
            <a:ext cx="402336" cy="40233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552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7498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nonlinear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7516368" y="44805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&amp; ensemble regressors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9692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10369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34" name="Image 5" descr="ic_search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52176" y="3236976"/>
            <a:ext cx="402336" cy="402336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9838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6" name="Text 28"/>
          <p:cNvSpPr/>
          <p:nvPr/>
        </p:nvSpPr>
        <p:spPr>
          <a:xfrm>
            <a:off x="9784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</a:t>
            </a:r>
            <a:endParaRPr lang="en-US" sz="1300" dirty="0"/>
          </a:p>
        </p:txBody>
      </p:sp>
      <p:sp>
        <p:nvSpPr>
          <p:cNvPr id="37" name="Text 29"/>
          <p:cNvSpPr/>
          <p:nvPr/>
        </p:nvSpPr>
        <p:spPr>
          <a:xfrm>
            <a:off x="9802368" y="44805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&amp; grid search</a:t>
            </a:r>
            <a:endParaRPr lang="en-US" sz="1000" dirty="0"/>
          </a:p>
        </p:txBody>
      </p:sp>
      <p:sp>
        <p:nvSpPr>
          <p:cNvPr id="38" name="Text 30"/>
          <p:cNvSpPr/>
          <p:nvPr/>
        </p:nvSpPr>
        <p:spPr>
          <a:xfrm>
            <a:off x="548640" y="53218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target (predict a number) — now with the craft that separates a demo from a deployable model.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U15 · Regression (finish)</a:t>
            </a:r>
            <a:endParaRPr lang="en-US" sz="950" dirty="0"/>
          </a:p>
        </p:txBody>
      </p:sp>
      <p:sp>
        <p:nvSpPr>
          <p:cNvPr id="40" name="Text 3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914400"/>
            <a:ext cx="2286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24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wav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&amp; IMPROVE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Reading what the model tells you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Residuals, normality and outliers reveal exactly how to make a linear model better.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· Part 2 · Phase D  ·  01 / 22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tren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PART 1 LEFT OFF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linear-regression toolkit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2615184" cy="2194560"/>
          </a:xfrm>
          <a:prstGeom prst="roundRect">
            <a:avLst>
              <a:gd name="adj" fmla="val 3750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1472184" y="206654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functio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064" y="2267712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8368" y="294436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94944" y="3255264"/>
            <a:ext cx="2322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 = w·x + b, fit by minimising MSE</a:t>
            </a:r>
            <a:endParaRPr lang="en-US" sz="1030" dirty="0"/>
          </a:p>
        </p:txBody>
      </p:sp>
      <p:sp>
        <p:nvSpPr>
          <p:cNvPr id="11" name="Shape 7"/>
          <p:cNvSpPr/>
          <p:nvPr/>
        </p:nvSpPr>
        <p:spPr>
          <a:xfrm>
            <a:off x="3346704" y="1828800"/>
            <a:ext cx="2615184" cy="2194560"/>
          </a:xfrm>
          <a:prstGeom prst="roundRect">
            <a:avLst>
              <a:gd name="adj" fmla="val 3750"/>
            </a:avLst>
          </a:prstGeom>
          <a:solidFill>
            <a:srgbClr val="F2F5F9"/>
          </a:solidFill>
          <a:ln/>
        </p:spPr>
      </p:sp>
      <p:sp>
        <p:nvSpPr>
          <p:cNvPr id="12" name="Shape 8"/>
          <p:cNvSpPr/>
          <p:nvPr/>
        </p:nvSpPr>
        <p:spPr>
          <a:xfrm>
            <a:off x="4270248" y="206654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3" name="Image 2" descr="ic_rule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2267712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56432" y="294436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3493008" y="3255264"/>
            <a:ext cx="2322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for error, R² for fit quality</a:t>
            </a:r>
            <a:endParaRPr lang="en-US" sz="1030" dirty="0"/>
          </a:p>
        </p:txBody>
      </p:sp>
      <p:sp>
        <p:nvSpPr>
          <p:cNvPr id="16" name="Shape 11"/>
          <p:cNvSpPr/>
          <p:nvPr/>
        </p:nvSpPr>
        <p:spPr>
          <a:xfrm>
            <a:off x="6144768" y="1828800"/>
            <a:ext cx="2615184" cy="2194560"/>
          </a:xfrm>
          <a:prstGeom prst="roundRect">
            <a:avLst>
              <a:gd name="adj" fmla="val 3750"/>
            </a:avLst>
          </a:prstGeom>
          <a:solidFill>
            <a:srgbClr val="F2F5F9"/>
          </a:solidFill>
          <a:ln/>
        </p:spPr>
      </p:sp>
      <p:sp>
        <p:nvSpPr>
          <p:cNvPr id="17" name="Shape 12"/>
          <p:cNvSpPr/>
          <p:nvPr/>
        </p:nvSpPr>
        <p:spPr>
          <a:xfrm>
            <a:off x="7068312" y="206654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8" name="Image 3" descr="ic_slider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2267712"/>
            <a:ext cx="402336" cy="40233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54496" y="294436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6291072" y="3255264"/>
            <a:ext cx="2322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coefficients = effect of each feature</a:t>
            </a:r>
            <a:endParaRPr lang="en-US" sz="1030" dirty="0"/>
          </a:p>
        </p:txBody>
      </p:sp>
      <p:sp>
        <p:nvSpPr>
          <p:cNvPr id="21" name="Shape 15"/>
          <p:cNvSpPr/>
          <p:nvPr/>
        </p:nvSpPr>
        <p:spPr>
          <a:xfrm>
            <a:off x="8942832" y="1828800"/>
            <a:ext cx="2615184" cy="2194560"/>
          </a:xfrm>
          <a:prstGeom prst="roundRect">
            <a:avLst>
              <a:gd name="adj" fmla="val 3750"/>
            </a:avLst>
          </a:prstGeom>
          <a:solidFill>
            <a:srgbClr val="F2F5F9"/>
          </a:solidFill>
          <a:ln/>
        </p:spPr>
      </p:sp>
      <p:sp>
        <p:nvSpPr>
          <p:cNvPr id="22" name="Shape 16"/>
          <p:cNvSpPr/>
          <p:nvPr/>
        </p:nvSpPr>
        <p:spPr>
          <a:xfrm>
            <a:off x="9866376" y="206654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3" name="Image 4" descr="ic_weight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9256" y="2267712"/>
            <a:ext cx="402336" cy="40233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052560" y="294436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Regularise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9089136" y="3255264"/>
            <a:ext cx="2322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&amp; Lasso to curb overfitting</a:t>
            </a:r>
            <a:endParaRPr lang="en-US" sz="1030" dirty="0"/>
          </a:p>
        </p:txBody>
      </p:sp>
      <p:sp>
        <p:nvSpPr>
          <p:cNvPr id="26" name="Shape 19"/>
          <p:cNvSpPr/>
          <p:nvPr/>
        </p:nvSpPr>
        <p:spPr>
          <a:xfrm>
            <a:off x="548640" y="425196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7" name="Text 20"/>
          <p:cNvSpPr/>
          <p:nvPr/>
        </p:nvSpPr>
        <p:spPr>
          <a:xfrm>
            <a:off x="822960" y="425196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 </a:t>
            </a:r>
            <a:pPr algn="l" indent="0" marL="0"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metrics disappoint, the residuals tell you why — and point to the fix.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U15 · Regression (finish)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wav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MODEL'S CONFESSION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Residual diagnostics — four signatures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554480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783080"/>
          <a:ext cx="2615184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3493008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8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cloud around 0</a:t>
            </a:r>
            <a:endParaRPr lang="en-US" sz="980" dirty="0"/>
          </a:p>
        </p:txBody>
      </p:sp>
      <p:sp>
        <p:nvSpPr>
          <p:cNvPr id="9" name="Text 5"/>
          <p:cNvSpPr/>
          <p:nvPr/>
        </p:nvSpPr>
        <p:spPr>
          <a:xfrm>
            <a:off x="3346704" y="1554480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Curved</a:t>
            </a:r>
            <a:endParaRPr lang="en-US" sz="12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3346704" y="1783080"/>
          <a:ext cx="2615184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 6"/>
          <p:cNvSpPr/>
          <p:nvPr/>
        </p:nvSpPr>
        <p:spPr>
          <a:xfrm>
            <a:off x="3346704" y="3493008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8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nonlinearity</a:t>
            </a:r>
            <a:endParaRPr lang="en-US" sz="980" dirty="0"/>
          </a:p>
        </p:txBody>
      </p:sp>
      <p:sp>
        <p:nvSpPr>
          <p:cNvPr id="12" name="Text 7"/>
          <p:cNvSpPr/>
          <p:nvPr/>
        </p:nvSpPr>
        <p:spPr>
          <a:xfrm>
            <a:off x="6144768" y="1554480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 shape</a:t>
            </a:r>
            <a:endParaRPr lang="en-US" sz="1200" dirty="0"/>
          </a:p>
        </p:txBody>
      </p:sp>
      <p:graphicFrame>
        <p:nvGraphicFramePr>
          <p:cNvPr id="13" name="Chart 2" descr=""/>
          <p:cNvGraphicFramePr/>
          <p:nvPr/>
        </p:nvGraphicFramePr>
        <p:xfrm>
          <a:off x="6144768" y="1783080"/>
          <a:ext cx="2615184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6144768" y="3493008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8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non-constant variance</a:t>
            </a:r>
            <a:endParaRPr lang="en-US" sz="980" dirty="0"/>
          </a:p>
        </p:txBody>
      </p:sp>
      <p:sp>
        <p:nvSpPr>
          <p:cNvPr id="15" name="Text 9"/>
          <p:cNvSpPr/>
          <p:nvPr/>
        </p:nvSpPr>
        <p:spPr>
          <a:xfrm>
            <a:off x="8942832" y="1554480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</a:t>
            </a:r>
            <a:endParaRPr lang="en-US" sz="1200" dirty="0"/>
          </a:p>
        </p:txBody>
      </p:sp>
      <p:graphicFrame>
        <p:nvGraphicFramePr>
          <p:cNvPr id="16" name="Chart 3" descr=""/>
          <p:cNvGraphicFramePr/>
          <p:nvPr/>
        </p:nvGraphicFramePr>
        <p:xfrm>
          <a:off x="8942832" y="1783080"/>
          <a:ext cx="2615184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7" name="Text 10"/>
          <p:cNvSpPr/>
          <p:nvPr/>
        </p:nvSpPr>
        <p:spPr>
          <a:xfrm>
            <a:off x="8942832" y="3493008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8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extreme errors</a:t>
            </a:r>
            <a:endParaRPr lang="en-US" sz="980" dirty="0"/>
          </a:p>
        </p:txBody>
      </p:sp>
      <p:sp>
        <p:nvSpPr>
          <p:cNvPr id="18" name="Shape 11"/>
          <p:cNvSpPr/>
          <p:nvPr/>
        </p:nvSpPr>
        <p:spPr>
          <a:xfrm>
            <a:off x="548640" y="4297680"/>
            <a:ext cx="11091672" cy="548640"/>
          </a:xfrm>
          <a:prstGeom prst="roundRect">
            <a:avLst>
              <a:gd name="adj" fmla="val 13333"/>
            </a:avLst>
          </a:prstGeom>
          <a:solidFill>
            <a:srgbClr val="16263F"/>
          </a:solidFill>
          <a:ln/>
        </p:spPr>
      </p:sp>
      <p:sp>
        <p:nvSpPr>
          <p:cNvPr id="19" name="Text 12"/>
          <p:cNvSpPr/>
          <p:nvPr/>
        </p:nvSpPr>
        <p:spPr>
          <a:xfrm>
            <a:off x="822960" y="42976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residuals vs predicted:  </a:t>
            </a:r>
            <a:pPr algn="l" indent="0" marL="0">
              <a:buNone/>
            </a:pPr>
            <a:r>
              <a:rPr lang="en-US" sz="12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random cloud means a healthy fit — every other shape names a specific problem.</a:t>
            </a:r>
            <a:endParaRPr lang="en-US" sz="1250" dirty="0"/>
          </a:p>
        </p:txBody>
      </p:sp>
      <p:sp>
        <p:nvSpPr>
          <p:cNvPr id="20" name="Text 13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U15 · Regression (finish)</a:t>
            </a:r>
            <a:endParaRPr lang="en-US" sz="950" dirty="0"/>
          </a:p>
        </p:txBody>
      </p:sp>
      <p:sp>
        <p:nvSpPr>
          <p:cNvPr id="21" name="Text 14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chartarea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ERRORS NORMAL?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Q–Q plot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09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residual quantiles vs normal quantiles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423160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1343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points hug the 45° line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313639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02666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tails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points curve away at the ends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66928" y="384962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73989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care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affects p-values &amp; prediction intervals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217920" y="1591056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Q–Q plot with mild heavy tails</a:t>
            </a:r>
            <a:endParaRPr lang="en-US" sz="12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6217920" y="1920240"/>
          <a:ext cx="5422392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Shape 12"/>
          <p:cNvSpPr/>
          <p:nvPr/>
        </p:nvSpPr>
        <p:spPr>
          <a:xfrm>
            <a:off x="6537960" y="4297680"/>
            <a:ext cx="4800600" cy="-2240280"/>
          </a:xfrm>
          <a:prstGeom prst="line">
            <a:avLst/>
          </a:prstGeom>
          <a:noFill/>
          <a:ln w="25400">
            <a:solidFill>
              <a:srgbClr val="C0392B"/>
            </a:solidFill>
            <a:prstDash val="dash"/>
          </a:ln>
        </p:spPr>
      </p:sp>
      <p:sp>
        <p:nvSpPr>
          <p:cNvPr id="17" name="Text 13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U15 · Regression (finish)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functio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SKEW &amp; CURVATURE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Transforming features &amp; target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2615184" cy="1874520"/>
          </a:xfrm>
          <a:prstGeom prst="roundRect">
            <a:avLst>
              <a:gd name="adj" fmla="val 4390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1472184" y="2002536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functio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064" y="2203704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2843784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transform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94944" y="3209544"/>
            <a:ext cx="2322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tames right-skewed values (price, income)</a:t>
            </a:r>
            <a:endParaRPr lang="en-US" sz="980" dirty="0"/>
          </a:p>
        </p:txBody>
      </p:sp>
      <p:sp>
        <p:nvSpPr>
          <p:cNvPr id="11" name="Shape 7"/>
          <p:cNvSpPr/>
          <p:nvPr/>
        </p:nvSpPr>
        <p:spPr>
          <a:xfrm>
            <a:off x="3346704" y="1783080"/>
            <a:ext cx="2615184" cy="1874520"/>
          </a:xfrm>
          <a:prstGeom prst="roundRect">
            <a:avLst>
              <a:gd name="adj" fmla="val 4390"/>
            </a:avLst>
          </a:prstGeom>
          <a:solidFill>
            <a:srgbClr val="F2F5F9"/>
          </a:solidFill>
          <a:ln/>
        </p:spPr>
      </p:sp>
      <p:sp>
        <p:nvSpPr>
          <p:cNvPr id="12" name="Shape 8"/>
          <p:cNvSpPr/>
          <p:nvPr/>
        </p:nvSpPr>
        <p:spPr>
          <a:xfrm>
            <a:off x="4270248" y="2002536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3" name="Image 2" descr="ic_wav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2203704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38144" y="2843784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Box-Cox / Yeo-Johnson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3493008" y="3209544"/>
            <a:ext cx="2322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auto-finds the best power transform</a:t>
            </a:r>
            <a:endParaRPr lang="en-US" sz="980" dirty="0"/>
          </a:p>
        </p:txBody>
      </p:sp>
      <p:sp>
        <p:nvSpPr>
          <p:cNvPr id="16" name="Shape 11"/>
          <p:cNvSpPr/>
          <p:nvPr/>
        </p:nvSpPr>
        <p:spPr>
          <a:xfrm>
            <a:off x="6144768" y="1783080"/>
            <a:ext cx="2615184" cy="1874520"/>
          </a:xfrm>
          <a:prstGeom prst="roundRect">
            <a:avLst>
              <a:gd name="adj" fmla="val 4390"/>
            </a:avLst>
          </a:prstGeom>
          <a:solidFill>
            <a:srgbClr val="F2F5F9"/>
          </a:solidFill>
          <a:ln/>
        </p:spPr>
      </p:sp>
      <p:sp>
        <p:nvSpPr>
          <p:cNvPr id="17" name="Shape 12"/>
          <p:cNvSpPr/>
          <p:nvPr/>
        </p:nvSpPr>
        <p:spPr>
          <a:xfrm>
            <a:off x="7068312" y="2002536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8" name="Image 3" descr="ic_tren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2203704"/>
            <a:ext cx="402336" cy="40233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36208" y="2843784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 features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6291072" y="3209544"/>
            <a:ext cx="2322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x², x³ to capture curves</a:t>
            </a:r>
            <a:endParaRPr lang="en-US" sz="980" dirty="0"/>
          </a:p>
        </p:txBody>
      </p:sp>
      <p:sp>
        <p:nvSpPr>
          <p:cNvPr id="21" name="Shape 15"/>
          <p:cNvSpPr/>
          <p:nvPr/>
        </p:nvSpPr>
        <p:spPr>
          <a:xfrm>
            <a:off x="8942832" y="1783080"/>
            <a:ext cx="2615184" cy="1874520"/>
          </a:xfrm>
          <a:prstGeom prst="roundRect">
            <a:avLst>
              <a:gd name="adj" fmla="val 4390"/>
            </a:avLst>
          </a:prstGeom>
          <a:solidFill>
            <a:srgbClr val="F2F5F9"/>
          </a:solidFill>
          <a:ln/>
        </p:spPr>
      </p:sp>
      <p:sp>
        <p:nvSpPr>
          <p:cNvPr id="22" name="Shape 16"/>
          <p:cNvSpPr/>
          <p:nvPr/>
        </p:nvSpPr>
        <p:spPr>
          <a:xfrm>
            <a:off x="9866376" y="2002536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3" name="Image 4" descr="ic_scal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9256" y="2203704"/>
            <a:ext cx="402336" cy="40233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034272" y="2843784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9089136" y="3209544"/>
            <a:ext cx="2322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 before regularisation</a:t>
            </a:r>
            <a:endParaRPr lang="en-US" sz="980" dirty="0"/>
          </a:p>
        </p:txBody>
      </p:sp>
      <p:sp>
        <p:nvSpPr>
          <p:cNvPr id="26" name="Shape 19"/>
          <p:cNvSpPr/>
          <p:nvPr/>
        </p:nvSpPr>
        <p:spPr>
          <a:xfrm>
            <a:off x="548640" y="4206240"/>
            <a:ext cx="11091672" cy="640080"/>
          </a:xfrm>
          <a:prstGeom prst="roundRect">
            <a:avLst>
              <a:gd name="adj" fmla="val 11429"/>
            </a:avLst>
          </a:prstGeom>
          <a:solidFill>
            <a:srgbClr val="FBF1D8"/>
          </a:solidFill>
          <a:ln/>
        </p:spPr>
      </p:sp>
      <p:sp>
        <p:nvSpPr>
          <p:cNvPr id="27" name="Text 20"/>
          <p:cNvSpPr/>
          <p:nvPr/>
        </p:nvSpPr>
        <p:spPr>
          <a:xfrm>
            <a:off x="822960" y="4206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curved residual plot says:  </a:t>
            </a:r>
            <a:pPr algn="l" indent="0" marL="0">
              <a:buNone/>
            </a:pPr>
            <a:r>
              <a:rPr lang="en-US" sz="125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a feature (or the target). Often a single log transform straightens the whole relationship.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U15 · Regression (finish)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war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FEW POINTS DOMINATE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Outliers &amp; robust regression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09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squared error lets one outlier pull the line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423160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1343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extreme-x points have outsized influence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313639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02666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Huber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less sensitive: square small, linear large errors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66928" y="384962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73989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RANSAC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fits on inliers, ignoring outliers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217920" y="1591056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outlier drags the least-squares line up</a:t>
            </a:r>
            <a:endParaRPr lang="en-US" sz="115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6217920" y="1920240"/>
          <a:ext cx="5422392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Shape 12"/>
          <p:cNvSpPr/>
          <p:nvPr/>
        </p:nvSpPr>
        <p:spPr>
          <a:xfrm>
            <a:off x="6537960" y="3977640"/>
            <a:ext cx="4800600" cy="-1371600"/>
          </a:xfrm>
          <a:prstGeom prst="line">
            <a:avLst/>
          </a:prstGeom>
          <a:noFill/>
          <a:ln w="31750">
            <a:solidFill>
              <a:srgbClr val="C0392B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537960" y="4160520"/>
            <a:ext cx="4572000" cy="-1920240"/>
          </a:xfrm>
          <a:prstGeom prst="line">
            <a:avLst/>
          </a:prstGeom>
          <a:noFill/>
          <a:ln w="31750">
            <a:solidFill>
              <a:srgbClr val="2E8B57"/>
            </a:solidFill>
            <a:prstDash val="dash"/>
          </a:ln>
        </p:spPr>
      </p:sp>
      <p:sp>
        <p:nvSpPr>
          <p:cNvPr id="18" name="Text 14"/>
          <p:cNvSpPr/>
          <p:nvPr/>
        </p:nvSpPr>
        <p:spPr>
          <a:xfrm>
            <a:off x="6217920" y="4645152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= OLS · green = robust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U15 · Regression (finish)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914400"/>
            <a:ext cx="2286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24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weigh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REGULARISATION, DEEPER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Ridge, Lasso &amp; ElasticNet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penalise complexity — and how to pick the strength.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· Part 2 · Phase D  ·  02 / 22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weigh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PENALTIES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Ridge vs Lasso vs ElasticNet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1520" y="1837944"/>
            <a:ext cx="1072591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Loss = MSE + α[ (1−ρ)·Σwᵢ² + ρ·Σ|wᵢ| ]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31520" y="2231136"/>
            <a:ext cx="10725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ElasticNet blends L2 (Ridge) and L1 (Lasso); ρ sets the mix, α the strength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971800"/>
            <a:ext cx="3584448" cy="1554480"/>
          </a:xfrm>
          <a:prstGeom prst="roundRect">
            <a:avLst>
              <a:gd name="adj" fmla="val 5882"/>
            </a:avLst>
          </a:prstGeom>
          <a:solidFill>
            <a:srgbClr val="F2F5F9"/>
          </a:solidFill>
          <a:ln/>
        </p:spPr>
      </p:sp>
      <p:sp>
        <p:nvSpPr>
          <p:cNvPr id="10" name="Shape 7"/>
          <p:cNvSpPr/>
          <p:nvPr/>
        </p:nvSpPr>
        <p:spPr>
          <a:xfrm>
            <a:off x="548640" y="2971800"/>
            <a:ext cx="3584448" cy="457200"/>
          </a:xfrm>
          <a:prstGeom prst="roundRect">
            <a:avLst>
              <a:gd name="adj" fmla="val 20000"/>
            </a:avLst>
          </a:prstGeom>
          <a:solidFill>
            <a:srgbClr val="2D6A9F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2971800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(L2)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77240" y="3538728"/>
            <a:ext cx="31272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shrinks all weights; keeps every feature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315968" y="2971800"/>
            <a:ext cx="3584448" cy="1554480"/>
          </a:xfrm>
          <a:prstGeom prst="roundRect">
            <a:avLst>
              <a:gd name="adj" fmla="val 5882"/>
            </a:avLst>
          </a:prstGeom>
          <a:solidFill>
            <a:srgbClr val="F2F5F9"/>
          </a:solidFill>
          <a:ln/>
        </p:spPr>
      </p:sp>
      <p:sp>
        <p:nvSpPr>
          <p:cNvPr id="14" name="Shape 11"/>
          <p:cNvSpPr/>
          <p:nvPr/>
        </p:nvSpPr>
        <p:spPr>
          <a:xfrm>
            <a:off x="4315968" y="2971800"/>
            <a:ext cx="3584448" cy="457200"/>
          </a:xfrm>
          <a:prstGeom prst="roundRect">
            <a:avLst>
              <a:gd name="adj" fmla="val 20000"/>
            </a:avLst>
          </a:prstGeom>
          <a:solidFill>
            <a:srgbClr val="3AAFA9"/>
          </a:solidFill>
          <a:ln/>
        </p:spPr>
      </p:sp>
      <p:sp>
        <p:nvSpPr>
          <p:cNvPr id="15" name="Text 12"/>
          <p:cNvSpPr/>
          <p:nvPr/>
        </p:nvSpPr>
        <p:spPr>
          <a:xfrm>
            <a:off x="4544568" y="2971800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(L1)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544568" y="3538728"/>
            <a:ext cx="31272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zeros weak weights → feature selection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083296" y="2971800"/>
            <a:ext cx="3584448" cy="1554480"/>
          </a:xfrm>
          <a:prstGeom prst="roundRect">
            <a:avLst>
              <a:gd name="adj" fmla="val 5882"/>
            </a:avLst>
          </a:prstGeom>
          <a:solidFill>
            <a:srgbClr val="F2F5F9"/>
          </a:solidFill>
          <a:ln/>
        </p:spPr>
      </p:sp>
      <p:sp>
        <p:nvSpPr>
          <p:cNvPr id="18" name="Shape 15"/>
          <p:cNvSpPr/>
          <p:nvPr/>
        </p:nvSpPr>
        <p:spPr>
          <a:xfrm>
            <a:off x="8083296" y="2971800"/>
            <a:ext cx="3584448" cy="457200"/>
          </a:xfrm>
          <a:prstGeom prst="roundRect">
            <a:avLst>
              <a:gd name="adj" fmla="val 20000"/>
            </a:avLst>
          </a:prstGeom>
          <a:solidFill>
            <a:srgbClr val="F4B942"/>
          </a:solidFill>
          <a:ln/>
        </p:spPr>
      </p:sp>
      <p:sp>
        <p:nvSpPr>
          <p:cNvPr id="19" name="Text 16"/>
          <p:cNvSpPr/>
          <p:nvPr/>
        </p:nvSpPr>
        <p:spPr>
          <a:xfrm>
            <a:off x="8311896" y="2971800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ELASTICNET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311896" y="3538728"/>
            <a:ext cx="31272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 — selection + stability together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U15 · Regression (finish)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shape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LASSO ZEROS WEIGHTS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geometry of L1 vs L2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09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picture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loss contours meet the penalty region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423160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1343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ball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round — touches at non-zero weights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313639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02666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diamond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pointed — corners sit on the axes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66928" y="384962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73989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L1 solutions land on a corner → weight = 0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7680960" y="2148840"/>
            <a:ext cx="2011680" cy="2011680"/>
          </a:xfrm>
          <a:prstGeom prst="ellipse">
            <a:avLst/>
          </a:prstGeom>
          <a:solidFill>
            <a:srgbClr val="2D6A9F">
              <a:alpha val="25000"/>
            </a:srgbClr>
          </a:solidFill>
          <a:ln w="25400">
            <a:solidFill>
              <a:srgbClr val="2D6A9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909560" y="2377440"/>
            <a:ext cx="1554480" cy="1554480"/>
          </a:xfrm>
          <a:prstGeom prst="diamond">
            <a:avLst/>
          </a:prstGeom>
          <a:solidFill>
            <a:srgbClr val="3AAFA9">
              <a:alpha val="40000"/>
            </a:srgbClr>
          </a:solidFill>
          <a:ln w="25400">
            <a:solidFill>
              <a:srgbClr val="3AAFA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641080" y="1737360"/>
            <a:ext cx="1737360" cy="1005840"/>
          </a:xfrm>
          <a:prstGeom prst="ellipse">
            <a:avLst/>
          </a:prstGeom>
          <a:ln w="19050">
            <a:solidFill>
              <a:srgbClr val="C0392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869680" y="1874520"/>
            <a:ext cx="1280160" cy="731520"/>
          </a:xfrm>
          <a:prstGeom prst="ellipse">
            <a:avLst/>
          </a:prstGeom>
          <a:ln w="19050">
            <a:solidFill>
              <a:srgbClr val="C0392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98280" y="2011680"/>
            <a:ext cx="822960" cy="457200"/>
          </a:xfrm>
          <a:prstGeom prst="ellipse">
            <a:avLst/>
          </a:prstGeom>
          <a:ln w="19050">
            <a:solidFill>
              <a:srgbClr val="C0392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509760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412480" y="2990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309360" y="47091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contours hit L1's corner on an axis → that weight = 0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U15 · Regression (finish)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searc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THE STRENGTH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Choosing α by cross-validation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09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 α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try a log-spaced range of values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423160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1343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error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score each α with k-fold CV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313639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02666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dip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α with lowest validation error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66928" y="384962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73989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Shortcut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RidgeCV / LassoCV do it for you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217920" y="1591056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error vs α (U-shaped)</a:t>
            </a:r>
            <a:endParaRPr lang="en-US" sz="12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6217920" y="1920240"/>
          <a:ext cx="5422392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Text 12"/>
          <p:cNvSpPr/>
          <p:nvPr/>
        </p:nvSpPr>
        <p:spPr>
          <a:xfrm>
            <a:off x="6217920" y="4645152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little → overfit · too much → underfit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U15 · Regression (finish)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914400"/>
            <a:ext cx="2286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24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tre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STRAIGHT LINE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Tree-based regressors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relationships are complex, trees and ensembles often beat linear models.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· Part 2 · Phase D  ·  03 / 22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tre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SPLIT, DON'T SLOPE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Decision tree regressor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09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split the data into regions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423160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1343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mean target in each region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313639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02666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step function, not a line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66928" y="384962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73989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deep trees overfit; limit depth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217920" y="1591056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tree predicts piecewise-constant steps</a:t>
            </a:r>
            <a:endParaRPr lang="en-US" sz="115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6217920" y="1920240"/>
          <a:ext cx="5422392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Shape 12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17" name="Shape 13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18" name="Image 1" descr="ic_flask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a DecisionTreeRegressor at depths 2, 5 and 15; watch the step pattern get finer and overfit.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U15 · Regression (finish)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cube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TREES, BETTER PREDICTIONS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Random forests &amp; gradient boosting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5440680" cy="2971800"/>
          </a:xfrm>
          <a:prstGeom prst="roundRect">
            <a:avLst>
              <a:gd name="adj" fmla="val 3077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1737360"/>
            <a:ext cx="5440680" cy="530352"/>
          </a:xfrm>
          <a:prstGeom prst="roundRect">
            <a:avLst>
              <a:gd name="adj" fmla="val 17241"/>
            </a:avLst>
          </a:prstGeom>
          <a:solidFill>
            <a:srgbClr val="2D6A9F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737360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22960" y="2432304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trees on random subsets, then average.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68680" y="3310128"/>
            <a:ext cx="4800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variance (smooths overfitting)</a:t>
            </a:r>
            <a:endParaRPr lang="en-US" sz="11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robust, little tuning</a:t>
            </a:r>
            <a:endParaRPr lang="en-US" sz="11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built in parallel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199632" y="1737360"/>
            <a:ext cx="5440680" cy="2971800"/>
          </a:xfrm>
          <a:prstGeom prst="roundRect">
            <a:avLst>
              <a:gd name="adj" fmla="val 3077"/>
            </a:avLst>
          </a:prstGeom>
          <a:solidFill>
            <a:srgbClr val="F2F5F9"/>
          </a:solidFill>
          <a:ln/>
        </p:spPr>
      </p:sp>
      <p:sp>
        <p:nvSpPr>
          <p:cNvPr id="12" name="Shape 9"/>
          <p:cNvSpPr/>
          <p:nvPr/>
        </p:nvSpPr>
        <p:spPr>
          <a:xfrm>
            <a:off x="6199632" y="1737360"/>
            <a:ext cx="5440680" cy="530352"/>
          </a:xfrm>
          <a:prstGeom prst="roundRect">
            <a:avLst>
              <a:gd name="adj" fmla="val 17241"/>
            </a:avLst>
          </a:prstGeom>
          <a:solidFill>
            <a:srgbClr val="3AAFA9"/>
          </a:solidFill>
          <a:ln/>
        </p:spPr>
      </p:sp>
      <p:sp>
        <p:nvSpPr>
          <p:cNvPr id="13" name="Text 10"/>
          <p:cNvSpPr/>
          <p:nvPr/>
        </p:nvSpPr>
        <p:spPr>
          <a:xfrm>
            <a:off x="6473952" y="1737360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473952" y="2432304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added in sequence, each fixing the last's errors.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519672" y="3310128"/>
            <a:ext cx="4800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the top tabular performer</a:t>
            </a:r>
            <a:endParaRPr lang="en-US" sz="11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careful tuning</a:t>
            </a:r>
            <a:endParaRPr lang="en-US" sz="11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XGBoost, LightGBM, CatBoost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48640" y="4846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Ensembles capture nonlinearity &amp; interactions automatically — usually the strongest tabular regressors.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U15 · Regression (finish)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balanc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TO REACH FOR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Linear vs tree-based regressors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11091672" cy="603504"/>
          </a:xfrm>
          <a:prstGeom prst="roundRect">
            <a:avLst>
              <a:gd name="adj" fmla="val 10606"/>
            </a:avLst>
          </a:prstGeom>
          <a:solidFill>
            <a:srgbClr val="F2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737360"/>
            <a:ext cx="6217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 matters most</a:t>
            </a:r>
            <a:endParaRPr lang="en-US" sz="1250" dirty="0"/>
          </a:p>
        </p:txBody>
      </p:sp>
      <p:pic>
        <p:nvPicPr>
          <p:cNvPr id="8" name="Image 1" descr="ic_arrow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965960"/>
            <a:ext cx="146304" cy="14630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543800" y="1737360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(with regularisation)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48640" y="2414016"/>
            <a:ext cx="11091672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22960" y="2414016"/>
            <a:ext cx="6217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nonlinearity &amp; interactions</a:t>
            </a:r>
            <a:endParaRPr lang="en-US" sz="1250" dirty="0"/>
          </a:p>
        </p:txBody>
      </p:sp>
      <p:pic>
        <p:nvPicPr>
          <p:cNvPr id="12" name="Image 2" descr="ic_arrow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2642616"/>
            <a:ext cx="146304" cy="14630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543800" y="2414016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/ random forest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548640" y="3090672"/>
            <a:ext cx="11091672" cy="603504"/>
          </a:xfrm>
          <a:prstGeom prst="roundRect">
            <a:avLst>
              <a:gd name="adj" fmla="val 10606"/>
            </a:avLst>
          </a:prstGeom>
          <a:solidFill>
            <a:srgbClr val="F2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822960" y="3090672"/>
            <a:ext cx="6217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data, roughly linear</a:t>
            </a:r>
            <a:endParaRPr lang="en-US" sz="1250" dirty="0"/>
          </a:p>
        </p:txBody>
      </p:sp>
      <p:pic>
        <p:nvPicPr>
          <p:cNvPr id="16" name="Image 3" descr="ic_arrow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3319272"/>
            <a:ext cx="146304" cy="14630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543800" y="3090672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548640" y="3767328"/>
            <a:ext cx="11091672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822960" y="3767328"/>
            <a:ext cx="6217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feature types, tabular</a:t>
            </a:r>
            <a:endParaRPr lang="en-US" sz="1250" dirty="0"/>
          </a:p>
        </p:txBody>
      </p:sp>
      <p:pic>
        <p:nvPicPr>
          <p:cNvPr id="20" name="Image 4" descr="ic_arrow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3995928"/>
            <a:ext cx="146304" cy="14630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543800" y="3767328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ensembles</a:t>
            </a:r>
            <a:endParaRPr lang="en-US" sz="1200" dirty="0"/>
          </a:p>
        </p:txBody>
      </p:sp>
      <p:sp>
        <p:nvSpPr>
          <p:cNvPr id="22" name="Shape 15"/>
          <p:cNvSpPr/>
          <p:nvPr/>
        </p:nvSpPr>
        <p:spPr>
          <a:xfrm>
            <a:off x="548640" y="4443984"/>
            <a:ext cx="11091672" cy="603504"/>
          </a:xfrm>
          <a:prstGeom prst="roundRect">
            <a:avLst>
              <a:gd name="adj" fmla="val 10606"/>
            </a:avLst>
          </a:prstGeom>
          <a:solidFill>
            <a:srgbClr val="F2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822960" y="4443984"/>
            <a:ext cx="6217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a fast, explainable baseline</a:t>
            </a:r>
            <a:endParaRPr lang="en-US" sz="1250" dirty="0"/>
          </a:p>
        </p:txBody>
      </p:sp>
      <p:pic>
        <p:nvPicPr>
          <p:cNvPr id="24" name="Image 5" descr="ic_arrow_go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3760" y="4672584"/>
            <a:ext cx="146304" cy="146304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543800" y="4443984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first, then compare</a:t>
            </a:r>
            <a:endParaRPr lang="en-US" sz="1200" dirty="0"/>
          </a:p>
        </p:txBody>
      </p:sp>
      <p:sp>
        <p:nvSpPr>
          <p:cNvPr id="26" name="Text 18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U15 · Regression (finish)</a:t>
            </a:r>
            <a:endParaRPr lang="en-US" sz="950" dirty="0"/>
          </a:p>
        </p:txBody>
      </p:sp>
      <p:sp>
        <p:nvSpPr>
          <p:cNvPr id="27" name="Text 19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sortdow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MATTERED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Feature importance for regression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09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standardised coefficient magnitudes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423160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1343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built-in feature_importances_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313639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02666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Model-agnostic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permutation importance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66928" y="384962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73989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explain, simplify, and trust the model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217920" y="1591056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importances</a:t>
            </a:r>
            <a:endParaRPr lang="en-US" sz="12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6217920" y="1920240"/>
          <a:ext cx="5422392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Text 1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U15 · Regression (finish)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914400"/>
            <a:ext cx="2286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24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searc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IT PROPERLY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Validate &amp; tune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and hyperparameter search turn a good model into the best one.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· Part 2 · Phase D  ·  04 / 22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searc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BEST SETTINGS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Cross-validation &amp; grid search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09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robust scores, not one lucky split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423160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1343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try every hyperparameter combo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313639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026664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search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faster for big spaces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66928" y="384962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739896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it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tune preprocessing + model together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126480" y="1664208"/>
            <a:ext cx="5513832" cy="2926080"/>
          </a:xfrm>
          <a:prstGeom prst="roundRect">
            <a:avLst>
              <a:gd name="adj" fmla="val 1875"/>
            </a:avLst>
          </a:prstGeom>
          <a:solidFill>
            <a:srgbClr val="0E1B2E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272784" y="1810512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6" name="Shape 13"/>
          <p:cNvSpPr/>
          <p:nvPr/>
        </p:nvSpPr>
        <p:spPr>
          <a:xfrm>
            <a:off x="6419088" y="1810512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7" name="Shape 14"/>
          <p:cNvSpPr/>
          <p:nvPr/>
        </p:nvSpPr>
        <p:spPr>
          <a:xfrm>
            <a:off x="6565392" y="1810512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8" name="Text 15"/>
          <p:cNvSpPr/>
          <p:nvPr/>
        </p:nvSpPr>
        <p:spPr>
          <a:xfrm>
            <a:off x="6766560" y="1737360"/>
            <a:ext cx="4690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FA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tune.py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327648" y="2048256"/>
            <a:ext cx="5111496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GridSearchCV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sklearn.ensemble import RandomForestRegressor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 = {'max_depth':[4,8,None],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'n_estimators':[200,400]}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gs = GridSearchCV(RandomForestRegressor(),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grid, cv=5, scoring='r2')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gs.fit(X_train, y_train)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print(gs.best_params_, gs.best_score_)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21" name="Shape 18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2" name="Image 1" descr="ic_flas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Grid-search a random forest's depth &amp; tree count with 5-fold CV; report the best R².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U15 · Regression (finish)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pipelin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REGRESSION WORKFLOW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End to end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874520"/>
            <a:ext cx="2057400" cy="1554480"/>
          </a:xfrm>
          <a:prstGeom prst="roundRect">
            <a:avLst>
              <a:gd name="adj" fmla="val 5882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1303020" y="2112264"/>
            <a:ext cx="585216" cy="58521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tren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180" y="2249424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8368" y="2825496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676656" y="3118104"/>
            <a:ext cx="183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baseline</a:t>
            </a:r>
            <a:endParaRPr lang="en-US" sz="900" dirty="0"/>
          </a:p>
        </p:txBody>
      </p:sp>
      <p:pic>
        <p:nvPicPr>
          <p:cNvPr id="11" name="Image 2" descr="ic_arrow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760" y="2569464"/>
            <a:ext cx="146304" cy="146304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2834640" y="1874520"/>
            <a:ext cx="2057400" cy="1554480"/>
          </a:xfrm>
          <a:prstGeom prst="roundRect">
            <a:avLst>
              <a:gd name="adj" fmla="val 5882"/>
            </a:avLst>
          </a:prstGeom>
          <a:solidFill>
            <a:srgbClr val="F2F5F9"/>
          </a:solidFill>
          <a:ln/>
        </p:spPr>
      </p:sp>
      <p:sp>
        <p:nvSpPr>
          <p:cNvPr id="13" name="Shape 8"/>
          <p:cNvSpPr/>
          <p:nvPr/>
        </p:nvSpPr>
        <p:spPr>
          <a:xfrm>
            <a:off x="3570732" y="2112264"/>
            <a:ext cx="585216" cy="58521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4" name="Image 3" descr="ic_wav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7892" y="2249424"/>
            <a:ext cx="310896" cy="31089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2926080" y="2825496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</a:t>
            </a:r>
            <a:endParaRPr lang="en-US" sz="1250" dirty="0"/>
          </a:p>
        </p:txBody>
      </p:sp>
      <p:sp>
        <p:nvSpPr>
          <p:cNvPr id="16" name="Text 10"/>
          <p:cNvSpPr/>
          <p:nvPr/>
        </p:nvSpPr>
        <p:spPr>
          <a:xfrm>
            <a:off x="2944368" y="3118104"/>
            <a:ext cx="183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residuals</a:t>
            </a:r>
            <a:endParaRPr lang="en-US" sz="900" dirty="0"/>
          </a:p>
        </p:txBody>
      </p:sp>
      <p:pic>
        <p:nvPicPr>
          <p:cNvPr id="17" name="Image 4" descr="ic_arrow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472" y="2569464"/>
            <a:ext cx="146304" cy="146304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5102352" y="1874520"/>
            <a:ext cx="2057400" cy="1554480"/>
          </a:xfrm>
          <a:prstGeom prst="roundRect">
            <a:avLst>
              <a:gd name="adj" fmla="val 5882"/>
            </a:avLst>
          </a:prstGeom>
          <a:solidFill>
            <a:srgbClr val="F2F5F9"/>
          </a:solidFill>
          <a:ln/>
        </p:spPr>
      </p:sp>
      <p:sp>
        <p:nvSpPr>
          <p:cNvPr id="19" name="Shape 12"/>
          <p:cNvSpPr/>
          <p:nvPr/>
        </p:nvSpPr>
        <p:spPr>
          <a:xfrm>
            <a:off x="5838444" y="2112264"/>
            <a:ext cx="585216" cy="58521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0" name="Image 5" descr="ic_function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5604" y="2249424"/>
            <a:ext cx="310896" cy="310896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193792" y="2825496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250" dirty="0"/>
          </a:p>
        </p:txBody>
      </p:sp>
      <p:sp>
        <p:nvSpPr>
          <p:cNvPr id="22" name="Text 14"/>
          <p:cNvSpPr/>
          <p:nvPr/>
        </p:nvSpPr>
        <p:spPr>
          <a:xfrm>
            <a:off x="5212080" y="3118104"/>
            <a:ext cx="183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/ regularise</a:t>
            </a:r>
            <a:endParaRPr lang="en-US" sz="900" dirty="0"/>
          </a:p>
        </p:txBody>
      </p:sp>
      <p:pic>
        <p:nvPicPr>
          <p:cNvPr id="23" name="Image 6" descr="ic_arrow_gol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87184" y="2569464"/>
            <a:ext cx="146304" cy="146304"/>
          </a:xfrm>
          <a:prstGeom prst="rect">
            <a:avLst/>
          </a:prstGeom>
        </p:spPr>
      </p:pic>
      <p:sp>
        <p:nvSpPr>
          <p:cNvPr id="24" name="Shape 15"/>
          <p:cNvSpPr/>
          <p:nvPr/>
        </p:nvSpPr>
        <p:spPr>
          <a:xfrm>
            <a:off x="7370064" y="1874520"/>
            <a:ext cx="2057400" cy="1554480"/>
          </a:xfrm>
          <a:prstGeom prst="roundRect">
            <a:avLst>
              <a:gd name="adj" fmla="val 5882"/>
            </a:avLst>
          </a:prstGeom>
          <a:solidFill>
            <a:srgbClr val="F2F5F9"/>
          </a:solidFill>
          <a:ln/>
        </p:spPr>
      </p:sp>
      <p:sp>
        <p:nvSpPr>
          <p:cNvPr id="25" name="Shape 16"/>
          <p:cNvSpPr/>
          <p:nvPr/>
        </p:nvSpPr>
        <p:spPr>
          <a:xfrm>
            <a:off x="8106156" y="2112264"/>
            <a:ext cx="585216" cy="58521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6" name="Image 7" descr="ic_tree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43316" y="2249424"/>
            <a:ext cx="310896" cy="310896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7461504" y="2825496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</a:t>
            </a:r>
            <a:endParaRPr lang="en-US" sz="1250" dirty="0"/>
          </a:p>
        </p:txBody>
      </p:sp>
      <p:sp>
        <p:nvSpPr>
          <p:cNvPr id="28" name="Text 18"/>
          <p:cNvSpPr/>
          <p:nvPr/>
        </p:nvSpPr>
        <p:spPr>
          <a:xfrm>
            <a:off x="7479792" y="3118104"/>
            <a:ext cx="183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ensembles</a:t>
            </a:r>
            <a:endParaRPr lang="en-US" sz="900" dirty="0"/>
          </a:p>
        </p:txBody>
      </p:sp>
      <p:pic>
        <p:nvPicPr>
          <p:cNvPr id="29" name="Image 8" descr="ic_arrow_gol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54896" y="2569464"/>
            <a:ext cx="146304" cy="146304"/>
          </a:xfrm>
          <a:prstGeom prst="rect">
            <a:avLst/>
          </a:prstGeom>
        </p:spPr>
      </p:pic>
      <p:sp>
        <p:nvSpPr>
          <p:cNvPr id="30" name="Shape 19"/>
          <p:cNvSpPr/>
          <p:nvPr/>
        </p:nvSpPr>
        <p:spPr>
          <a:xfrm>
            <a:off x="9637776" y="1874520"/>
            <a:ext cx="2057400" cy="1554480"/>
          </a:xfrm>
          <a:prstGeom prst="roundRect">
            <a:avLst>
              <a:gd name="adj" fmla="val 588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31" name="Shape 20"/>
          <p:cNvSpPr/>
          <p:nvPr/>
        </p:nvSpPr>
        <p:spPr>
          <a:xfrm>
            <a:off x="10373868" y="2112264"/>
            <a:ext cx="585216" cy="585216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32" name="Image 9" descr="ic_search_nav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11028" y="2249424"/>
            <a:ext cx="310896" cy="310896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9729216" y="2825496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</a:t>
            </a:r>
            <a:endParaRPr lang="en-US" sz="1250" dirty="0"/>
          </a:p>
        </p:txBody>
      </p:sp>
      <p:sp>
        <p:nvSpPr>
          <p:cNvPr id="34" name="Text 22"/>
          <p:cNvSpPr/>
          <p:nvPr/>
        </p:nvSpPr>
        <p:spPr>
          <a:xfrm>
            <a:off x="9747504" y="3118104"/>
            <a:ext cx="183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+ grid search</a:t>
            </a:r>
            <a:endParaRPr lang="en-US" sz="900" dirty="0"/>
          </a:p>
        </p:txBody>
      </p:sp>
      <p:sp>
        <p:nvSpPr>
          <p:cNvPr id="35" name="Shape 23"/>
          <p:cNvSpPr/>
          <p:nvPr/>
        </p:nvSpPr>
        <p:spPr>
          <a:xfrm>
            <a:off x="548640" y="388620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2F5F9"/>
          </a:solidFill>
          <a:ln/>
        </p:spPr>
      </p:sp>
      <p:sp>
        <p:nvSpPr>
          <p:cNvPr id="36" name="Text 24"/>
          <p:cNvSpPr/>
          <p:nvPr/>
        </p:nvSpPr>
        <p:spPr>
          <a:xfrm>
            <a:off x="822960" y="38862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start simple:  </a:t>
            </a:r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linear baseline tells you what 'good' looks like, and the residuals tell you what to do next — only then reach for ensembles.</a:t>
            </a:r>
            <a:endParaRPr lang="en-US" sz="1350" dirty="0"/>
          </a:p>
        </p:txBody>
      </p:sp>
      <p:sp>
        <p:nvSpPr>
          <p:cNvPr id="37" name="Text 25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U15 · Regression (finish)</a:t>
            </a:r>
            <a:endParaRPr lang="en-US" sz="950" dirty="0"/>
          </a:p>
        </p:txBody>
      </p:sp>
      <p:sp>
        <p:nvSpPr>
          <p:cNvPr id="38" name="Text 26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war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THESE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Pitfalls &amp; best practices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2615184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1472184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wav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064" y="2221992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8368" y="2898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plot residuals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94944" y="3209544"/>
            <a:ext cx="2322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alone hide the model's shape problems</a:t>
            </a:r>
            <a:endParaRPr lang="en-US" sz="1030" dirty="0"/>
          </a:p>
        </p:txBody>
      </p:sp>
      <p:sp>
        <p:nvSpPr>
          <p:cNvPr id="11" name="Shape 7"/>
          <p:cNvSpPr/>
          <p:nvPr/>
        </p:nvSpPr>
        <p:spPr>
          <a:xfrm>
            <a:off x="3346704" y="1783080"/>
            <a:ext cx="2615184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</p:spPr>
      </p:sp>
      <p:sp>
        <p:nvSpPr>
          <p:cNvPr id="12" name="Shape 8"/>
          <p:cNvSpPr/>
          <p:nvPr/>
        </p:nvSpPr>
        <p:spPr>
          <a:xfrm>
            <a:off x="4270248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3" name="Image 2" descr="ic_search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2221992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56432" y="2898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on validation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3493008" y="3209544"/>
            <a:ext cx="2322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grid-search against the test set</a:t>
            </a:r>
            <a:endParaRPr lang="en-US" sz="1030" dirty="0"/>
          </a:p>
        </p:txBody>
      </p:sp>
      <p:sp>
        <p:nvSpPr>
          <p:cNvPr id="16" name="Shape 11"/>
          <p:cNvSpPr/>
          <p:nvPr/>
        </p:nvSpPr>
        <p:spPr>
          <a:xfrm>
            <a:off x="6144768" y="1783080"/>
            <a:ext cx="2615184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</p:spPr>
      </p:sp>
      <p:sp>
        <p:nvSpPr>
          <p:cNvPr id="17" name="Shape 12"/>
          <p:cNvSpPr/>
          <p:nvPr/>
        </p:nvSpPr>
        <p:spPr>
          <a:xfrm>
            <a:off x="7068312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8" name="Image 3" descr="ic_tre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2221992"/>
            <a:ext cx="402336" cy="40233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54496" y="2898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skip the baseline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6291072" y="3209544"/>
            <a:ext cx="2322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forest that can't beat linear isn't worth it</a:t>
            </a:r>
            <a:endParaRPr lang="en-US" sz="1030" dirty="0"/>
          </a:p>
        </p:txBody>
      </p:sp>
      <p:sp>
        <p:nvSpPr>
          <p:cNvPr id="21" name="Shape 15"/>
          <p:cNvSpPr/>
          <p:nvPr/>
        </p:nvSpPr>
        <p:spPr>
          <a:xfrm>
            <a:off x="8942832" y="1783080"/>
            <a:ext cx="2615184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</p:spPr>
      </p:sp>
      <p:sp>
        <p:nvSpPr>
          <p:cNvPr id="22" name="Shape 16"/>
          <p:cNvSpPr/>
          <p:nvPr/>
        </p:nvSpPr>
        <p:spPr>
          <a:xfrm>
            <a:off x="9866376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3" name="Image 4" descr="ic_scal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9256" y="2221992"/>
            <a:ext cx="402336" cy="40233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052560" y="2898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before regularising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9089136" y="3209544"/>
            <a:ext cx="2322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penalties assume comparable feature scales</a:t>
            </a:r>
            <a:endParaRPr lang="en-US" sz="1030" dirty="0"/>
          </a:p>
        </p:txBody>
      </p:sp>
      <p:sp>
        <p:nvSpPr>
          <p:cNvPr id="26" name="Shape 19"/>
          <p:cNvSpPr/>
          <p:nvPr/>
        </p:nvSpPr>
        <p:spPr>
          <a:xfrm>
            <a:off x="548640" y="429768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FBF1D8"/>
          </a:solidFill>
          <a:ln/>
        </p:spPr>
      </p:sp>
      <p:sp>
        <p:nvSpPr>
          <p:cNvPr id="27" name="Text 20"/>
          <p:cNvSpPr/>
          <p:nvPr/>
        </p:nvSpPr>
        <p:spPr>
          <a:xfrm>
            <a:off x="822960" y="42976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is not a goal:  </a:t>
            </a:r>
            <a:pPr algn="l" indent="0" marL="0">
              <a:buNone/>
            </a:pPr>
            <a:r>
              <a:rPr lang="en-US" sz="125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for a gradient-boosting model only when a well-diagnosed linear model genuinely falls short.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U15 · Regression (finish)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bul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Recap, homework &amp; what comes next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3657600" cy="3383280"/>
          </a:xfrm>
          <a:prstGeom prst="roundRect">
            <a:avLst>
              <a:gd name="adj" fmla="val 2162"/>
            </a:avLst>
          </a:prstGeom>
          <a:solidFill>
            <a:srgbClr val="F2F5F9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181051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49808" y="2212848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shapes name the problem</a:t>
            </a:r>
            <a:endParaRPr lang="en-US" sz="120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fix skew &amp; curvature</a:t>
            </a:r>
            <a:endParaRPr lang="en-US" sz="120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Ridge/Lasso/ElasticNet curb complexity</a:t>
            </a:r>
            <a:endParaRPr lang="en-US" sz="120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&amp; ensembles capture nonlinearity</a:t>
            </a:r>
            <a:endParaRPr lang="en-US" sz="120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+ grid search find the best settings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70832" y="1645920"/>
            <a:ext cx="3657600" cy="3383280"/>
          </a:xfrm>
          <a:prstGeom prst="roundRect">
            <a:avLst>
              <a:gd name="adj" fmla="val 2162"/>
            </a:avLst>
          </a:prstGeom>
          <a:solidFill>
            <a:srgbClr val="FBF1D8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0" y="181051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20" kern="0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/ SELF-PACED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0" y="2212848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residuals &amp; a Q–Q plot</a:t>
            </a:r>
            <a:endParaRPr lang="en-US" sz="115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Log-transform a skewed target; compare</a:t>
            </a:r>
            <a:endParaRPr lang="en-US" sz="115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α for Ridge, Lasso, ElasticNet</a:t>
            </a:r>
            <a:endParaRPr lang="en-US" sz="115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a random forest &amp; GBM; compare R²</a:t>
            </a:r>
            <a:endParaRPr lang="en-US" sz="115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Grid-search the best model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193024" y="1645920"/>
            <a:ext cx="3447288" cy="3383280"/>
          </a:xfrm>
          <a:prstGeom prst="roundRect">
            <a:avLst>
              <a:gd name="adj" fmla="val 216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394192" y="181051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394192" y="2331720"/>
            <a:ext cx="457200" cy="45720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5" name="Text 12"/>
          <p:cNvSpPr/>
          <p:nvPr/>
        </p:nvSpPr>
        <p:spPr>
          <a:xfrm>
            <a:off x="8394192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U16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979408" y="22860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(Part 1) — predicting categories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394192" y="3410712"/>
            <a:ext cx="457200" cy="45720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8" name="Text 15"/>
          <p:cNvSpPr/>
          <p:nvPr/>
        </p:nvSpPr>
        <p:spPr>
          <a:xfrm>
            <a:off x="8394192" y="3410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979408" y="3364992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regression, decision boundaries, metrics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48640" y="5285232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F2F5F9"/>
          </a:solidFill>
          <a:ln/>
        </p:spPr>
      </p:sp>
      <p:sp>
        <p:nvSpPr>
          <p:cNvPr id="21" name="Shape 18"/>
          <p:cNvSpPr/>
          <p:nvPr/>
        </p:nvSpPr>
        <p:spPr>
          <a:xfrm>
            <a:off x="777240" y="5458968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2" name="Image 1" descr="ic_tren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5586984"/>
            <a:ext cx="274320" cy="27432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463040" y="5285232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 </a:t>
            </a:r>
            <a:pPr algn="l"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diagnose, transform, regularise, then go nonlinear if needed — a disciplined path from a simple line to a model you can ship.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U15 · Regression (finish)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AI/ML Training</dc:creator>
  <cp:lastModifiedBy>AI/ML Training</cp:lastModifiedBy>
  <cp:revision>1</cp:revision>
  <dcterms:created xsi:type="dcterms:W3CDTF">2026-06-11T12:51:02Z</dcterms:created>
  <dcterms:modified xsi:type="dcterms:W3CDTF">2026-06-11T12:51:02Z</dcterms:modified>
</cp:coreProperties>
</file>