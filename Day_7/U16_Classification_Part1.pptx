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2D6A9F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xVal>
            <c:numRef>
              <c:f>Sheet1!$A$2:$A$57</c:f>
              <c:numCache>
                <c:formatCode>General</c:formatCode>
                <c:ptCount val="56"/>
                <c:pt idx="0">
                  <c:v>3.2320216049382715</c:v>
                </c:pt>
                <c:pt idx="1">
                  <c:v>3.652134773662551</c:v>
                </c:pt>
                <c:pt idx="2">
                  <c:v>4.948791152263375</c:v>
                </c:pt>
                <c:pt idx="3">
                  <c:v>3.5293981481481485</c:v>
                </c:pt>
                <c:pt idx="4">
                  <c:v>4.3569187242798355</c:v>
                </c:pt>
                <c:pt idx="5">
                  <c:v>2.6165380658436215</c:v>
                </c:pt>
                <c:pt idx="6">
                  <c:v>3.3823302469135803</c:v>
                </c:pt>
                <c:pt idx="7">
                  <c:v>4.283924897119341</c:v>
                </c:pt>
                <c:pt idx="8">
                  <c:v>4.173173868312757</c:v>
                </c:pt>
                <c:pt idx="9">
                  <c:v>4.7908179012345675</c:v>
                </c:pt>
                <c:pt idx="10">
                  <c:v>2.43315329218107</c:v>
                </c:pt>
                <c:pt idx="11">
                  <c:v>2.618698559670782</c:v>
                </c:pt>
                <c:pt idx="12">
                  <c:v>3.754861111111111</c:v>
                </c:pt>
                <c:pt idx="13">
                  <c:v>3.8046039094650204</c:v>
                </c:pt>
                <c:pt idx="14">
                  <c:v>2.9531121399176956</c:v>
                </c:pt>
                <c:pt idx="15">
                  <c:v>2.27445987654321</c:v>
                </c:pt>
                <c:pt idx="16">
                  <c:v>4.398276748971194</c:v>
                </c:pt>
                <c:pt idx="17">
                  <c:v>4.176414609053499</c:v>
                </c:pt>
                <c:pt idx="18">
                  <c:v>2.3496141975308644</c:v>
                </c:pt>
                <c:pt idx="19">
                  <c:v>3.2141718106995887</c:v>
                </c:pt>
                <c:pt idx="20">
                  <c:v>2.2886059670781895</c:v>
                </c:pt>
                <c:pt idx="21">
                  <c:v>2.980324074074074</c:v>
                </c:pt>
                <c:pt idx="22">
                  <c:v>2.2522890946502057</c:v>
                </c:pt>
                <c:pt idx="23">
                  <c:v>2.2896862139917697</c:v>
                </c:pt>
                <c:pt idx="24">
                  <c:v>3.1665895061728397</c:v>
                </c:pt>
                <c:pt idx="25">
                  <c:v>3.512628600823045</c:v>
                </c:pt>
                <c:pt idx="26">
                  <c:v>3.179655349794239</c:v>
                </c:pt>
                <c:pt idx="27">
                  <c:v>4.90841049382716</c:v>
                </c:pt>
                <c:pt idx="28">
                  <c:v>6.573251028806585</c:v>
                </c:pt>
                <c:pt idx="29">
                  <c:v>5.061265432098765</c:v>
                </c:pt>
                <c:pt idx="30">
                  <c:v>5.351748971193416</c:v>
                </c:pt>
                <c:pt idx="31">
                  <c:v>5.296553497942387</c:v>
                </c:pt>
                <c:pt idx="32">
                  <c:v>5.63641975308642</c:v>
                </c:pt>
                <c:pt idx="33">
                  <c:v>7.66764403292181</c:v>
                </c:pt>
                <c:pt idx="34">
                  <c:v>6.908744855967078</c:v>
                </c:pt>
                <c:pt idx="35">
                  <c:v>6.76712962962963</c:v>
                </c:pt>
                <c:pt idx="36">
                  <c:v>7.205761316872428</c:v>
                </c:pt>
                <c:pt idx="37">
                  <c:v>7.409825102880658</c:v>
                </c:pt>
                <c:pt idx="38">
                  <c:v>7.453395061728395</c:v>
                </c:pt>
                <c:pt idx="39">
                  <c:v>5.9661008230452675</c:v>
                </c:pt>
                <c:pt idx="40">
                  <c:v>5.799794238683128</c:v>
                </c:pt>
                <c:pt idx="41">
                  <c:v>6.695216049382716</c:v>
                </c:pt>
                <c:pt idx="42">
                  <c:v>5.9486625514403295</c:v>
                </c:pt>
                <c:pt idx="43">
                  <c:v>7.078652263374486</c:v>
                </c:pt>
                <c:pt idx="44">
                  <c:v>6.492592592592592</c:v>
                </c:pt>
                <c:pt idx="45">
                  <c:v>6.153446502057613</c:v>
                </c:pt>
                <c:pt idx="46">
                  <c:v>7.246399176954732</c:v>
                </c:pt>
                <c:pt idx="47">
                  <c:v>5.845524691358024</c:v>
                </c:pt>
                <c:pt idx="48">
                  <c:v>5.580452674897119</c:v>
                </c:pt>
                <c:pt idx="49">
                  <c:v>5.3030349794238685</c:v>
                </c:pt>
                <c:pt idx="50">
                  <c:v>6.754012345679012</c:v>
                </c:pt>
                <c:pt idx="51">
                  <c:v>6.229681069958848</c:v>
                </c:pt>
                <c:pt idx="52">
                  <c:v>6.2485596707818925</c:v>
                </c:pt>
                <c:pt idx="53">
                  <c:v>5.218055555555556</c:v>
                </c:pt>
                <c:pt idx="54">
                  <c:v>7.101131687242798</c:v>
                </c:pt>
                <c:pt idx="55">
                  <c:v>6.082973251028807</c:v>
                </c:pt>
              </c:numCache>
            </c:numRef>
          </c:xVal>
          <c:yVal>
            <c:numRef>
              <c:f>Sheet1!$B$2:$B$57</c:f>
              <c:numCache>
                <c:formatCode>General</c:formatCode>
                <c:ptCount val="56"/>
                <c:pt idx="0">
                  <c:v>4.666911008230453</c:v>
                </c:pt>
                <c:pt idx="1">
                  <c:v>3.139493312757202</c:v>
                </c:pt>
                <c:pt idx="2">
                  <c:v>3.3404706790123457</c:v>
                </c:pt>
                <c:pt idx="3">
                  <c:v>4.566139403292181</c:v>
                </c:pt>
                <c:pt idx="4">
                  <c:v>3.335018004115226</c:v>
                </c:pt>
                <c:pt idx="5">
                  <c:v>4.054513888888889</c:v>
                </c:pt>
                <c:pt idx="6">
                  <c:v>4.687590020576132</c:v>
                </c:pt>
                <c:pt idx="7">
                  <c:v>2.41943158436214</c:v>
                </c:pt>
                <c:pt idx="8">
                  <c:v>4.324112654320988</c:v>
                </c:pt>
                <c:pt idx="9">
                  <c:v>4.031262860082304</c:v>
                </c:pt>
                <c:pt idx="10">
                  <c:v>2.3927340534979424</c:v>
                </c:pt>
                <c:pt idx="11">
                  <c:v>3.1492669753086417</c:v>
                </c:pt>
                <c:pt idx="12">
                  <c:v>4.5971579218107</c:v>
                </c:pt>
                <c:pt idx="13">
                  <c:v>2.254925411522634</c:v>
                </c:pt>
                <c:pt idx="14">
                  <c:v>2.5299768518518517</c:v>
                </c:pt>
                <c:pt idx="15">
                  <c:v>2.385275205761317</c:v>
                </c:pt>
                <c:pt idx="16">
                  <c:v>4.006005658436214</c:v>
                </c:pt>
                <c:pt idx="17">
                  <c:v>4.466242283950617</c:v>
                </c:pt>
                <c:pt idx="18">
                  <c:v>2.395614711934156</c:v>
                </c:pt>
                <c:pt idx="19">
                  <c:v>3.645974794238683</c:v>
                </c:pt>
                <c:pt idx="20">
                  <c:v>4.958063271604939</c:v>
                </c:pt>
                <c:pt idx="21">
                  <c:v>3.6281764403292183</c:v>
                </c:pt>
                <c:pt idx="22">
                  <c:v>3.174832818930041</c:v>
                </c:pt>
                <c:pt idx="23">
                  <c:v>3.0054398148148147</c:v>
                </c:pt>
                <c:pt idx="24">
                  <c:v>2.082960390946502</c:v>
                </c:pt>
                <c:pt idx="25">
                  <c:v>4.592579732510288</c:v>
                </c:pt>
                <c:pt idx="26">
                  <c:v>3.608371913580247</c:v>
                </c:pt>
                <c:pt idx="27">
                  <c:v>2.7599665637860085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C0392B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xVal>
            <c:numRef>
              <c:f>Sheet1!$A$2:$A$57</c:f>
              <c:numCache>
                <c:formatCode>General</c:formatCode>
                <c:ptCount val="56"/>
                <c:pt idx="0">
                  <c:v>3.2320216049382715</c:v>
                </c:pt>
                <c:pt idx="1">
                  <c:v>3.652134773662551</c:v>
                </c:pt>
                <c:pt idx="2">
                  <c:v>4.948791152263375</c:v>
                </c:pt>
                <c:pt idx="3">
                  <c:v>3.5293981481481485</c:v>
                </c:pt>
                <c:pt idx="4">
                  <c:v>4.3569187242798355</c:v>
                </c:pt>
                <c:pt idx="5">
                  <c:v>2.6165380658436215</c:v>
                </c:pt>
                <c:pt idx="6">
                  <c:v>3.3823302469135803</c:v>
                </c:pt>
                <c:pt idx="7">
                  <c:v>4.283924897119341</c:v>
                </c:pt>
                <c:pt idx="8">
                  <c:v>4.173173868312757</c:v>
                </c:pt>
                <c:pt idx="9">
                  <c:v>4.7908179012345675</c:v>
                </c:pt>
                <c:pt idx="10">
                  <c:v>2.43315329218107</c:v>
                </c:pt>
                <c:pt idx="11">
                  <c:v>2.618698559670782</c:v>
                </c:pt>
                <c:pt idx="12">
                  <c:v>3.754861111111111</c:v>
                </c:pt>
                <c:pt idx="13">
                  <c:v>3.8046039094650204</c:v>
                </c:pt>
                <c:pt idx="14">
                  <c:v>2.9531121399176956</c:v>
                </c:pt>
                <c:pt idx="15">
                  <c:v>2.27445987654321</c:v>
                </c:pt>
                <c:pt idx="16">
                  <c:v>4.398276748971194</c:v>
                </c:pt>
                <c:pt idx="17">
                  <c:v>4.176414609053499</c:v>
                </c:pt>
                <c:pt idx="18">
                  <c:v>2.3496141975308644</c:v>
                </c:pt>
                <c:pt idx="19">
                  <c:v>3.2141718106995887</c:v>
                </c:pt>
                <c:pt idx="20">
                  <c:v>2.2886059670781895</c:v>
                </c:pt>
                <c:pt idx="21">
                  <c:v>2.980324074074074</c:v>
                </c:pt>
                <c:pt idx="22">
                  <c:v>2.2522890946502057</c:v>
                </c:pt>
                <c:pt idx="23">
                  <c:v>2.2896862139917697</c:v>
                </c:pt>
                <c:pt idx="24">
                  <c:v>3.1665895061728397</c:v>
                </c:pt>
                <c:pt idx="25">
                  <c:v>3.512628600823045</c:v>
                </c:pt>
                <c:pt idx="26">
                  <c:v>3.179655349794239</c:v>
                </c:pt>
                <c:pt idx="27">
                  <c:v>4.90841049382716</c:v>
                </c:pt>
                <c:pt idx="28">
                  <c:v>6.573251028806585</c:v>
                </c:pt>
                <c:pt idx="29">
                  <c:v>5.061265432098765</c:v>
                </c:pt>
                <c:pt idx="30">
                  <c:v>5.351748971193416</c:v>
                </c:pt>
                <c:pt idx="31">
                  <c:v>5.296553497942387</c:v>
                </c:pt>
                <c:pt idx="32">
                  <c:v>5.63641975308642</c:v>
                </c:pt>
                <c:pt idx="33">
                  <c:v>7.66764403292181</c:v>
                </c:pt>
                <c:pt idx="34">
                  <c:v>6.908744855967078</c:v>
                </c:pt>
                <c:pt idx="35">
                  <c:v>6.76712962962963</c:v>
                </c:pt>
                <c:pt idx="36">
                  <c:v>7.205761316872428</c:v>
                </c:pt>
                <c:pt idx="37">
                  <c:v>7.409825102880658</c:v>
                </c:pt>
                <c:pt idx="38">
                  <c:v>7.453395061728395</c:v>
                </c:pt>
                <c:pt idx="39">
                  <c:v>5.9661008230452675</c:v>
                </c:pt>
                <c:pt idx="40">
                  <c:v>5.799794238683128</c:v>
                </c:pt>
                <c:pt idx="41">
                  <c:v>6.695216049382716</c:v>
                </c:pt>
                <c:pt idx="42">
                  <c:v>5.9486625514403295</c:v>
                </c:pt>
                <c:pt idx="43">
                  <c:v>7.078652263374486</c:v>
                </c:pt>
                <c:pt idx="44">
                  <c:v>6.492592592592592</c:v>
                </c:pt>
                <c:pt idx="45">
                  <c:v>6.153446502057613</c:v>
                </c:pt>
                <c:pt idx="46">
                  <c:v>7.246399176954732</c:v>
                </c:pt>
                <c:pt idx="47">
                  <c:v>5.845524691358024</c:v>
                </c:pt>
                <c:pt idx="48">
                  <c:v>5.580452674897119</c:v>
                </c:pt>
                <c:pt idx="49">
                  <c:v>5.3030349794238685</c:v>
                </c:pt>
                <c:pt idx="50">
                  <c:v>6.754012345679012</c:v>
                </c:pt>
                <c:pt idx="51">
                  <c:v>6.229681069958848</c:v>
                </c:pt>
                <c:pt idx="52">
                  <c:v>6.2485596707818925</c:v>
                </c:pt>
                <c:pt idx="53">
                  <c:v>5.218055555555556</c:v>
                </c:pt>
                <c:pt idx="54">
                  <c:v>7.101131687242798</c:v>
                </c:pt>
                <c:pt idx="55">
                  <c:v>6.082973251028807</c:v>
                </c:pt>
              </c:numCache>
            </c:numRef>
          </c:xVal>
          <c:yVal>
            <c:numRef>
              <c:f>Sheet1!$C$2:$C$57</c:f>
              <c:numCache>
                <c:formatCode>General</c:formatCode>
                <c:ptCount val="5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7.441782407407407</c:v>
                </c:pt>
                <c:pt idx="29">
                  <c:v>5.463747427983539</c:v>
                </c:pt>
                <c:pt idx="30">
                  <c:v>7.251144547325103</c:v>
                </c:pt>
                <c:pt idx="31">
                  <c:v>6.878047839506173</c:v>
                </c:pt>
                <c:pt idx="32">
                  <c:v>5.974086934156379</c:v>
                </c:pt>
                <c:pt idx="33">
                  <c:v>7.391113683127572</c:v>
                </c:pt>
                <c:pt idx="34">
                  <c:v>7.869868827160494</c:v>
                </c:pt>
                <c:pt idx="35">
                  <c:v>7.706648662551441</c:v>
                </c:pt>
                <c:pt idx="36">
                  <c:v>7.41997170781893</c:v>
                </c:pt>
                <c:pt idx="37">
                  <c:v>6.41724537037037</c:v>
                </c:pt>
                <c:pt idx="38">
                  <c:v>6.661432613168724</c:v>
                </c:pt>
                <c:pt idx="39">
                  <c:v>6.337718621399177</c:v>
                </c:pt>
                <c:pt idx="40">
                  <c:v>7.5201774691358025</c:v>
                </c:pt>
                <c:pt idx="41">
                  <c:v>7.83843878600823</c:v>
                </c:pt>
                <c:pt idx="42">
                  <c:v>6.144354423868313</c:v>
                </c:pt>
                <c:pt idx="43">
                  <c:v>7.17866512345679</c:v>
                </c:pt>
                <c:pt idx="44">
                  <c:v>7.237667181069959</c:v>
                </c:pt>
                <c:pt idx="45">
                  <c:v>5.839879115226338</c:v>
                </c:pt>
                <c:pt idx="46">
                  <c:v>7.392708333333333</c:v>
                </c:pt>
                <c:pt idx="47">
                  <c:v>6.85911779835391</c:v>
                </c:pt>
                <c:pt idx="48">
                  <c:v>7.424292695473251</c:v>
                </c:pt>
                <c:pt idx="49">
                  <c:v>7.162307098765432</c:v>
                </c:pt>
                <c:pt idx="50">
                  <c:v>5.702790637860082</c:v>
                </c:pt>
                <c:pt idx="51">
                  <c:v>6.897595164609053</c:v>
                </c:pt>
                <c:pt idx="52">
                  <c:v>5.487461419753086</c:v>
                </c:pt>
                <c:pt idx="53">
                  <c:v>5.768685699588477</c:v>
                </c:pt>
                <c:pt idx="54">
                  <c:v>6.259786522633744</c:v>
                </c:pt>
                <c:pt idx="55">
                  <c:v>7.368171296296296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9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9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3AAFA9"/>
            </a:solidFill>
            <a:ln w="44450" cap="flat">
              <a:solidFill>
                <a:srgbClr val="3AAF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AFA9"/>
              </a:solidFill>
              <a:ln w="9525" cap="flat">
                <a:solidFill>
                  <a:srgbClr val="3AAF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0.0019267346633274757</c:v>
                </c:pt>
                <c:pt idx="1">
                  <c:v>0.0026316739748845795</c:v>
                </c:pt>
                <c:pt idx="2">
                  <c:v>0.00359360258142009</c:v>
                </c:pt>
                <c:pt idx="3">
                  <c:v>0.004905405705722035</c:v>
                </c:pt>
                <c:pt idx="4">
                  <c:v>0.0066928509242848554</c:v>
                </c:pt>
                <c:pt idx="5">
                  <c:v>0.00912563738918052</c:v>
                </c:pt>
                <c:pt idx="6">
                  <c:v>0.01243165085318582</c:v>
                </c:pt>
                <c:pt idx="7">
                  <c:v>0.01691491326672651</c:v>
                </c:pt>
                <c:pt idx="8">
                  <c:v>0.022977369910025615</c:v>
                </c:pt>
                <c:pt idx="9">
                  <c:v>0.03114383053477846</c:v>
                </c:pt>
                <c:pt idx="10">
                  <c:v>0.042087727915618836</c:v>
                </c:pt>
                <c:pt idx="11">
                  <c:v>0.05665242530797383</c:v>
                </c:pt>
                <c:pt idx="12">
                  <c:v>0.07585818002124355</c:v>
                </c:pt>
                <c:pt idx="13">
                  <c:v>0.10087862273005652</c:v>
                </c:pt>
                <c:pt idx="14">
                  <c:v>0.13296424019782926</c:v>
                </c:pt>
                <c:pt idx="15">
                  <c:v>0.1732882059293266</c:v>
                </c:pt>
                <c:pt idx="16">
                  <c:v>0.22270013882530884</c:v>
                </c:pt>
                <c:pt idx="17">
                  <c:v>0.28140560742914383</c:v>
                </c:pt>
                <c:pt idx="18">
                  <c:v>0.34864513533394575</c:v>
                </c:pt>
                <c:pt idx="19">
                  <c:v>0.4225046348141883</c:v>
                </c:pt>
                <c:pt idx="20">
                  <c:v>0.5</c:v>
                </c:pt>
                <c:pt idx="21">
                  <c:v>0.5774953651858118</c:v>
                </c:pt>
                <c:pt idx="22">
                  <c:v>0.6513548646660542</c:v>
                </c:pt>
                <c:pt idx="23">
                  <c:v>0.7185943925708561</c:v>
                </c:pt>
                <c:pt idx="24">
                  <c:v>0.7772998611746911</c:v>
                </c:pt>
                <c:pt idx="25">
                  <c:v>0.8267117940706734</c:v>
                </c:pt>
                <c:pt idx="26">
                  <c:v>0.8670357598021706</c:v>
                </c:pt>
                <c:pt idx="27">
                  <c:v>0.8991213772699436</c:v>
                </c:pt>
                <c:pt idx="28">
                  <c:v>0.9241418199787566</c:v>
                </c:pt>
                <c:pt idx="29">
                  <c:v>0.9433475746920261</c:v>
                </c:pt>
                <c:pt idx="30">
                  <c:v>0.9579122720843811</c:v>
                </c:pt>
                <c:pt idx="31">
                  <c:v>0.9688561694652216</c:v>
                </c:pt>
                <c:pt idx="32">
                  <c:v>0.9770226300899744</c:v>
                </c:pt>
                <c:pt idx="33">
                  <c:v>0.9830850867332734</c:v>
                </c:pt>
                <c:pt idx="34">
                  <c:v>0.9875683491468141</c:v>
                </c:pt>
                <c:pt idx="35">
                  <c:v>0.9908743626108194</c:v>
                </c:pt>
                <c:pt idx="36">
                  <c:v>0.9933071490757153</c:v>
                </c:pt>
                <c:pt idx="37">
                  <c:v>0.9950945942942779</c:v>
                </c:pt>
                <c:pt idx="38">
                  <c:v>0.9964063974185798</c:v>
                </c:pt>
                <c:pt idx="39">
                  <c:v>0.9973683260251155</c:v>
                </c:pt>
                <c:pt idx="40">
                  <c:v>0.9980732653366725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</c:v>
                </c:pt>
              </c:strCache>
            </c:strRef>
          </c:tx>
          <c:spPr>
            <a:solidFill>
              <a:srgbClr val="3AAFA9"/>
            </a:solidFill>
            <a:ln w="44450" cap="flat">
              <a:solidFill>
                <a:srgbClr val="3AAF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AFA9"/>
              </a:solidFill>
              <a:ln w="9525" cap="flat">
                <a:solidFill>
                  <a:srgbClr val="3AAF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0.3834161494676054</c:v>
                </c:pt>
                <c:pt idx="2">
                  <c:v>0.47863009232263837</c:v>
                </c:pt>
                <c:pt idx="3">
                  <c:v>0.54494064682186</c:v>
                </c:pt>
                <c:pt idx="4">
                  <c:v>0.5974885658699484</c:v>
                </c:pt>
                <c:pt idx="5">
                  <c:v>0.6417129487814521</c:v>
                </c:pt>
                <c:pt idx="6">
                  <c:v>0.680266056765932</c:v>
                </c:pt>
                <c:pt idx="7">
                  <c:v>0.7146637834355598</c:v>
                </c:pt>
                <c:pt idx="8">
                  <c:v>0.7458632293948695</c:v>
                </c:pt>
                <c:pt idx="9">
                  <c:v>0.7745117386708229</c:v>
                </c:pt>
                <c:pt idx="10">
                  <c:v>0.8010698775896221</c:v>
                </c:pt>
                <c:pt idx="11">
                  <c:v>0.8258783104359645</c:v>
                </c:pt>
                <c:pt idx="12">
                  <c:v>0.849196900041751</c:v>
                </c:pt>
                <c:pt idx="13">
                  <c:v>0.8712289018544589</c:v>
                </c:pt>
                <c:pt idx="14">
                  <c:v>0.892136633056215</c:v>
                </c:pt>
                <c:pt idx="15">
                  <c:v>0.9120520089425007</c:v>
                </c:pt>
                <c:pt idx="16">
                  <c:v>0.9310838545560264</c:v>
                </c:pt>
                <c:pt idx="17">
                  <c:v>0.949323116358331</c:v>
                </c:pt>
                <c:pt idx="18">
                  <c:v>0.9668466638656902</c:v>
                </c:pt>
                <c:pt idx="19">
                  <c:v>0.98372011909332</c:v>
                </c:pt>
                <c:pt idx="20">
                  <c:v>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D6A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Majority</c:v>
                  </c:pt>
                  <c:pt idx="1">
                    <c:v>Minority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950</c:v>
                </c:pt>
                <c:pt idx="1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8-1.png"/><Relationship Id="rId3" Type="http://schemas.openxmlformats.org/officeDocument/2006/relationships/image" Target="../media/image-1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tag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8  ·  PHASE D — MODELLING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Classification</a:t>
            </a:r>
            <a:endParaRPr lang="en-US" sz="4700" dirty="0"/>
          </a:p>
        </p:txBody>
      </p:sp>
      <p:sp>
        <p:nvSpPr>
          <p:cNvPr id="8" name="Text 5"/>
          <p:cNvSpPr/>
          <p:nvPr/>
        </p:nvSpPr>
        <p:spPr>
          <a:xfrm>
            <a:off x="841248" y="33467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1 — </a:t>
            </a:r>
            <a:pPr algn="l" indent="0" marL="0">
              <a:buNone/>
            </a:pPr>
            <a:r>
              <a:rPr lang="en-US" sz="22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Logistic Regression &amp; Evaluating Classifiers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boundaries · the sigmoid · thresholds · confusion matrix · ROC &amp; AUC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U16  ·  Phase D  ·  22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Predicting categories, not numbers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example to a class — spam/not, churn/stay, defect/ok. We start with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workhorse classifier, and learn to evaluate it honestly.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ta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8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boundaries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functi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944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sigmoid workhorse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percen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230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&amp; thresholds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crosshai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516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confusion, ROC, AUC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zoo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models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9802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kNN, NB, multiclass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U14 (supervised workflow) and U13 (cross-entropy is just another loss to minimise).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(Part 1)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ta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Classes &amp; decision boundaries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classification predicts, and the boundary a model draws between classes.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Part 1 · Phase D  ·  01 / 22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CATEGORY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classification?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pPr algn="l" indent="0" marL="0"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which class an example belongs to — and usually a probability for each class.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3584448" cy="18288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606040"/>
            <a:ext cx="3584448" cy="512064"/>
          </a:xfrm>
          <a:prstGeom prst="roundRect">
            <a:avLst>
              <a:gd name="adj" fmla="val 17857"/>
            </a:avLst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606040"/>
            <a:ext cx="3035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326440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3685032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/ not · churn / stay · pass / fail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15968" y="2606040"/>
            <a:ext cx="3584448" cy="18288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4315968" y="2606040"/>
            <a:ext cx="3584448" cy="512064"/>
          </a:xfrm>
          <a:prstGeom prst="roundRect">
            <a:avLst>
              <a:gd name="adj" fmla="val 17857"/>
            </a:avLst>
          </a:prstGeom>
          <a:solidFill>
            <a:srgbClr val="3AAFA9"/>
          </a:solidFill>
          <a:ln/>
        </p:spPr>
      </p:sp>
      <p:sp>
        <p:nvSpPr>
          <p:cNvPr id="15" name="Text 12"/>
          <p:cNvSpPr/>
          <p:nvPr/>
        </p:nvSpPr>
        <p:spPr>
          <a:xfrm>
            <a:off x="4590288" y="2606040"/>
            <a:ext cx="3035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90288" y="326440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exclusive classes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90288" y="3685032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0–9 · product category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083296" y="2606040"/>
            <a:ext cx="3584448" cy="182880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/>
        </p:spPr>
      </p:sp>
      <p:sp>
        <p:nvSpPr>
          <p:cNvPr id="19" name="Shape 16"/>
          <p:cNvSpPr/>
          <p:nvPr/>
        </p:nvSpPr>
        <p:spPr>
          <a:xfrm>
            <a:off x="8083296" y="2606040"/>
            <a:ext cx="3584448" cy="512064"/>
          </a:xfrm>
          <a:prstGeom prst="roundRect">
            <a:avLst>
              <a:gd name="adj" fmla="val 17857"/>
            </a:avLst>
          </a:prstGeom>
          <a:solidFill>
            <a:srgbClr val="F4B942"/>
          </a:solidFill>
          <a:ln/>
        </p:spPr>
      </p:sp>
      <p:sp>
        <p:nvSpPr>
          <p:cNvPr id="20" name="Text 17"/>
          <p:cNvSpPr/>
          <p:nvPr/>
        </p:nvSpPr>
        <p:spPr>
          <a:xfrm>
            <a:off x="8357616" y="2606040"/>
            <a:ext cx="3035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10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MULTILABEL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357616" y="3264408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tags at once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357616" y="3685032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tagged 'cat' AND 'outdoor'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unit focuses on binary classification; the same ideas extend to multiclass at the end.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(Part 1)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CONTRAST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Classification vs regression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6263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20624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55280" y="1783080"/>
            <a:ext cx="356616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42316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423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206240" y="2423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label (+ probability)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55280" y="2423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number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0449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0449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206240" y="30449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this customer churn?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955280" y="30449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they spend?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6667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366674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206240" y="36667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/ log-loss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955280" y="366674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/ MAE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42885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42885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206240" y="42885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ROC-AUC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955280" y="42885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R²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(Part 1)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olyg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decision boundary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where the model switches its predicted class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draw a straight line / plane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models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draw curved, complex boundaries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separate the classes well, without overfitting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boundary separating two classes</a:t>
            </a:r>
            <a:endParaRPr lang="en-US" sz="11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6858000" y="4572000"/>
            <a:ext cx="4114800" cy="-2377440"/>
          </a:xfrm>
          <a:prstGeom prst="line">
            <a:avLst/>
          </a:prstGeom>
          <a:noFill/>
          <a:ln w="38100">
            <a:solidFill>
              <a:srgbClr val="F4B942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6217920" y="464515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vs red, split by the gold boundary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(Part 1)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func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WORKHORSE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Logistic regression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linear score into a probability, then into a class.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Part 1 · Phase D  ·  02 / 22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func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SCORE → PROBABILITY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sigmoid function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792224"/>
            <a:ext cx="50749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σ(z) = 1 / (1 + e⁻ᶻ)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31520" y="227685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w·x + b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29443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3464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Squashes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any score z into a 0–1 probability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3602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349300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S-shaped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smooth, steep near the middle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426110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4151376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0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gives probability 0.5 (the boundary)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sigmoid maps scores to probabilities</a:t>
            </a:r>
            <a:endParaRPr lang="en-US" sz="11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217920" y="1920240"/>
          <a:ext cx="54223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Shape 13"/>
          <p:cNvSpPr/>
          <p:nvPr/>
        </p:nvSpPr>
        <p:spPr>
          <a:xfrm>
            <a:off x="8933688" y="2057400"/>
            <a:ext cx="0" cy="260604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18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(Part 1)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erce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DIRECTION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Logit, odds &amp; interpretation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837944"/>
            <a:ext cx="10725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log( p / (1−p) )  =  w·x + b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31520" y="2322576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log-odds (logit) is linear in the features — that's what the model fits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1472184" y="33467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1" name="Image 1" descr="ic_perce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35478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" y="42245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p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94944" y="4535424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of the positive class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3346704" y="310896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4270248" y="33467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ba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5478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56432" y="42245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= p/(1−p)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493008" y="4535424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of success to failure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6144768" y="310896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7068312" y="33467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1" name="Image 3" descr="ic_functi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354787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54496" y="42245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= log-odds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291072" y="4535424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in the features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8942832" y="310896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9866376" y="33467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6" name="Image 4" descr="ic_tren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3547872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52560" y="42245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089136" y="4535424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unit multiplies the odds by eʷ</a:t>
            </a:r>
            <a:endParaRPr lang="en-US" sz="1030" dirty="0"/>
          </a:p>
        </p:txBody>
      </p:sp>
      <p:sp>
        <p:nvSpPr>
          <p:cNvPr id="29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(Part 1)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func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MINIMISE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Cross-entropy (log-loss)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837944"/>
            <a:ext cx="10725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−(1/n) Σ [ y·log(p) + (1−y)·log(1−p) ]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31520" y="2368296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punishes confident wrong predictions hardest — minimised by gradient descent (U13)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31729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3063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&amp; right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tiny loss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38313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37216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moderate loss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66928" y="448970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437997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&amp; wrong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huge loss — the model is penalised hard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66928" y="514807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" y="503834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gradient descent finds w, b that minimise it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(Part 1)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rosshai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PROBABILITY TO DECISION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Probabilities &amp; the threshold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probability, e.g. P(churn) = 0.72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predict positive if p ≥ 0.5 (default)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lower → catch more positives (recall ↑)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higher → fewer false alarms (precision ↑)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2103120"/>
            <a:ext cx="5422392" cy="1463040"/>
          </a:xfrm>
          <a:prstGeom prst="roundRect">
            <a:avLst>
              <a:gd name="adj" fmla="val 6250"/>
            </a:avLst>
          </a:prstGeom>
          <a:solidFill>
            <a:srgbClr val="F2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0" y="2743200"/>
            <a:ext cx="310896" cy="310896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6" name="Shape 13"/>
          <p:cNvSpPr/>
          <p:nvPr/>
        </p:nvSpPr>
        <p:spPr>
          <a:xfrm>
            <a:off x="6903720" y="2743200"/>
            <a:ext cx="310896" cy="310896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7" name="Shape 14"/>
          <p:cNvSpPr/>
          <p:nvPr/>
        </p:nvSpPr>
        <p:spPr>
          <a:xfrm>
            <a:off x="7406640" y="2743200"/>
            <a:ext cx="310896" cy="310896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8" name="Shape 15"/>
          <p:cNvSpPr/>
          <p:nvPr/>
        </p:nvSpPr>
        <p:spPr>
          <a:xfrm>
            <a:off x="7909560" y="2743200"/>
            <a:ext cx="310896" cy="310896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19" name="Shape 16"/>
          <p:cNvSpPr/>
          <p:nvPr/>
        </p:nvSpPr>
        <p:spPr>
          <a:xfrm>
            <a:off x="8412480" y="2743200"/>
            <a:ext cx="310896" cy="310896"/>
          </a:xfrm>
          <a:prstGeom prst="ellipse">
            <a:avLst/>
          </a:prstGeom>
          <a:solidFill>
            <a:srgbClr val="2D6A9F"/>
          </a:solidFill>
          <a:ln/>
        </p:spPr>
      </p:sp>
      <p:sp>
        <p:nvSpPr>
          <p:cNvPr id="20" name="Shape 17"/>
          <p:cNvSpPr/>
          <p:nvPr/>
        </p:nvSpPr>
        <p:spPr>
          <a:xfrm>
            <a:off x="8915400" y="274320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Shape 18"/>
          <p:cNvSpPr/>
          <p:nvPr/>
        </p:nvSpPr>
        <p:spPr>
          <a:xfrm>
            <a:off x="9418320" y="274320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Shape 19"/>
          <p:cNvSpPr/>
          <p:nvPr/>
        </p:nvSpPr>
        <p:spPr>
          <a:xfrm>
            <a:off x="9921240" y="274320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Shape 20"/>
          <p:cNvSpPr/>
          <p:nvPr/>
        </p:nvSpPr>
        <p:spPr>
          <a:xfrm>
            <a:off x="10424160" y="274320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Shape 21"/>
          <p:cNvSpPr/>
          <p:nvPr/>
        </p:nvSpPr>
        <p:spPr>
          <a:xfrm>
            <a:off x="10927080" y="274320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Shape 22"/>
          <p:cNvSpPr/>
          <p:nvPr/>
        </p:nvSpPr>
        <p:spPr>
          <a:xfrm>
            <a:off x="8732520" y="2331720"/>
            <a:ext cx="0" cy="1005840"/>
          </a:xfrm>
          <a:prstGeom prst="line">
            <a:avLst/>
          </a:prstGeom>
          <a:noFill/>
          <a:ln w="31750">
            <a:solidFill>
              <a:srgbClr val="F4B942"/>
            </a:solidFill>
            <a:prstDash val="dash"/>
          </a:ln>
        </p:spPr>
      </p:sp>
      <p:sp>
        <p:nvSpPr>
          <p:cNvPr id="26" name="Text 23"/>
          <p:cNvSpPr/>
          <p:nvPr/>
        </p:nvSpPr>
        <p:spPr>
          <a:xfrm>
            <a:off x="822960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0.5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217920" y="36576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predicted negative · red = predicted positive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is a business choice, not a model parameter — set it by the cost of each error type.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(Part 1)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MODEL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Interpreting coefficients (odds)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positive raises the odds of the positive class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bigger = stronger effect on the odds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eʷ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odds-ratio: the multiplier per +1 unit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first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 coefficients are comparable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37360"/>
            <a:ext cx="5422392" cy="2468880"/>
          </a:xfrm>
          <a:prstGeom prst="roundRect">
            <a:avLst>
              <a:gd name="adj" fmla="val 3704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predicting churn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0" y="2377440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0" y="22768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↑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692640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×1.8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0" y="2944368"/>
            <a:ext cx="164592" cy="164592"/>
          </a:xfrm>
          <a:prstGeom prst="ellipse">
            <a:avLst/>
          </a:prstGeom>
          <a:solidFill>
            <a:srgbClr val="2E6B43"/>
          </a:solidFill>
          <a:ln/>
        </p:spPr>
      </p:sp>
      <p:sp>
        <p:nvSpPr>
          <p:cNvPr id="20" name="Text 17"/>
          <p:cNvSpPr/>
          <p:nvPr/>
        </p:nvSpPr>
        <p:spPr>
          <a:xfrm>
            <a:off x="6675120" y="28437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↑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692640" y="28437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×0.6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0" y="3511296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0"/>
          <p:cNvSpPr/>
          <p:nvPr/>
        </p:nvSpPr>
        <p:spPr>
          <a:xfrm>
            <a:off x="6675120" y="34107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 ↑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692640" y="34107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×1.3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48640" y="4343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Odds-ratios make logistic regression interpretable — a key reason it stays a go-to baseline.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(Part 1)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crosshai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Judging a classifier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isn't enough — the confusion matrix and ROC tell the real story.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Part 1 · Phase D  ·  03 / 22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hlis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confusion matrix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22960" y="192024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E6F2EA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0848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2578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37560" y="192024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FBEAE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37560" y="20848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337560" y="2578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320040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FBEAE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3649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22960" y="3858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337560" y="320040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E6F2EA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37560" y="33649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337560" y="3858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22960" y="162763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44768" y="184708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7"/>
          <p:cNvSpPr/>
          <p:nvPr/>
        </p:nvSpPr>
        <p:spPr>
          <a:xfrm>
            <a:off x="6419088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TN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correct predictions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144768" y="256032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2" name="Text 19"/>
          <p:cNvSpPr/>
          <p:nvPr/>
        </p:nvSpPr>
        <p:spPr>
          <a:xfrm>
            <a:off x="6419088" y="24505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false alarm (type I error)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144768" y="32735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4" name="Text 21"/>
          <p:cNvSpPr/>
          <p:nvPr/>
        </p:nvSpPr>
        <p:spPr>
          <a:xfrm>
            <a:off x="6419088" y="316382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missed positive (type II error)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144768" y="398678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6" name="Text 23"/>
          <p:cNvSpPr/>
          <p:nvPr/>
        </p:nvSpPr>
        <p:spPr>
          <a:xfrm>
            <a:off x="6419088" y="387705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metric is built from these four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(Part 1)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ul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METRICS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Precision, recall &amp; F1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584448" cy="2057400"/>
          </a:xfrm>
          <a:prstGeom prst="roundRect">
            <a:avLst>
              <a:gd name="adj" fmla="val 4444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37360"/>
            <a:ext cx="3584448" cy="493776"/>
          </a:xfrm>
          <a:prstGeom prst="roundRect">
            <a:avLst>
              <a:gd name="adj" fmla="val 18519"/>
            </a:avLst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37360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7240" y="2359152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16263F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359152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/ (TP + FP)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2907792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flagged positive, how many really are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15968" y="1737360"/>
            <a:ext cx="3584448" cy="2057400"/>
          </a:xfrm>
          <a:prstGeom prst="roundRect">
            <a:avLst>
              <a:gd name="adj" fmla="val 4444"/>
            </a:avLst>
          </a:prstGeom>
          <a:solidFill>
            <a:srgbClr val="F2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315968" y="1737360"/>
            <a:ext cx="3584448" cy="493776"/>
          </a:xfrm>
          <a:prstGeom prst="roundRect">
            <a:avLst>
              <a:gd name="adj" fmla="val 18519"/>
            </a:avLst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4544568" y="1737360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44568" y="2359152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16263F"/>
          </a:solidFill>
          <a:ln/>
        </p:spPr>
      </p:sp>
      <p:sp>
        <p:nvSpPr>
          <p:cNvPr id="16" name="Text 13"/>
          <p:cNvSpPr/>
          <p:nvPr/>
        </p:nvSpPr>
        <p:spPr>
          <a:xfrm>
            <a:off x="4544568" y="2359152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/ (TP + FN)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44568" y="2907792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real positives, how many we caught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083296" y="1737360"/>
            <a:ext cx="3584448" cy="2057400"/>
          </a:xfrm>
          <a:prstGeom prst="roundRect">
            <a:avLst>
              <a:gd name="adj" fmla="val 4444"/>
            </a:avLst>
          </a:prstGeom>
          <a:solidFill>
            <a:srgbClr val="F2F5F9"/>
          </a:solidFill>
          <a:ln/>
        </p:spPr>
      </p:sp>
      <p:sp>
        <p:nvSpPr>
          <p:cNvPr id="19" name="Shape 16"/>
          <p:cNvSpPr/>
          <p:nvPr/>
        </p:nvSpPr>
        <p:spPr>
          <a:xfrm>
            <a:off x="8083296" y="1737360"/>
            <a:ext cx="3584448" cy="493776"/>
          </a:xfrm>
          <a:prstGeom prst="roundRect">
            <a:avLst>
              <a:gd name="adj" fmla="val 18519"/>
            </a:avLst>
          </a:prstGeom>
          <a:solidFill>
            <a:srgbClr val="F4B942"/>
          </a:solidFill>
          <a:ln/>
        </p:spPr>
      </p:sp>
      <p:sp>
        <p:nvSpPr>
          <p:cNvPr id="20" name="Text 17"/>
          <p:cNvSpPr/>
          <p:nvPr/>
        </p:nvSpPr>
        <p:spPr>
          <a:xfrm>
            <a:off x="8311896" y="1737360"/>
            <a:ext cx="31272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10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311896" y="2359152"/>
            <a:ext cx="3127248" cy="457200"/>
          </a:xfrm>
          <a:prstGeom prst="roundRect">
            <a:avLst>
              <a:gd name="adj" fmla="val 12000"/>
            </a:avLst>
          </a:prstGeom>
          <a:solidFill>
            <a:srgbClr val="16263F"/>
          </a:solidFill>
          <a:ln/>
        </p:spPr>
      </p:sp>
      <p:sp>
        <p:nvSpPr>
          <p:cNvPr id="22" name="Text 19"/>
          <p:cNvSpPr/>
          <p:nvPr/>
        </p:nvSpPr>
        <p:spPr>
          <a:xfrm>
            <a:off x="8311896" y="2359152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2·P·R / (P + R)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8311896" y="2907792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of precision and recall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40690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F1D8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4069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trade-off: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recall (catch more positives) usually lowers precision (more false alarms). F1 balances them; the right point depends on which error costs more.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(Part 1)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artarea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THRESHOLDS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ROC curve &amp; AUC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true-positive rate vs false-positive rate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threshold setting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area under it — 1.0 perfect, 0.5 random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single threshold-independent score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(higher &amp; lefter = better)</a:t>
            </a:r>
            <a:endParaRPr lang="en-US" sz="11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6355080" y="4617720"/>
            <a:ext cx="5074920" cy="-2606040"/>
          </a:xfrm>
          <a:prstGeom prst="line">
            <a:avLst/>
          </a:prstGeom>
          <a:noFill/>
          <a:ln w="19050">
            <a:solidFill>
              <a:srgbClr val="5C6B7A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6217920" y="464515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= random (AUC 0.5)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(Part 1)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rosshai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OPERATING POINT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Threshold tuning &amp; the PR curve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crosshai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by cost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a false alarm vs a missed positive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tren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curve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vs recall across thresholds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balanc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Imbalanced?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PR-AUC over ROC-AUC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percen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threshold you deployed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22960" y="4297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algn="l" indent="0" marL="0">
              <a:buNone/>
            </a:pP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rare-positive problems (fraud, disease), the precision–recall curve is far more informative than ROC.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(Part 1)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CLASS IS RARE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Handling class imbalance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99% accuracy by always predicting 'majority'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metrics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recall, F1, PR-AUC — not accuracy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penalise minority errors more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SMOTE oversample / undersample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62763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95 / 5 class split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7" name="Shape 1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8" name="Image 1" descr="ic_flas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 imbalanced target, compare accuracy vs recall with and without class_weight='balanced'.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(Part 1)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z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TOOLS &amp; PRACTICE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Other classifiers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tour of alternatives, multiclass, and the end-to-end code.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· Part 1 · Phase D  ·  04 / 22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z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LOGISTIC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Other classifiers &amp; multiclass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195681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gro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157984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79806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94944" y="3145536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of the nearest neighbours</a:t>
            </a:r>
            <a:endParaRPr lang="en-US" sz="980" dirty="0"/>
          </a:p>
        </p:txBody>
      </p:sp>
      <p:sp>
        <p:nvSpPr>
          <p:cNvPr id="11" name="Shape 7"/>
          <p:cNvSpPr/>
          <p:nvPr/>
        </p:nvSpPr>
        <p:spPr>
          <a:xfrm>
            <a:off x="3346704" y="173736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195681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percen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157984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38144" y="279806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493008" y="3145536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probabilistic; great for text</a:t>
            </a:r>
            <a:endParaRPr lang="en-US" sz="980" dirty="0"/>
          </a:p>
        </p:txBody>
      </p:sp>
      <p:sp>
        <p:nvSpPr>
          <p:cNvPr id="16" name="Shape 11"/>
          <p:cNvSpPr/>
          <p:nvPr/>
        </p:nvSpPr>
        <p:spPr>
          <a:xfrm>
            <a:off x="6144768" y="173736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195681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tre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157984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36208" y="279806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291072" y="3145536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 rules; interpretable</a:t>
            </a:r>
            <a:endParaRPr lang="en-US" sz="980" dirty="0"/>
          </a:p>
        </p:txBody>
      </p:sp>
      <p:sp>
        <p:nvSpPr>
          <p:cNvPr id="21" name="Shape 15"/>
          <p:cNvSpPr/>
          <p:nvPr/>
        </p:nvSpPr>
        <p:spPr>
          <a:xfrm>
            <a:off x="8942832" y="173736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195681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polygo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157984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34272" y="279806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9089136" y="3145536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maximum-margin boundary</a:t>
            </a:r>
            <a:endParaRPr lang="en-US" sz="980" dirty="0"/>
          </a:p>
        </p:txBody>
      </p:sp>
      <p:sp>
        <p:nvSpPr>
          <p:cNvPr id="26" name="Shape 19"/>
          <p:cNvSpPr/>
          <p:nvPr/>
        </p:nvSpPr>
        <p:spPr>
          <a:xfrm>
            <a:off x="548640" y="420624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06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Multiclass:  </a:t>
            </a:r>
            <a:pPr algn="l" indent="0" marL="0">
              <a:buNone/>
            </a:pPr>
            <a:r>
              <a:rPr lang="en-US" sz="12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one-vs-rest trains one binary model per class; softmax (multinomial) generalises logistic regression to many classes directly.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(Part 1)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Worked example &amp; pitfalls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513832" cy="2926080"/>
          </a:xfrm>
          <a:prstGeom prst="roundRect">
            <a:avLst>
              <a:gd name="adj" fmla="val 1875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94944" y="183794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841248" y="183794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987552" y="183794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1764792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classify.py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9808" y="2075688"/>
            <a:ext cx="511149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classification_report, roc_auc_score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 = LogisticRegression(max_iter=1000,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class_weight='balanced')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clf.fit(X_train, y_train)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 = clf.predict_proba(X_test)[:,1]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print(roc_auc_score(y_test, proba))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print(classification_report(y_test,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clf.predict(X_test)))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355080" y="178308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55080" y="2258568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6629400" y="213969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by accuracy on imbalanced data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55080" y="2761488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3"/>
          <p:cNvSpPr/>
          <p:nvPr/>
        </p:nvSpPr>
        <p:spPr>
          <a:xfrm>
            <a:off x="6629400" y="26426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scale (for logistic / kNN / SVM)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55080" y="3264408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5"/>
          <p:cNvSpPr/>
          <p:nvPr/>
        </p:nvSpPr>
        <p:spPr>
          <a:xfrm>
            <a:off x="6629400" y="314553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the threshold at 0.5 blindly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355080" y="3767328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7"/>
          <p:cNvSpPr/>
          <p:nvPr/>
        </p:nvSpPr>
        <p:spPr>
          <a:xfrm>
            <a:off x="6629400" y="364845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the threshold on the test set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355080" y="4270248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6629400" y="415137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probability calibration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(Part 1)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predicts a class + probability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sigmoid of w·x+b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by minimising cross-entropy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is a business choice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confusion matrix, F1, ROC-AUC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logistic-regression classifier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confusion matrix &amp; report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ROC curve; compute AUC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threshold for higher recall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a coefficient as an odds-ratio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U17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(Part 2) — trees, ensembles &amp; tuning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94192" y="34107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979408" y="3364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trees, random forests, boosting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ta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turns a linear score into a probability; the art is choosing the threshold and judging the model with the right metric.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 · Classification (Part 1)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2026-06-11T12:54:16Z</dcterms:created>
  <dcterms:modified xsi:type="dcterms:W3CDTF">2026-06-11T12:54:16Z</dcterms:modified>
</cp:coreProperties>
</file>