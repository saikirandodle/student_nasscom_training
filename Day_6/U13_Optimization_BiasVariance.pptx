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0.1</c:v>
                </c:pt>
                <c:pt idx="1">
                  <c:v>0.08948393168143698</c:v>
                </c:pt>
                <c:pt idx="2">
                  <c:v>0.08007374029168081</c:v>
                </c:pt>
                <c:pt idx="3">
                  <c:v>0.07165313105737893</c:v>
                </c:pt>
                <c:pt idx="4">
                  <c:v>0.06411803884299547</c:v>
                </c:pt>
                <c:pt idx="5">
                  <c:v>0.05737534207374328</c:v>
                </c:pt>
                <c:pt idx="6">
                  <c:v>0.0513417119032592</c:v>
                </c:pt>
                <c:pt idx="7">
                  <c:v>0.04594258240359266</c:v>
                </c:pt>
                <c:pt idx="8">
                  <c:v>0.04111122905071875</c:v>
                </c:pt>
                <c:pt idx="9">
                  <c:v>0.036787944117144235</c:v>
                </c:pt>
                <c:pt idx="10">
                  <c:v>0.03291929878079056</c:v>
                </c:pt>
                <c:pt idx="11">
                  <c:v>0.029457482831010736</c:v>
                </c:pt>
                <c:pt idx="12">
                  <c:v>0.026359713811572677</c:v>
                </c:pt>
                <c:pt idx="13">
                  <c:v>0.02358770829857</c:v>
                </c:pt>
                <c:pt idx="14">
                  <c:v>0.021107208779109023</c:v>
                </c:pt>
                <c:pt idx="15">
                  <c:v>0.018887560283756183</c:v>
                </c:pt>
                <c:pt idx="16">
                  <c:v>0.01690133154060661</c:v>
                </c:pt>
                <c:pt idx="17">
                  <c:v>0.015123975969049578</c:v>
                </c:pt>
                <c:pt idx="18">
                  <c:v>0.013533528323661271</c:v>
                </c:pt>
                <c:pt idx="19">
                  <c:v>0.012110333239232975</c:v>
                </c:pt>
                <c:pt idx="20">
                  <c:v>0.010836802322189587</c:v>
                </c:pt>
                <c:pt idx="21">
                  <c:v>0.009697196786440506</c:v>
                </c:pt>
                <c:pt idx="22">
                  <c:v>0.008677432947392923</c:v>
                </c:pt>
                <c:pt idx="23">
                  <c:v>0.00776490817034759</c:v>
                </c:pt>
                <c:pt idx="24">
                  <c:v>0.006948345122280155</c:v>
                </c:pt>
                <c:pt idx="25">
                  <c:v>0.006217652402211633</c:v>
                </c:pt>
                <c:pt idx="26">
                  <c:v>0.005563799827784282</c:v>
                </c:pt>
                <c:pt idx="27">
                  <c:v>0.004978706836786395</c:v>
                </c:pt>
                <c:pt idx="28">
                  <c:v>0.004455142624448969</c:v>
                </c:pt>
                <c:pt idx="29">
                  <c:v>0.003986636782372494</c:v>
                </c:pt>
                <c:pt idx="30">
                  <c:v>0.0035673993347252395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4.2</c:v>
                </c:pt>
                <c:pt idx="1">
                  <c:v>4.2</c:v>
                </c:pt>
                <c:pt idx="2">
                  <c:v>4.2</c:v>
                </c:pt>
                <c:pt idx="3">
                  <c:v>4.2</c:v>
                </c:pt>
                <c:pt idx="4">
                  <c:v>4.2</c:v>
                </c:pt>
                <c:pt idx="5">
                  <c:v>4.2</c:v>
                </c:pt>
                <c:pt idx="6">
                  <c:v>4.2</c:v>
                </c:pt>
                <c:pt idx="7">
                  <c:v>4.2</c:v>
                </c:pt>
                <c:pt idx="8">
                  <c:v>4.2</c:v>
                </c:pt>
                <c:pt idx="9">
                  <c:v>4.2</c:v>
                </c:pt>
                <c:pt idx="10">
                  <c:v>4.2</c:v>
                </c:pt>
                <c:pt idx="11">
                  <c:v>4.2</c:v>
                </c:pt>
                <c:pt idx="12">
                  <c:v>4.2</c:v>
                </c:pt>
                <c:pt idx="13">
                  <c:v>4.2</c:v>
                </c:pt>
                <c:pt idx="14">
                  <c:v>4.2</c:v>
                </c:pt>
                <c:pt idx="15">
                  <c:v>4.2</c:v>
                </c:pt>
                <c:pt idx="16">
                  <c:v>4.2</c:v>
                </c:pt>
                <c:pt idx="17">
                  <c:v>4.2</c:v>
                </c:pt>
                <c:pt idx="18">
                  <c:v>4.2</c:v>
                </c:pt>
                <c:pt idx="19">
                  <c:v>4.2</c:v>
                </c:pt>
                <c:pt idx="20">
                  <c:v>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57"/>
            </a:solidFill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1.6</c:v>
                </c:pt>
                <c:pt idx="1">
                  <c:v>1.76</c:v>
                </c:pt>
                <c:pt idx="2">
                  <c:v>1.9200000000000002</c:v>
                </c:pt>
                <c:pt idx="3">
                  <c:v>2.08</c:v>
                </c:pt>
                <c:pt idx="4">
                  <c:v>2.24</c:v>
                </c:pt>
                <c:pt idx="5">
                  <c:v>2.4000000000000004</c:v>
                </c:pt>
                <c:pt idx="6">
                  <c:v>2.56</c:v>
                </c:pt>
                <c:pt idx="7">
                  <c:v>2.72</c:v>
                </c:pt>
                <c:pt idx="8">
                  <c:v>2.88</c:v>
                </c:pt>
                <c:pt idx="9">
                  <c:v>3.04</c:v>
                </c:pt>
                <c:pt idx="10">
                  <c:v>3.2</c:v>
                </c:pt>
                <c:pt idx="11">
                  <c:v>3.3600000000000003</c:v>
                </c:pt>
                <c:pt idx="12">
                  <c:v>3.52</c:v>
                </c:pt>
                <c:pt idx="13">
                  <c:v>3.68</c:v>
                </c:pt>
                <c:pt idx="14">
                  <c:v>3.8400000000000003</c:v>
                </c:pt>
                <c:pt idx="15">
                  <c:v>4</c:v>
                </c:pt>
                <c:pt idx="16">
                  <c:v>4.16</c:v>
                </c:pt>
                <c:pt idx="17">
                  <c:v>4.32</c:v>
                </c:pt>
                <c:pt idx="18">
                  <c:v>4.48</c:v>
                </c:pt>
                <c:pt idx="19">
                  <c:v>4.640000000000001</c:v>
                </c:pt>
                <c:pt idx="20">
                  <c:v>4.800000000000001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1.6</c:v>
                </c:pt>
                <c:pt idx="1">
                  <c:v>2.4597015221290537</c:v>
                </c:pt>
                <c:pt idx="2">
                  <c:v>1.8791380996006941</c:v>
                </c:pt>
                <c:pt idx="3">
                  <c:v>1.3826847738149117</c:v>
                </c:pt>
                <c:pt idx="4">
                  <c:v>2.321584443395346</c:v>
                </c:pt>
                <c:pt idx="5">
                  <c:v>3.0925507726363675</c:v>
                </c:pt>
                <c:pt idx="6">
                  <c:v>2.437971253143913</c:v>
                </c:pt>
                <c:pt idx="7">
                  <c:v>2.0345755895940782</c:v>
                </c:pt>
                <c:pt idx="8">
                  <c:v>3.0420568775710772</c:v>
                </c:pt>
                <c:pt idx="9">
                  <c:v>3.7159604435844944</c:v>
                </c:pt>
                <c:pt idx="10">
                  <c:v>2.9984676783344546</c:v>
                </c:pt>
                <c:pt idx="11">
                  <c:v>2.6958088514573135</c:v>
                </c:pt>
                <c:pt idx="12">
                  <c:v>3.760320450173929</c:v>
                </c:pt>
                <c:pt idx="13">
                  <c:v>4.330156663854068</c:v>
                </c:pt>
                <c:pt idx="14">
                  <c:v>3.561711021814995</c:v>
                </c:pt>
                <c:pt idx="15">
                  <c:v>3.3660951465953635</c:v>
                </c:pt>
                <c:pt idx="16">
                  <c:v>4.475308415992773</c:v>
                </c:pt>
                <c:pt idx="17">
                  <c:v>4.935491143155506</c:v>
                </c:pt>
                <c:pt idx="18">
                  <c:v>4.128747489285598</c:v>
                </c:pt>
                <c:pt idx="19">
                  <c:v>4.045021667884472</c:v>
                </c:pt>
                <c:pt idx="20">
                  <c:v>5.185998676869184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Bias²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9.5</c:v>
                </c:pt>
                <c:pt idx="1">
                  <c:v>7.868576777701836</c:v>
                </c:pt>
                <c:pt idx="2">
                  <c:v>6.532880414320754</c:v>
                </c:pt>
                <c:pt idx="3">
                  <c:v>5.439304724846238</c:v>
                </c:pt>
                <c:pt idx="4">
                  <c:v>4.543960677054994</c:v>
                </c:pt>
                <c:pt idx="5">
                  <c:v>3.810914970542981</c:v>
                </c:pt>
                <c:pt idx="6">
                  <c:v>3.210747907209819</c:v>
                </c:pt>
                <c:pt idx="7">
                  <c:v>2.7193726754744585</c:v>
                </c:pt>
                <c:pt idx="8">
                  <c:v>2.3170686619518985</c:v>
                </c:pt>
                <c:pt idx="9">
                  <c:v>1.9876899939942787</c:v>
                </c:pt>
                <c:pt idx="10">
                  <c:v>1.7180175491295144</c:v>
                </c:pt>
                <c:pt idx="11">
                  <c:v>1.4972284252610049</c:v>
                </c:pt>
                <c:pt idx="12">
                  <c:v>1.3164615796047126</c:v>
                </c:pt>
                <c:pt idx="13">
                  <c:v>1.168462203929005</c:v>
                </c:pt>
                <c:pt idx="14">
                  <c:v>1.0472905636269618</c:v>
                </c:pt>
                <c:pt idx="15">
                  <c:v>0.9480836153107755</c:v>
                </c:pt>
                <c:pt idx="16">
                  <c:v>0.8668598358052959</c:v>
                </c:pt>
                <c:pt idx="17">
                  <c:v>0.8003594296429347</c:v>
                </c:pt>
                <c:pt idx="18">
                  <c:v>0.745913502025633</c:v>
                </c:pt>
                <c:pt idx="19">
                  <c:v>0.7013369467054904</c:v>
                </c:pt>
                <c:pt idx="20">
                  <c:v>0.6648407499986075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0.4</c:v>
                </c:pt>
                <c:pt idx="1">
                  <c:v>0.42000000000000004</c:v>
                </c:pt>
                <c:pt idx="2">
                  <c:v>0.48000000000000004</c:v>
                </c:pt>
                <c:pt idx="3">
                  <c:v>0.5800000000000001</c:v>
                </c:pt>
                <c:pt idx="4">
                  <c:v>0.72</c:v>
                </c:pt>
                <c:pt idx="5">
                  <c:v>0.9</c:v>
                </c:pt>
                <c:pt idx="6">
                  <c:v>1.12</c:v>
                </c:pt>
                <c:pt idx="7">
                  <c:v>1.3800000000000001</c:v>
                </c:pt>
                <c:pt idx="8">
                  <c:v>1.6800000000000002</c:v>
                </c:pt>
                <c:pt idx="9">
                  <c:v>2.02</c:v>
                </c:pt>
                <c:pt idx="10">
                  <c:v>2.4</c:v>
                </c:pt>
                <c:pt idx="11">
                  <c:v>2.82</c:v>
                </c:pt>
                <c:pt idx="12">
                  <c:v>3.28</c:v>
                </c:pt>
                <c:pt idx="13">
                  <c:v>3.78</c:v>
                </c:pt>
                <c:pt idx="14">
                  <c:v>4.32</c:v>
                </c:pt>
                <c:pt idx="15">
                  <c:v>4.9</c:v>
                </c:pt>
                <c:pt idx="16">
                  <c:v>5.5200000000000005</c:v>
                </c:pt>
                <c:pt idx="17">
                  <c:v>6.180000000000001</c:v>
                </c:pt>
                <c:pt idx="18">
                  <c:v>6.88</c:v>
                </c:pt>
                <c:pt idx="19">
                  <c:v>7.62</c:v>
                </c:pt>
                <c:pt idx="20">
                  <c:v>8.4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error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9.9</c:v>
                </c:pt>
                <c:pt idx="1">
                  <c:v>8.288576777701836</c:v>
                </c:pt>
                <c:pt idx="2">
                  <c:v>7.012880414320755</c:v>
                </c:pt>
                <c:pt idx="3">
                  <c:v>6.019304724846238</c:v>
                </c:pt>
                <c:pt idx="4">
                  <c:v>5.263960677054993</c:v>
                </c:pt>
                <c:pt idx="5">
                  <c:v>4.710914970542981</c:v>
                </c:pt>
                <c:pt idx="6">
                  <c:v>4.330747907209819</c:v>
                </c:pt>
                <c:pt idx="7">
                  <c:v>4.099372675474458</c:v>
                </c:pt>
                <c:pt idx="8">
                  <c:v>3.9970686619518987</c:v>
                </c:pt>
                <c:pt idx="9">
                  <c:v>4.007689993994279</c:v>
                </c:pt>
                <c:pt idx="10">
                  <c:v>4.118017549129514</c:v>
                </c:pt>
                <c:pt idx="11">
                  <c:v>4.317228425261005</c:v>
                </c:pt>
                <c:pt idx="12">
                  <c:v>4.596461579604712</c:v>
                </c:pt>
                <c:pt idx="13">
                  <c:v>4.9484622039290045</c:v>
                </c:pt>
                <c:pt idx="14">
                  <c:v>5.3672905636269626</c:v>
                </c:pt>
                <c:pt idx="15">
                  <c:v>5.848083615310776</c:v>
                </c:pt>
                <c:pt idx="16">
                  <c:v>6.386859835805296</c:v>
                </c:pt>
                <c:pt idx="17">
                  <c:v>6.980359429642935</c:v>
                </c:pt>
                <c:pt idx="18">
                  <c:v>7.625913502025633</c:v>
                </c:pt>
                <c:pt idx="19">
                  <c:v>8.32133694670549</c:v>
                </c:pt>
                <c:pt idx="20">
                  <c:v>9.064840749998607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6.6</c:v>
                </c:pt>
                <c:pt idx="1">
                  <c:v>5.678890349343684</c:v>
                </c:pt>
                <c:pt idx="2">
                  <c:v>4.8991878634427355</c:v>
                </c:pt>
                <c:pt idx="3">
                  <c:v>4.239183958275801</c:v>
                </c:pt>
                <c:pt idx="4">
                  <c:v>3.680502714195552</c:v>
                </c:pt>
                <c:pt idx="5">
                  <c:v>3.2075892510424695</c:v>
                </c:pt>
                <c:pt idx="6">
                  <c:v>2.807276647028654</c:v>
                </c:pt>
                <c:pt idx="7">
                  <c:v>2.4684193434875863</c:v>
                </c:pt>
                <c:pt idx="8">
                  <c:v>2.181582828694361</c:v>
                </c:pt>
                <c:pt idx="9">
                  <c:v>1.938780960890579</c:v>
                </c:pt>
                <c:pt idx="10">
                  <c:v>1.7332536170253712</c:v>
                </c:pt>
                <c:pt idx="11">
                  <c:v>1.5592784764781635</c:v>
                </c:pt>
                <c:pt idx="12">
                  <c:v>1.412011699419676</c:v>
                </c:pt>
                <c:pt idx="13">
                  <c:v>1.2873530639561264</c:v>
                </c:pt>
                <c:pt idx="14">
                  <c:v>1.1818318071864304</c:v>
                </c:pt>
                <c:pt idx="15">
                  <c:v>1.092509991743393</c:v>
                </c:pt>
                <c:pt idx="16">
                  <c:v>1.0169007073368093</c:v>
                </c:pt>
                <c:pt idx="17">
                  <c:v>0.9528988298545793</c:v>
                </c:pt>
                <c:pt idx="18">
                  <c:v>0.8987224102071836</c:v>
                </c:pt>
                <c:pt idx="19">
                  <c:v>0.8528630610556585</c:v>
                </c:pt>
                <c:pt idx="20">
                  <c:v>0.8140439600835143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8.4</c:v>
                </c:pt>
                <c:pt idx="1">
                  <c:v>7.4788903493436845</c:v>
                </c:pt>
                <c:pt idx="2">
                  <c:v>6.699187863442736</c:v>
                </c:pt>
                <c:pt idx="3">
                  <c:v>6.0391839582758005</c:v>
                </c:pt>
                <c:pt idx="4">
                  <c:v>5.480502714195552</c:v>
                </c:pt>
                <c:pt idx="5">
                  <c:v>5.00758925104247</c:v>
                </c:pt>
                <c:pt idx="6">
                  <c:v>4.6072766470286535</c:v>
                </c:pt>
                <c:pt idx="7">
                  <c:v>4.268419343487587</c:v>
                </c:pt>
                <c:pt idx="8">
                  <c:v>3.9815828286943606</c:v>
                </c:pt>
                <c:pt idx="9">
                  <c:v>3.738780960890579</c:v>
                </c:pt>
                <c:pt idx="10">
                  <c:v>3.533253617025371</c:v>
                </c:pt>
                <c:pt idx="11">
                  <c:v>3.3592784764781634</c:v>
                </c:pt>
                <c:pt idx="12">
                  <c:v>3.2120116994196763</c:v>
                </c:pt>
                <c:pt idx="13">
                  <c:v>3.0873530639561264</c:v>
                </c:pt>
                <c:pt idx="14">
                  <c:v>2.9818318071864303</c:v>
                </c:pt>
                <c:pt idx="15">
                  <c:v>2.8925099917433927</c:v>
                </c:pt>
                <c:pt idx="16">
                  <c:v>2.816900707336809</c:v>
                </c:pt>
                <c:pt idx="17">
                  <c:v>2.7528988298545793</c:v>
                </c:pt>
                <c:pt idx="18">
                  <c:v>2.6987224102071834</c:v>
                </c:pt>
                <c:pt idx="19">
                  <c:v>2.6528630610556583</c:v>
                </c:pt>
                <c:pt idx="20">
                  <c:v>2.614043960083514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3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6  ·  PHASE D — MODEL TRAINING &amp; OPTIMIZATION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Optimization + Bias–Variance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Finishing the training story: better optimisers, regularisation, and the central trade-off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· Adam · LR schedules · regularisation · the bias–variance trade-off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U13 (finish)  ·  Phase D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'it trains' to 'it generalises'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the model learning with gradient descent. Now we make training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the result generalise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better optimisers, regularisation, and the bias–variance trade-off that governs it all.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optimisers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Adam, schedules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we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overfitting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variance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trade-off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tren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heck2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remedies that work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decide whether a model that fits the training data also works on new data.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optimisers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gradient descent works — but momentum, Adam and schedules make it far faster.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+ Bias-Variance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row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Plain gradient descent &amp; its limits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θ ← θ − η·∇L — step downhill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zig-zags across steep, narrow valleys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global learning rate for all weights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3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slow on plateaus; sensitive to η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37360"/>
            <a:ext cx="5422392" cy="2834640"/>
          </a:xfrm>
          <a:prstGeom prst="roundRect">
            <a:avLst>
              <a:gd name="adj" fmla="val 3226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8745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GD zig-zags toward the minimum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52360" y="2834640"/>
            <a:ext cx="2926080" cy="914400"/>
          </a:xfrm>
          <a:prstGeom prst="ellipse">
            <a:avLst/>
          </a:prstGeom>
          <a:ln w="19050">
            <a:solidFill>
              <a:srgbClr val="AEC4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2948940"/>
            <a:ext cx="2194560" cy="685800"/>
          </a:xfrm>
          <a:prstGeom prst="ellipse">
            <a:avLst/>
          </a:prstGeom>
          <a:ln w="19050">
            <a:solidFill>
              <a:srgbClr val="AEC4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3063240"/>
            <a:ext cx="1463040" cy="457200"/>
          </a:xfrm>
          <a:prstGeom prst="ellipse">
            <a:avLst/>
          </a:prstGeom>
          <a:ln w="19050">
            <a:solidFill>
              <a:srgbClr val="AEC4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9640" y="3177540"/>
            <a:ext cx="731520" cy="228600"/>
          </a:xfrm>
          <a:prstGeom prst="ellipse">
            <a:avLst/>
          </a:prstGeom>
          <a:ln w="19050">
            <a:solidFill>
              <a:srgbClr val="F4B9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2468880"/>
            <a:ext cx="1280160" cy="11887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3657600"/>
            <a:ext cx="-731520" cy="-91440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0" y="2743200"/>
            <a:ext cx="1005840" cy="82296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03920" y="3566160"/>
            <a:ext cx="-365760" cy="-4114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0" y="3154680"/>
            <a:ext cx="594360" cy="1828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4576" y="241401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Shape 23"/>
          <p:cNvSpPr/>
          <p:nvPr/>
        </p:nvSpPr>
        <p:spPr>
          <a:xfrm>
            <a:off x="8174736" y="36027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Shape 24"/>
          <p:cNvSpPr/>
          <p:nvPr/>
        </p:nvSpPr>
        <p:spPr>
          <a:xfrm>
            <a:off x="7443216" y="26883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Shape 25"/>
          <p:cNvSpPr/>
          <p:nvPr/>
        </p:nvSpPr>
        <p:spPr>
          <a:xfrm>
            <a:off x="8449056" y="351129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Shape 26"/>
          <p:cNvSpPr/>
          <p:nvPr/>
        </p:nvSpPr>
        <p:spPr>
          <a:xfrm>
            <a:off x="8083296" y="309981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Shape 27"/>
          <p:cNvSpPr/>
          <p:nvPr/>
        </p:nvSpPr>
        <p:spPr>
          <a:xfrm>
            <a:off x="8677656" y="328269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 below all aim to dampen the zig-zag and adapt the step size automatically.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i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DIRECTION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Momentum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accumulate a velocity from past gradients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smooths zig-zags; powers through plateaus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ball rolling downhill gathering speed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momentum coefficient β ≈ 0.9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42239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2020824"/>
            <a:ext cx="5056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← β·v + ∇L ,   θ ← θ − η·v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00800" y="273405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v carries momentum from previous steps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42900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takes a straighter path to the minimum than plain GD.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SIZE PER WEIGHT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Adaptive learning rates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505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step for frequently-updated weights.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sparse features; can over-shrink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4505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moving average of recent gradients.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73952" y="32918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steps healthy; great for deep nets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global η, each weight gets its own effective step size, scaled by its gradient history.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DEFAULT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Adam = momentum + adaptive rates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i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mean of gradients (1st moment)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gradient variance (2nd moment)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ro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robust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out-of-the-box on most problems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optimiser for deep learning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Adam at learning rate 0.001. It combines the best of momentum and adaptive methods.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η OVER TIME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Learning-rate schedules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big steps early, fine steps later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drop η by a factor every few epochs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smoothly shrink η each epoch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ramp η up first, then decay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decaying over epochs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early steps, fine-tuning later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Optimiser comparison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109728" cy="731520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1783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well-understood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slow; zig-zags; needs tuning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606040"/>
            <a:ext cx="109728" cy="7315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606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the path, faster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0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hyperparameter (β)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429000"/>
            <a:ext cx="109728" cy="7315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66160" y="3429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per-weight steps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63840" y="3429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sensitive on some tasks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251960"/>
            <a:ext cx="109728" cy="7315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566160" y="4251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robust, low-tuning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863840" y="4251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generalise slightly worse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Adam; switch to tuned SGD+momentum if you need the last bit of generalisation.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Regularisation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that stop a model from memorising the training data.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+ Bias-Variance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Overfitting vs underfitting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70332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— misses the pattern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315968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2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315968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315968" y="370332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trend, ignores noise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083296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</a:t>
            </a:r>
            <a:endParaRPr lang="en-US" sz="125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083296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8083296" y="370332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memorises noise — wiggly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48640" y="43434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6263F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4343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— fit the signal, not the noise. Regularisation pulls an overfit model back toward simplicity.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BIG WEIGHTS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L2 (Ridge) &amp; L1 (Lasso)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 =  error(data)  +  λ · penalty(weights)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1520" y="232257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controls how hard we penalise large weights — bigger λ = simpler model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227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Ridge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63016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= Σ wᵢ²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178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weights toward zero (rarely exactly 0); handles correlated 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30632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952" y="3227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Lasso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73952" y="363016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= Σ |wᵢ|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73952" y="4178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some weights to exactly 0 → automatic feature selection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WAYS TO SIMPLIFY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Other regularisation techniques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eck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when validation loss stops improving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and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drop neurons during training (nets)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ub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with realistic variations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ompres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/ lower capacity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regularisation does one thing: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 little training accuracy for much better performance on new data.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bias–variance trade-off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idea for understanding model error.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+ Bias-Variance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OF ERROR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are bias and variance?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14016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wrong assumptions — the model is too simple to capture the pattern.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64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→ underfitting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414016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sensitivity to the training data — the model changes a lot per sample.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73952" y="3364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→ overfitting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Dartboard analogy: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shots clustered far from the bullseye (consistently wrong); variance = shots scattered widely (inconsistent).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CAN'T HAVE BOTH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bias–variance trade-off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126480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model complexity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126480" y="1920240"/>
          <a:ext cx="551383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" y="1920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falls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 the model gets more complex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26883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841248" y="25786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rises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 it starts chasing noise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" y="32369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U — minimised in the middle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" y="389534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complexity at the U's bottom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 bias vs high variance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(underfit)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2514600"/>
            <a:ext cx="146304" cy="146304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4140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error: high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026664"/>
            <a:ext cx="146304" cy="146304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error: high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3538728"/>
            <a:ext cx="146304" cy="146304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4381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small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4050792"/>
            <a:ext cx="146304" cy="146304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39502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99632" y="173736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2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(overfit)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519672" y="25146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6793992" y="24140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error: low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19672" y="30266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6793992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error: high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19672" y="353872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6793992" y="34381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large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19672" y="405079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6793992" y="39502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complex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WITH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learning curves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 &amp; validation error vs data/epochs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errors high and close together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train error, big train–val gap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low, gap small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26480" y="1591056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high-variance signature: a wide train–val gap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126480" y="1920240"/>
          <a:ext cx="55138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learning curves you'd expect for an underfit model vs an overfit model.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Fixing high bias vs high variance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BIAS (underfit)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4871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more complex model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3017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engineer better features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35478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regularisation (λ)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78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longer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99632" y="173736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VARIANCE (overfit)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51967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85432" y="24871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training data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1967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85432" y="3017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regularisation (λ)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9672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85432" y="35478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/ fewer features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19672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85432" y="4078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dropout, ensembling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48646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fixes variance, never bias. A more complex model fixes bias, but raises variance.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Optimisation + regularisation + complexity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527048" y="2066544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22128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3072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efficiently (Adam, schedules)</a:t>
            </a:r>
            <a:endParaRPr lang="en-US" sz="95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52374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46704" y="18288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4325112" y="2066544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21284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38144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456432" y="3072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learning curves</a:t>
            </a:r>
            <a:endParaRPr lang="en-US" sz="95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52374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144768" y="18288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7123176" y="2066544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we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212848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36208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254496" y="3072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complexity &amp; λ</a:t>
            </a:r>
            <a:endParaRPr lang="en-US" sz="95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52374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942832" y="18288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9921240" y="2066544"/>
            <a:ext cx="658368" cy="658368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7" descr="ic_check2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7544" y="2212848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034272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9052560" y="3072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error on new data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30" name="Text 20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check the gap between train and validation error → if high bias add complexity, if high variance regularise → repeat until both errors are low and close.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WISELY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Adam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LR; tune only if needed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 validation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alone hides overfitting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fixing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variance need opposite cures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weigh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λ deliberately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cross-validation, not by guesswork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mistake: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model complexity to fix overfitting — that makes variance worse. Diagnose first, then apply the right cure.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= momentum + adaptive rates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Schedules: big steps early, fine later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fights overfitting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= bias² + variance + noise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gap, then apply the cure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with SGD vs Adam; compare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L2 regularisation; vary λ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train vs validation learning curves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Diagnose: bias or variance?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matching fix and re-check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Foundations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your first models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training isn't just minimising loss — it's balancing bias and variance so the model performs on data it has never seen.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+ Bias-Variance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2026-06-11T11:13:42Z</dcterms:created>
  <dcterms:modified xsi:type="dcterms:W3CDTF">2026-06-11T11:13:42Z</dcterms:modified>
</cp:coreProperties>
</file>