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2D6A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simple</c:v>
                  </c:pt>
                  <c:pt idx="1">
                    <c:v>good</c:v>
                  </c:pt>
                  <c:pt idx="2">
                    <c:v>complex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0.72</c:v>
                </c:pt>
                <c:pt idx="1">
                  <c:v>0.88</c:v>
                </c:pt>
                <c:pt idx="2">
                  <c:v>0.99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F4B9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simple</c:v>
                  </c:pt>
                  <c:pt idx="1">
                    <c:v>good</c:v>
                  </c:pt>
                  <c:pt idx="2">
                    <c:v>complex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</c:v>
                </c:pt>
                <c:pt idx="1">
                  <c:v>0.85</c:v>
                </c:pt>
                <c:pt idx="2">
                  <c:v>0.74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3.png"/><Relationship Id="rId6" Type="http://schemas.openxmlformats.org/officeDocument/2006/relationships/image" Target="../media/image-6-6.png"/><Relationship Id="rId7" Type="http://schemas.openxmlformats.org/officeDocument/2006/relationships/image" Target="../media/image-6-3.png"/><Relationship Id="rId8" Type="http://schemas.openxmlformats.org/officeDocument/2006/relationships/image" Target="../media/image-6-8.png"/><Relationship Id="rId9" Type="http://schemas.openxmlformats.org/officeDocument/2006/relationships/image" Target="../media/image-6-3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2.png"/><Relationship Id="rId4" Type="http://schemas.openxmlformats.org/officeDocument/2006/relationships/image" Target="../media/image-19-2.png"/><Relationship Id="rId5" Type="http://schemas.openxmlformats.org/officeDocument/2006/relationships/image" Target="../media/image-19-2.png"/><Relationship Id="rId6" Type="http://schemas.openxmlformats.org/officeDocument/2006/relationships/image" Target="../media/image-19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3.png"/><Relationship Id="rId6" Type="http://schemas.openxmlformats.org/officeDocument/2006/relationships/image" Target="../media/image-20-6.png"/><Relationship Id="rId7" Type="http://schemas.openxmlformats.org/officeDocument/2006/relationships/image" Target="../media/image-20-3.png"/><Relationship Id="rId8" Type="http://schemas.openxmlformats.org/officeDocument/2006/relationships/image" Target="../media/image-20-8.png"/><Relationship Id="rId9" Type="http://schemas.openxmlformats.org/officeDocument/2006/relationships/image" Target="../media/image-20-3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7  ·  PHASE D — MODELLING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Supervised Learning Foundations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Learning a mapping from labelled examples — the heart of applied ML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069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vs regression · how models learn · the model zoo · evaluation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U14  ·  Phase D  ·  22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Teaching a model from examples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model many examples of inputs paired with the right answers, and it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mapping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then predicts the answer for new, unseen inputs.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ta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y from labels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tren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tasks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or predict a number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zoo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zoo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algorithm families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rul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that fit the task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check2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on new data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built in Phase C — the clean, model-ready dataset — feeds straight into this.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supervised learning?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with known answers — the model learns to reproduce, then predict them.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Foundations · Phase D  ·  01 / 22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LABELLED 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supervised learning?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 function that maps inputs X to a known output y, using examples where the correct y is given (the labels).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gro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13639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(X)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4944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inputs describing each example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3346704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bulls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13639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(y)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493008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known correct answer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6144768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13639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91072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X → y relationship</a:t>
            </a:r>
            <a:endParaRPr lang="en-US" sz="1030" dirty="0"/>
          </a:p>
        </p:txBody>
      </p:sp>
      <p:sp>
        <p:nvSpPr>
          <p:cNvPr id="23" name="Shape 17"/>
          <p:cNvSpPr/>
          <p:nvPr/>
        </p:nvSpPr>
        <p:spPr>
          <a:xfrm>
            <a:off x="8942832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6376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rock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13639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089136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y for new inputs</a:t>
            </a:r>
            <a:endParaRPr lang="en-US" sz="1030" dirty="0"/>
          </a:p>
        </p:txBody>
      </p:sp>
      <p:sp>
        <p:nvSpPr>
          <p:cNvPr id="28" name="Text 21"/>
          <p:cNvSpPr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'Supervised' because the labels supervise learning — like an answer key during practice.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TARGET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Classification vs regression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40680" cy="3108960"/>
          </a:xfrm>
          <a:prstGeom prst="roundRect">
            <a:avLst>
              <a:gd name="adj" fmla="val 2941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691640"/>
            <a:ext cx="5440680" cy="603504"/>
          </a:xfrm>
          <a:prstGeom prst="roundRect">
            <a:avLst>
              <a:gd name="adj" fmla="val 15152"/>
            </a:avLst>
          </a:prstGeom>
          <a:solidFill>
            <a:srgbClr val="2D6A9F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1801368"/>
            <a:ext cx="384048" cy="384048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9" name="Image 1" descr="ic_ta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86537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169164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" y="24414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category / class.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68680" y="29260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vs not spam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churn: yes / no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0–9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label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99632" y="1691640"/>
            <a:ext cx="5440680" cy="3108960"/>
          </a:xfrm>
          <a:prstGeom prst="roundRect">
            <a:avLst>
              <a:gd name="adj" fmla="val 2941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6199632" y="1691640"/>
            <a:ext cx="5440680" cy="603504"/>
          </a:xfrm>
          <a:prstGeom prst="roundRect">
            <a:avLst>
              <a:gd name="adj" fmla="val 15152"/>
            </a:avLst>
          </a:prstGeom>
          <a:solidFill>
            <a:srgbClr val="3AAFA9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0" y="1801368"/>
            <a:ext cx="384048" cy="384048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16" name="Image 2" descr="ic_tren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86537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12864" y="169164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73952" y="24414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continuous number.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19672" y="29260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temperature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usage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quantity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ta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SUPERVISED WORKFLOW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data to predictions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284732" y="2221992"/>
            <a:ext cx="621792" cy="62179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gro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036" y="237744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58368" y="29900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76656" y="328269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 X, y</a:t>
            </a:r>
            <a:endParaRPr lang="en-US" sz="950" dirty="0"/>
          </a:p>
        </p:txBody>
      </p:sp>
      <p:pic>
        <p:nvPicPr>
          <p:cNvPr id="12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729484"/>
            <a:ext cx="146304" cy="14630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834640" y="196596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2F5F9"/>
          </a:solidFill>
          <a:ln/>
        </p:spPr>
      </p:sp>
      <p:sp>
        <p:nvSpPr>
          <p:cNvPr id="14" name="Shape 9"/>
          <p:cNvSpPr/>
          <p:nvPr/>
        </p:nvSpPr>
        <p:spPr>
          <a:xfrm>
            <a:off x="3552444" y="2221992"/>
            <a:ext cx="621792" cy="62179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3" descr="ic_random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748" y="2377440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980944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2926080" y="29900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2944368" y="328269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950" dirty="0"/>
          </a:p>
        </p:txBody>
      </p:sp>
      <p:pic>
        <p:nvPicPr>
          <p:cNvPr id="19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729484"/>
            <a:ext cx="146304" cy="14630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102352" y="196596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2F5F9"/>
          </a:solidFill>
          <a:ln/>
        </p:spPr>
      </p:sp>
      <p:sp>
        <p:nvSpPr>
          <p:cNvPr id="21" name="Shape 14"/>
          <p:cNvSpPr/>
          <p:nvPr/>
        </p:nvSpPr>
        <p:spPr>
          <a:xfrm>
            <a:off x="5820156" y="2221992"/>
            <a:ext cx="621792" cy="62179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5" descr="ic_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6460" y="2377440"/>
            <a:ext cx="329184" cy="32918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48656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5193792" y="29900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5212080" y="328269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model.fit(X, y)</a:t>
            </a:r>
            <a:endParaRPr lang="en-US" sz="950" dirty="0"/>
          </a:p>
        </p:txBody>
      </p:sp>
      <p:pic>
        <p:nvPicPr>
          <p:cNvPr id="26" name="Image 6" descr="ic_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2729484"/>
            <a:ext cx="146304" cy="146304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7370064" y="196596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2F5F9"/>
          </a:solidFill>
          <a:ln/>
        </p:spPr>
      </p:sp>
      <p:sp>
        <p:nvSpPr>
          <p:cNvPr id="28" name="Shape 19"/>
          <p:cNvSpPr/>
          <p:nvPr/>
        </p:nvSpPr>
        <p:spPr>
          <a:xfrm>
            <a:off x="8087868" y="2221992"/>
            <a:ext cx="621792" cy="62179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9" name="Image 7" descr="ic_ruler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4172" y="2377440"/>
            <a:ext cx="329184" cy="32918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516368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7461504" y="29900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7479792" y="328269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 test</a:t>
            </a:r>
            <a:endParaRPr lang="en-US" sz="950" dirty="0"/>
          </a:p>
        </p:txBody>
      </p:sp>
      <p:pic>
        <p:nvPicPr>
          <p:cNvPr id="33" name="Image 8" descr="ic_arrow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4896" y="2729484"/>
            <a:ext cx="146304" cy="146304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9637776" y="196596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10355580" y="2221992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6" name="Image 9" descr="ic_rocket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1884" y="2377440"/>
            <a:ext cx="329184" cy="32918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9784080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26"/>
          <p:cNvSpPr/>
          <p:nvPr/>
        </p:nvSpPr>
        <p:spPr>
          <a:xfrm>
            <a:off x="9729216" y="29900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50" dirty="0"/>
          </a:p>
        </p:txBody>
      </p:sp>
      <p:sp>
        <p:nvSpPr>
          <p:cNvPr id="39" name="Text 27"/>
          <p:cNvSpPr/>
          <p:nvPr/>
        </p:nvSpPr>
        <p:spPr>
          <a:xfrm>
            <a:off x="9747504" y="328269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new data</a:t>
            </a:r>
            <a:endParaRPr lang="en-US" sz="950" dirty="0"/>
          </a:p>
        </p:txBody>
      </p:sp>
      <p:sp>
        <p:nvSpPr>
          <p:cNvPr id="40" name="Shape 28"/>
          <p:cNvSpPr/>
          <p:nvPr/>
        </p:nvSpPr>
        <p:spPr>
          <a:xfrm>
            <a:off x="548640" y="41148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5F9"/>
          </a:solidFill>
          <a:ln/>
        </p:spPr>
      </p:sp>
      <p:sp>
        <p:nvSpPr>
          <p:cNvPr id="41" name="Text 29"/>
          <p:cNvSpPr/>
          <p:nvPr/>
        </p:nvSpPr>
        <p:spPr>
          <a:xfrm>
            <a:off x="822960" y="4114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discipline: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ever sees training data while learning. The test set is the unseen exam that estimates real-world performance.</a:t>
            </a:r>
            <a:endParaRPr lang="en-US" sz="1350" dirty="0"/>
          </a:p>
        </p:txBody>
      </p:sp>
      <p:sp>
        <p:nvSpPr>
          <p:cNvPr id="42" name="Text 3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43" name="Text 3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MODEL LEARNS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Fit, then predict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fit(X, y)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learns parameters from training data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predict(X)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applies them to produce ŷ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score(X, y)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measures how good predictions are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 almost every model in scikit-learn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2743200"/>
          </a:xfrm>
          <a:prstGeom prst="roundRect">
            <a:avLst>
              <a:gd name="adj" fmla="val 20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supervised.py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27648" y="2048256"/>
            <a:ext cx="51114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     # learn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preds = model.predict(X_test)   # apply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= model.score(X_test, y_test)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print(acc)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just a set of learned numbers (parameters) plus a rule for turning X into ŷ.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MODELS REPRESENT KNOWLEDGE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Parametric vs non-parametric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43230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number of parameters, set during training.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10896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logistic regression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compact, interpretable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assumptions about shape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9632" y="173736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6199632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3AAFA9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73952" y="243230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grows with the data.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19672" y="310896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k-NN, decision trees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assumptions, very flexible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more data; can overfit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z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model landscape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tour of the main algorithm families and how they differ.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Foundations · Phase D  ·  02 / 22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z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ZOO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Families you'll meet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68096" y="1901952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tre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4825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86537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508760" y="2212848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logistic — simple, fast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4297680" y="1645920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517136" y="1901952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site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04825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57800" y="186537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257800" y="2212848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 splits; very interpretable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8046720" y="1645920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8266176" y="1901952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grou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04825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06840" y="186537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9006840" y="2212848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from nearest neighbours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548640" y="3182112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768096" y="3438144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balanc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584448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340156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508760" y="3749040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maximum-margin boundaries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4297680" y="3182112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27" name="Shape 20"/>
          <p:cNvSpPr/>
          <p:nvPr/>
        </p:nvSpPr>
        <p:spPr>
          <a:xfrm>
            <a:off x="4517136" y="3438144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5" descr="ic_cube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584448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57800" y="340156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5257800" y="3749040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forests, gradient boosting</a:t>
            </a:r>
            <a:endParaRPr lang="en-US" sz="1030" dirty="0"/>
          </a:p>
        </p:txBody>
      </p:sp>
      <p:sp>
        <p:nvSpPr>
          <p:cNvPr id="31" name="Shape 23"/>
          <p:cNvSpPr/>
          <p:nvPr/>
        </p:nvSpPr>
        <p:spPr>
          <a:xfrm>
            <a:off x="8046720" y="3182112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32" name="Shape 24"/>
          <p:cNvSpPr/>
          <p:nvPr/>
        </p:nvSpPr>
        <p:spPr>
          <a:xfrm>
            <a:off x="8266176" y="3438144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3" name="Image 6" descr="ic_brai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3584448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006840" y="340156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9006840" y="3749040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flexible, data-hungry</a:t>
            </a:r>
            <a:endParaRPr lang="en-US" sz="1030" dirty="0"/>
          </a:p>
        </p:txBody>
      </p:sp>
      <p:sp>
        <p:nvSpPr>
          <p:cNvPr id="36" name="Text 27"/>
          <p:cNvSpPr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start simple (linear / trees) for a baseline, then move to ensembles or nets if needed.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38" name="Text 2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KNOBS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Parameters vs hyperparameters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4323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from data during fit().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9260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regression weights w, b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automatically by training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choose them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9632" y="173736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6199632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3AAFA9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73952" y="24323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you before training.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19672" y="29260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learning rate, tree depth, k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how the model learns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cross-validation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finds the parameters; you (or a search) find the hyperparameters that make training work best.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rul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WELL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Training &amp; evaluating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judge a model honestly and pick the right yardstick.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Foundations · Phase D  ·  03 / 22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eck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GOAL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Generalisation: train vs test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score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well it fits seen data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score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well it does on unseen data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test score — real-world proxy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gap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overfitting (memorised the train set)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looks great; test is what counts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6217920" y="46451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'complex' model overfits: high train, low test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STABLER ESTIMATE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Cross-validation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split is noisy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score depends on which rows landed in test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rotate the validation fold k times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report mean ± spread across folds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 compare models &amp; tune hyperparameters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0936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309360" y="2057400"/>
            <a:ext cx="1024128" cy="457200"/>
          </a:xfrm>
          <a:prstGeom prst="rect">
            <a:avLst/>
          </a:prstGeom>
          <a:solidFill>
            <a:srgbClr val="F4B9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70064" y="2057400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30768" y="2057400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491472" y="2057400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552176" y="2057400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09360" y="2624328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70064" y="2624328"/>
            <a:ext cx="1024128" cy="457200"/>
          </a:xfrm>
          <a:prstGeom prst="rect">
            <a:avLst/>
          </a:prstGeom>
          <a:solidFill>
            <a:srgbClr val="F4B9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30768" y="2624328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491472" y="2624328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552176" y="2624328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09360" y="3191256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70064" y="3191256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30768" y="3191256"/>
            <a:ext cx="1024128" cy="457200"/>
          </a:xfrm>
          <a:prstGeom prst="rect">
            <a:avLst/>
          </a:prstGeom>
          <a:solidFill>
            <a:srgbClr val="F4B9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491472" y="3191256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552176" y="3191256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09360" y="3758184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70064" y="3758184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30768" y="3758184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491472" y="3758184"/>
            <a:ext cx="1024128" cy="457200"/>
          </a:xfrm>
          <a:prstGeom prst="rect">
            <a:avLst/>
          </a:prstGeom>
          <a:solidFill>
            <a:srgbClr val="F4B9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552176" y="3758184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09360" y="4325112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70064" y="4325112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430768" y="4325112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491472" y="4325112"/>
            <a:ext cx="1024128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552176" y="4325112"/>
            <a:ext cx="1024128" cy="457200"/>
          </a:xfrm>
          <a:prstGeom prst="rect">
            <a:avLst/>
          </a:prstGeom>
          <a:solidFill>
            <a:srgbClr val="F4B9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09360" y="4892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= validation fold (rotates)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ul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 CLASSIFIER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Classification metrics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691640"/>
            <a:ext cx="91440" cy="56692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6916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926080" y="16916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correct overall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955280" y="16916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</a:t>
            </a:r>
            <a:pPr algn="l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on imbalanced data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33172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331720"/>
            <a:ext cx="91440" cy="566928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3317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926080" y="23317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positives, how many right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955280" y="23317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</a:t>
            </a:r>
            <a:pPr algn="l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false positives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297180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2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2971800"/>
            <a:ext cx="91440" cy="56692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2971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2926080" y="29718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positives, how many caught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955280" y="29718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</a:t>
            </a:r>
            <a:pPr algn="l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false negatives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361188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2F5F9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3611880"/>
            <a:ext cx="91440" cy="566928"/>
          </a:xfrm>
          <a:prstGeom prst="rect">
            <a:avLst/>
          </a:prstGeom>
          <a:solidFill>
            <a:srgbClr val="16263F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36118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2926080" y="361188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955280" y="36118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</a:t>
            </a:r>
            <a:pPr algn="l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single number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2F5F9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4251960"/>
            <a:ext cx="91440" cy="56692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28" name="Text 25"/>
          <p:cNvSpPr/>
          <p:nvPr/>
        </p:nvSpPr>
        <p:spPr>
          <a:xfrm>
            <a:off x="777240" y="42519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2926080" y="42519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 across thresholds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955280" y="42519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</a:t>
            </a:r>
            <a:pPr algn="l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threshold-independent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imbalanced data, accuracy lies — lead with precision, recall, F1 or ROC-AUC.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ul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 REGRESSOR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Regression metrics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615184" cy="2011680"/>
          </a:xfrm>
          <a:prstGeom prst="roundRect">
            <a:avLst>
              <a:gd name="adj" fmla="val 4091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2615184" cy="548640"/>
          </a:xfrm>
          <a:prstGeom prst="roundRect">
            <a:avLst>
              <a:gd name="adj" fmla="val 15000"/>
            </a:avLst>
          </a:prstGeom>
          <a:solidFill>
            <a:srgbClr val="16263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73736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94944" y="23957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4944" y="2907792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miss, in original units; robust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3346704" y="1737360"/>
            <a:ext cx="2615184" cy="2011680"/>
          </a:xfrm>
          <a:prstGeom prst="roundRect">
            <a:avLst>
              <a:gd name="adj" fmla="val 4091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3346704" y="1737360"/>
            <a:ext cx="2615184" cy="548640"/>
          </a:xfrm>
          <a:prstGeom prst="roundRect">
            <a:avLst>
              <a:gd name="adj" fmla="val 15000"/>
            </a:avLst>
          </a:prstGeom>
          <a:solidFill>
            <a:srgbClr val="16263F"/>
          </a:solidFill>
          <a:ln/>
        </p:spPr>
      </p:sp>
      <p:sp>
        <p:nvSpPr>
          <p:cNvPr id="13" name="Text 10"/>
          <p:cNvSpPr/>
          <p:nvPr/>
        </p:nvSpPr>
        <p:spPr>
          <a:xfrm>
            <a:off x="3346704" y="173736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493008" y="23957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93008" y="2907792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big errors heavily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6144768" y="1737360"/>
            <a:ext cx="2615184" cy="2011680"/>
          </a:xfrm>
          <a:prstGeom prst="roundRect">
            <a:avLst>
              <a:gd name="adj" fmla="val 4091"/>
            </a:avLst>
          </a:prstGeom>
          <a:solidFill>
            <a:srgbClr val="F2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6144768" y="1737360"/>
            <a:ext cx="2615184" cy="548640"/>
          </a:xfrm>
          <a:prstGeom prst="roundRect">
            <a:avLst>
              <a:gd name="adj" fmla="val 15000"/>
            </a:avLst>
          </a:prstGeom>
          <a:solidFill>
            <a:srgbClr val="16263F"/>
          </a:solidFill>
          <a:ln/>
        </p:spPr>
      </p:sp>
      <p:sp>
        <p:nvSpPr>
          <p:cNvPr id="18" name="Text 15"/>
          <p:cNvSpPr/>
          <p:nvPr/>
        </p:nvSpPr>
        <p:spPr>
          <a:xfrm>
            <a:off x="6144768" y="173736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291072" y="23957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91072" y="2907792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MSE but back in real units</a:t>
            </a:r>
            <a:endParaRPr lang="en-US" sz="1030" dirty="0"/>
          </a:p>
        </p:txBody>
      </p:sp>
      <p:sp>
        <p:nvSpPr>
          <p:cNvPr id="21" name="Shape 18"/>
          <p:cNvSpPr/>
          <p:nvPr/>
        </p:nvSpPr>
        <p:spPr>
          <a:xfrm>
            <a:off x="8942832" y="1737360"/>
            <a:ext cx="2615184" cy="2011680"/>
          </a:xfrm>
          <a:prstGeom prst="roundRect">
            <a:avLst>
              <a:gd name="adj" fmla="val 4091"/>
            </a:avLst>
          </a:prstGeom>
          <a:solidFill>
            <a:srgbClr val="F2F5F9"/>
          </a:solidFill>
          <a:ln/>
        </p:spPr>
      </p:sp>
      <p:sp>
        <p:nvSpPr>
          <p:cNvPr id="22" name="Shape 19"/>
          <p:cNvSpPr/>
          <p:nvPr/>
        </p:nvSpPr>
        <p:spPr>
          <a:xfrm>
            <a:off x="8942832" y="1737360"/>
            <a:ext cx="2615184" cy="548640"/>
          </a:xfrm>
          <a:prstGeom prst="roundRect">
            <a:avLst>
              <a:gd name="adj" fmla="val 15000"/>
            </a:avLst>
          </a:prstGeom>
          <a:solidFill>
            <a:srgbClr val="16263F"/>
          </a:solidFill>
          <a:ln/>
        </p:spPr>
      </p:sp>
      <p:sp>
        <p:nvSpPr>
          <p:cNvPr id="23" name="Text 20"/>
          <p:cNvSpPr/>
          <p:nvPr/>
        </p:nvSpPr>
        <p:spPr>
          <a:xfrm>
            <a:off x="8942832" y="173736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089136" y="23957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089136" y="2907792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variance explained (0–1)</a:t>
            </a:r>
            <a:endParaRPr lang="en-US" sz="1030" dirty="0"/>
          </a:p>
        </p:txBody>
      </p:sp>
      <p:sp>
        <p:nvSpPr>
          <p:cNvPr id="26" name="Shape 23"/>
          <p:cNvSpPr/>
          <p:nvPr/>
        </p:nvSpPr>
        <p:spPr>
          <a:xfrm>
            <a:off x="548640" y="40690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F1D8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guide: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RMSE for an error in real units and R² for 'how much better than the mean'. Use MAE when outliers shouldn't dominate.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TO STRIKE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Underfitting &amp; overfitting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arrowdow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simple — high train &amp; test error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check2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signal, ignores noise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war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memorises noise — big train-test gap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balanc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677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Bias–variance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behind it (U13)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 </a:t>
            </a:r>
            <a:pPr algn="l" indent="0" marL="0"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complexity where test error is lowest — fitting the pattern without chasing the noise.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ipe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PATTERN, EVERY MODEL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scikit-learn workflow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API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fit / predict / score on every estimator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models freely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change one line to try another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bundle preprocessing + model, leak-free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cross_val_score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evaluate robustly in one call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2926080"/>
          </a:xfrm>
          <a:prstGeom prst="roundRect">
            <a:avLst>
              <a:gd name="adj" fmla="val 1875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27648" y="2048256"/>
            <a:ext cx="511149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make_pipeline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cross_val_score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make_pipeline(StandardScaler(),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RandomForestClassifier())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cross_val_score(pipe, X, y, cv=5).mean()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two different classifiers on the same data with one line changed; compare CV scores.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MODEL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free lunch — start simple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37360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quick, interpretable baseline</a:t>
            </a:r>
            <a:endParaRPr lang="en-US" sz="1250" dirty="0"/>
          </a:p>
        </p:txBody>
      </p:sp>
      <p:pic>
        <p:nvPicPr>
          <p:cNvPr id="8" name="Image 1" descr="ic_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965960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173736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logistic regression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414016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241401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data, mixed feature types</a:t>
            </a:r>
            <a:endParaRPr lang="en-US" sz="1250" dirty="0"/>
          </a:p>
        </p:txBody>
      </p:sp>
      <p:pic>
        <p:nvPicPr>
          <p:cNvPr id="12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642616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60920" y="241401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(random forest, XGBoost)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090672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22960" y="309067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features, smooth boundary</a:t>
            </a:r>
            <a:endParaRPr lang="en-US" sz="1250" dirty="0"/>
          </a:p>
        </p:txBody>
      </p:sp>
      <p:pic>
        <p:nvPicPr>
          <p:cNvPr id="16" name="Image 3" descr="ic_arrow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319272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60920" y="30906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or k-NN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3767328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22960" y="376732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text, audio, huge data</a:t>
            </a:r>
            <a:endParaRPr lang="en-US" sz="1250" dirty="0"/>
          </a:p>
        </p:txBody>
      </p:sp>
      <p:pic>
        <p:nvPicPr>
          <p:cNvPr id="20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3995928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60920" y="376732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48640" y="4443984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822960" y="444398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250" dirty="0"/>
          </a:p>
        </p:txBody>
      </p:sp>
      <p:pic>
        <p:nvPicPr>
          <p:cNvPr id="24" name="Image 5" descr="ic_arrow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4672584"/>
            <a:ext cx="146304" cy="1463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60920" y="444398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simple; add complexity only if it helps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548640" y="51389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wins everywhere — the 'best' one depends on your data and goal.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eckdb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SUPERVISED RECIPE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Putting it all together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303020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ta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224942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072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76656" y="30998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or regression?</a:t>
            </a:r>
            <a:endParaRPr lang="en-US" sz="900" dirty="0"/>
          </a:p>
        </p:txBody>
      </p:sp>
      <p:pic>
        <p:nvPicPr>
          <p:cNvPr id="11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569464"/>
            <a:ext cx="146304" cy="1463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834640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13" name="Shape 8"/>
          <p:cNvSpPr/>
          <p:nvPr/>
        </p:nvSpPr>
        <p:spPr>
          <a:xfrm>
            <a:off x="3570732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4" name="Image 3" descr="ic_tren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892" y="2249424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926080" y="28072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2944368" y="30998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model first</a:t>
            </a:r>
            <a:endParaRPr lang="en-US" sz="900" dirty="0"/>
          </a:p>
        </p:txBody>
      </p:sp>
      <p:pic>
        <p:nvPicPr>
          <p:cNvPr id="17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569464"/>
            <a:ext cx="146304" cy="14630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102352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19" name="Shape 12"/>
          <p:cNvSpPr/>
          <p:nvPr/>
        </p:nvSpPr>
        <p:spPr>
          <a:xfrm>
            <a:off x="5838444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5" descr="ic_rul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5604" y="2249424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93792" y="28072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5212080" y="30998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metric, via CV</a:t>
            </a:r>
            <a:endParaRPr lang="en-US" sz="900" dirty="0"/>
          </a:p>
        </p:txBody>
      </p:sp>
      <p:pic>
        <p:nvPicPr>
          <p:cNvPr id="23" name="Image 6" descr="ic_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2569464"/>
            <a:ext cx="146304" cy="146304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370064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25" name="Shape 16"/>
          <p:cNvSpPr/>
          <p:nvPr/>
        </p:nvSpPr>
        <p:spPr>
          <a:xfrm>
            <a:off x="8106156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6" name="Image 7" descr="ic_sliders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316" y="2249424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461504" y="28072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7479792" y="30998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tune, add complexity if it helps</a:t>
            </a:r>
            <a:endParaRPr lang="en-US" sz="900" dirty="0"/>
          </a:p>
        </p:txBody>
      </p:sp>
      <p:pic>
        <p:nvPicPr>
          <p:cNvPr id="29" name="Image 8" descr="ic_arrow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4896" y="2569464"/>
            <a:ext cx="146304" cy="146304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637776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10373868" y="2112264"/>
            <a:ext cx="585216" cy="585216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9" descr="ic_rocket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1028" y="2249424"/>
            <a:ext cx="310896" cy="31089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729216" y="28072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250" dirty="0"/>
          </a:p>
        </p:txBody>
      </p:sp>
      <p:sp>
        <p:nvSpPr>
          <p:cNvPr id="34" name="Text 22"/>
          <p:cNvSpPr/>
          <p:nvPr/>
        </p:nvSpPr>
        <p:spPr>
          <a:xfrm>
            <a:off x="9747504" y="30998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 the held-out test set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548640" y="38862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/>
        </p:spPr>
      </p:sp>
      <p:sp>
        <p:nvSpPr>
          <p:cNvPr id="36" name="Text 24"/>
          <p:cNvSpPr/>
          <p:nvPr/>
        </p:nvSpPr>
        <p:spPr>
          <a:xfrm>
            <a:off x="822960" y="3886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model you understand and evaluate honestly beats a complex one you can't trust. The next units fill in each algorithm.</a:t>
            </a:r>
            <a:endParaRPr lang="en-US" sz="1350" dirty="0"/>
          </a:p>
        </p:txBody>
      </p:sp>
      <p:sp>
        <p:nvSpPr>
          <p:cNvPr id="37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38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RIGHT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Pitfalls &amp; best practices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war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test on train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evaluate on unseen data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rul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metric to task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≠ the goal on imbalanced data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tren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first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a simple model before going complex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split can mislead you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trap: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celebrating a high training score. Only the held-out test score tells you how the model will really perform.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= learn X → y from labels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vs regression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API: fit / predict / score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metric to the task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on unseen data; cross-validate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classifier with fit/predict/score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accuracy, precision, recall, F1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regressor; report RMSE &amp; R²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a second model; compare via CV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train vs test gap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(Part 1) — your first model in depth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fit, evaluate, interpret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is a disciplined loop — frame the task, fit a model, evaluate it honestly on unseen data, and improve.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U14 · Supervised Learning Foundations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2026-06-11T11:18:31Z</dcterms:created>
  <dcterms:modified xsi:type="dcterms:W3CDTF">2026-06-11T11:18:31Z</dcterms:modified>
</cp:coreProperties>
</file>