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1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2.png"/><Relationship Id="rId4" Type="http://schemas.openxmlformats.org/officeDocument/2006/relationships/image" Target="../media/image-19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databas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PHASE F — DATA ENGINEERING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Cloud Storage &amp; Databases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41248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data lives in the cloud — and how to store it well  (Part 1)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415137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· block · file  ·  SQL · NoSQL  ·  replication  ·  CAP  ·  durability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U23  ·  Phase F  ·  25 slides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Storing data so it's safe, fast and queryable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model, dashboard and app reads and writes data somewhere. </a:t>
            </a:r>
            <a:pPr algn="l" indent="0" marL="0">
              <a:lnSpc>
                <a:spcPct val="104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storage and database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decides cost, speed and reliability.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clou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58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· block · file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warehou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&amp; lakes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2944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hot→archive, lake vs warehouse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230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(SQL) &amp; NoSQL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sync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out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7516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&amp; sharding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balanc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9802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CAP, indexing, durability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builds the foundation: storage types, database families and the core trade-offs. Part 2 goes deeper on scaling, caching and security.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clou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DATA LIVES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Storing data in the cloud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Object, block and file storage — and when to use each.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&amp; Databases · Part 1 · Phase F  ·  03 / 25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lou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→ CLOUD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store data in the cloud?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buying and maintaining disks, you rent storage as a managed service that grows on demand.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615184" cy="2240280"/>
          </a:xfrm>
          <a:prstGeom prst="roundRect">
            <a:avLst>
              <a:gd name="adj" fmla="val 3673"/>
            </a:avLst>
          </a:prstGeom>
          <a:solidFill>
            <a:srgbClr val="F2F5F9"/>
          </a:solidFill>
          <a:ln/>
        </p:spPr>
      </p:sp>
      <p:sp>
        <p:nvSpPr>
          <p:cNvPr id="9" name="Shape 6"/>
          <p:cNvSpPr/>
          <p:nvPr/>
        </p:nvSpPr>
        <p:spPr>
          <a:xfrm>
            <a:off x="1472184" y="29809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gaug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318211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" y="38587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94944" y="4169664"/>
            <a:ext cx="23225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from MB to PB with no hardware to buy</a:t>
            </a:r>
            <a:endParaRPr lang="en-US" sz="1030" dirty="0"/>
          </a:p>
        </p:txBody>
      </p:sp>
      <p:sp>
        <p:nvSpPr>
          <p:cNvPr id="13" name="Shape 9"/>
          <p:cNvSpPr/>
          <p:nvPr/>
        </p:nvSpPr>
        <p:spPr>
          <a:xfrm>
            <a:off x="3346704" y="2743200"/>
            <a:ext cx="2615184" cy="2240280"/>
          </a:xfrm>
          <a:prstGeom prst="roundRect">
            <a:avLst>
              <a:gd name="adj" fmla="val 3673"/>
            </a:avLst>
          </a:prstGeom>
          <a:solidFill>
            <a:srgbClr val="F2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4270248" y="29809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5" name="Image 2" descr="ic_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318211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56432" y="38587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3493008" y="4169664"/>
            <a:ext cx="23225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copied across devices &amp; sites (≈11 nines)</a:t>
            </a:r>
            <a:endParaRPr lang="en-US" sz="1030" dirty="0"/>
          </a:p>
        </p:txBody>
      </p:sp>
      <p:sp>
        <p:nvSpPr>
          <p:cNvPr id="18" name="Shape 13"/>
          <p:cNvSpPr/>
          <p:nvPr/>
        </p:nvSpPr>
        <p:spPr>
          <a:xfrm>
            <a:off x="6144768" y="2743200"/>
            <a:ext cx="2615184" cy="2240280"/>
          </a:xfrm>
          <a:prstGeom prst="roundRect">
            <a:avLst>
              <a:gd name="adj" fmla="val 3673"/>
            </a:avLst>
          </a:prstGeom>
          <a:solidFill>
            <a:srgbClr val="F2F5F9"/>
          </a:solidFill>
          <a:ln/>
        </p:spPr>
      </p:sp>
      <p:sp>
        <p:nvSpPr>
          <p:cNvPr id="19" name="Shape 14"/>
          <p:cNvSpPr/>
          <p:nvPr/>
        </p:nvSpPr>
        <p:spPr>
          <a:xfrm>
            <a:off x="7068312" y="29809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3" descr="ic_glob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3182112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54496" y="38587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291072" y="4169664"/>
            <a:ext cx="23225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over the network, anywhere</a:t>
            </a:r>
            <a:endParaRPr lang="en-US" sz="1030" dirty="0"/>
          </a:p>
        </p:txBody>
      </p:sp>
      <p:sp>
        <p:nvSpPr>
          <p:cNvPr id="23" name="Shape 17"/>
          <p:cNvSpPr/>
          <p:nvPr/>
        </p:nvSpPr>
        <p:spPr>
          <a:xfrm>
            <a:off x="8942832" y="2743200"/>
            <a:ext cx="2615184" cy="2240280"/>
          </a:xfrm>
          <a:prstGeom prst="roundRect">
            <a:avLst>
              <a:gd name="adj" fmla="val 3673"/>
            </a:avLst>
          </a:prstGeom>
          <a:solidFill>
            <a:srgbClr val="F2F5F9"/>
          </a:solidFill>
          <a:ln/>
        </p:spPr>
      </p:sp>
      <p:sp>
        <p:nvSpPr>
          <p:cNvPr id="24" name="Shape 18"/>
          <p:cNvSpPr/>
          <p:nvPr/>
        </p:nvSpPr>
        <p:spPr>
          <a:xfrm>
            <a:off x="9866376" y="29809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5" name="Image 4" descr="ic_tag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3182112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52560" y="38587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Pay-as-you-go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9089136" y="4169664"/>
            <a:ext cx="23225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for what you store and transfer</a:t>
            </a:r>
            <a:endParaRPr lang="en-US" sz="1030" dirty="0"/>
          </a:p>
        </p:txBody>
      </p:sp>
      <p:sp>
        <p:nvSpPr>
          <p:cNvPr id="28" name="Text 21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to manage later: egress cost, latency from the network, and data governance / residency.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layergro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SHAPES OF STORAGE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Object, block &amp; file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2286000"/>
            <a:ext cx="3416808" cy="1920240"/>
          </a:xfrm>
          <a:prstGeom prst="roundRect">
            <a:avLst>
              <a:gd name="adj" fmla="val 381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946148" y="248716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8" name="Image 1" descr="ic_cube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596" y="264261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200400"/>
            <a:ext cx="3233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58368" y="3529584"/>
            <a:ext cx="3197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as objects in a flat bucket (S3-style)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983736" y="2286000"/>
            <a:ext cx="3840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8"/>
          <p:cNvSpPr/>
          <p:nvPr/>
        </p:nvSpPr>
        <p:spPr>
          <a:xfrm>
            <a:off x="4386072" y="2286000"/>
            <a:ext cx="3416808" cy="1920240"/>
          </a:xfrm>
          <a:prstGeom prst="roundRect">
            <a:avLst>
              <a:gd name="adj" fmla="val 381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783580" y="248716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4" name="Image 2" descr="ic_gri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028" y="264261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77512" y="3200400"/>
            <a:ext cx="3233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495800" y="3529584"/>
            <a:ext cx="3197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volumes attached to a VM (disk-style)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7821168" y="2286000"/>
            <a:ext cx="3840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3"/>
          <p:cNvSpPr/>
          <p:nvPr/>
        </p:nvSpPr>
        <p:spPr>
          <a:xfrm>
            <a:off x="8223504" y="2286000"/>
            <a:ext cx="3416808" cy="1920240"/>
          </a:xfrm>
          <a:prstGeom prst="roundRect">
            <a:avLst>
              <a:gd name="adj" fmla="val 381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621012" y="248716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0" name="Image 3" descr="ic_lis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6460" y="2642616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14944" y="3200400"/>
            <a:ext cx="3233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8333232" y="3529584"/>
            <a:ext cx="3197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folders over a network (NFS-style)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48640" y="4572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object for scale &amp; static data, block for databases &amp; low latency, file for shared access across machines.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ub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BUCKETS, KEYS &amp; METADATA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Object storage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 is an object (data + metadata + unique key) stored in a flat namespace called a bucket — no real folders.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97480"/>
            <a:ext cx="91440" cy="23774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near-unlimited scale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cost per GB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versioning &amp; lifecycle rules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access; great for the web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97480"/>
            <a:ext cx="91440" cy="23774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video, documents, backups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data-lake landing zone (raw files)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and archives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website assets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for: random in-place edits or low-latency transactional reads — objects are written and replaced whole.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gri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VOLUMES FOR COMPUTE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Block storage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storage: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disk split into fixed blocks, attached to one VM at a time — the filesystem and database live on top.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97480"/>
            <a:ext cx="91440" cy="23774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latency, high IOPS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random read/write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for backup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resizable volumes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97480"/>
            <a:ext cx="91440" cy="23774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storage engines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disks for VMs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workloads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needing fast writes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attached to a single instance — for shared access across many machines, reach for file storage.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lis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NETWORK FOLDERS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File storage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managed, hierarchical filesystem (folders &amp; files) that many machines can mount and share at once over NFS/SMB.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97480"/>
            <a:ext cx="91440" cy="23774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folders &amp; paths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by many clients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 permissions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changes (just mount it)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97480"/>
            <a:ext cx="91440" cy="23774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lift-and-shift legacy apps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home / project dirs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management systems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scratch space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expensive per GB than object storage; scale is good but not unlimited.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ONE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Choosing a storage type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11091672" cy="841248"/>
          </a:xfrm>
          <a:prstGeom prst="roundRect">
            <a:avLst>
              <a:gd name="adj" fmla="val 7609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737360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017520" y="1737360"/>
            <a:ext cx="8439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data at scale: media, backups, data lakes, static assets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651760"/>
            <a:ext cx="1109167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651760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017520" y="2651760"/>
            <a:ext cx="8439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&amp; low-latency apps needing fast in-place read/write on one VM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566160"/>
            <a:ext cx="11091672" cy="841248"/>
          </a:xfrm>
          <a:prstGeom prst="roundRect">
            <a:avLst>
              <a:gd name="adj" fmla="val 7609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566160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017520" y="3566160"/>
            <a:ext cx="8439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access across many machines; legacy apps expecting a filesystem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three questions: who/what needs access, how latency-sensitive is it, and how big will it grow?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gau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vs ACCESS SPEED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Storage tiers (hot → archive)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idea: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data to cheaper tiers as it cools — frequently-read data is 'hot', rarely-touched data is 'archive'.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615184" cy="2240280"/>
          </a:xfrm>
          <a:prstGeom prst="roundRect">
            <a:avLst>
              <a:gd name="adj" fmla="val 3673"/>
            </a:avLst>
          </a:prstGeom>
          <a:solidFill>
            <a:srgbClr val="F2F5F9"/>
          </a:solidFill>
          <a:ln/>
        </p:spPr>
      </p:sp>
      <p:sp>
        <p:nvSpPr>
          <p:cNvPr id="9" name="Shape 6"/>
          <p:cNvSpPr/>
          <p:nvPr/>
        </p:nvSpPr>
        <p:spPr>
          <a:xfrm>
            <a:off x="1472184" y="29809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gaug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318211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" y="38587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94944" y="4169664"/>
            <a:ext cx="23225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access · highest $/GB · instant</a:t>
            </a:r>
            <a:endParaRPr lang="en-US" sz="1030" dirty="0"/>
          </a:p>
        </p:txBody>
      </p:sp>
      <p:sp>
        <p:nvSpPr>
          <p:cNvPr id="13" name="Shape 9"/>
          <p:cNvSpPr/>
          <p:nvPr/>
        </p:nvSpPr>
        <p:spPr>
          <a:xfrm>
            <a:off x="3346704" y="2743200"/>
            <a:ext cx="2615184" cy="2240280"/>
          </a:xfrm>
          <a:prstGeom prst="roundRect">
            <a:avLst>
              <a:gd name="adj" fmla="val 3673"/>
            </a:avLst>
          </a:prstGeom>
          <a:solidFill>
            <a:srgbClr val="F2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4270248" y="29809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5" name="Image 2" descr="ic_c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318211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56432" y="38587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3493008" y="4169664"/>
            <a:ext cx="23225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infrequent access · cheaper · seconds</a:t>
            </a:r>
            <a:endParaRPr lang="en-US" sz="1030" dirty="0"/>
          </a:p>
        </p:txBody>
      </p:sp>
      <p:sp>
        <p:nvSpPr>
          <p:cNvPr id="18" name="Shape 13"/>
          <p:cNvSpPr/>
          <p:nvPr/>
        </p:nvSpPr>
        <p:spPr>
          <a:xfrm>
            <a:off x="6144768" y="2743200"/>
            <a:ext cx="2615184" cy="2240280"/>
          </a:xfrm>
          <a:prstGeom prst="roundRect">
            <a:avLst>
              <a:gd name="adj" fmla="val 3673"/>
            </a:avLst>
          </a:prstGeom>
          <a:solidFill>
            <a:srgbClr val="F2F5F9"/>
          </a:solidFill>
          <a:ln/>
        </p:spPr>
      </p:sp>
      <p:sp>
        <p:nvSpPr>
          <p:cNvPr id="19" name="Shape 14"/>
          <p:cNvSpPr/>
          <p:nvPr/>
        </p:nvSpPr>
        <p:spPr>
          <a:xfrm>
            <a:off x="7068312" y="29809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3" descr="ic_history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3182112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54496" y="38587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291072" y="4169664"/>
            <a:ext cx="23225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access · cheap · minutes</a:t>
            </a:r>
            <a:endParaRPr lang="en-US" sz="1030" dirty="0"/>
          </a:p>
        </p:txBody>
      </p:sp>
      <p:sp>
        <p:nvSpPr>
          <p:cNvPr id="23" name="Shape 17"/>
          <p:cNvSpPr/>
          <p:nvPr/>
        </p:nvSpPr>
        <p:spPr>
          <a:xfrm>
            <a:off x="8942832" y="2743200"/>
            <a:ext cx="2615184" cy="2240280"/>
          </a:xfrm>
          <a:prstGeom prst="roundRect">
            <a:avLst>
              <a:gd name="adj" fmla="val 3673"/>
            </a:avLst>
          </a:prstGeom>
          <a:solidFill>
            <a:srgbClr val="F2F5F9"/>
          </a:solidFill>
          <a:ln/>
        </p:spPr>
      </p:sp>
      <p:sp>
        <p:nvSpPr>
          <p:cNvPr id="24" name="Shape 18"/>
          <p:cNvSpPr/>
          <p:nvPr/>
        </p:nvSpPr>
        <p:spPr>
          <a:xfrm>
            <a:off x="9866376" y="29809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5" name="Image 4" descr="ic_warehous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3182112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52560" y="38587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9089136" y="4169664"/>
            <a:ext cx="23225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never · cheapest · hours to restore</a:t>
            </a:r>
            <a:endParaRPr lang="en-US" sz="1030" dirty="0"/>
          </a:p>
        </p:txBody>
      </p:sp>
      <p:sp>
        <p:nvSpPr>
          <p:cNvPr id="28" name="Text 21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transitions with lifecycle policies — but mind retrieval fees and restore latency on cold tiers.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ehou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HOMES FOR ANALYTICS DATA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lake vs data warehouse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91440" cy="28346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in open formats (object storage)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schema-on-read (structure applied later)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data: logs, images, JSON, tables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flexible, great for ML/exploration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828800"/>
            <a:ext cx="91440" cy="28346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modelled tables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schema-on-write (structure up front)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for SQL analytics &amp; BI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governed, costs more per query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'lakehouse' platforms blur the line — warehouse-style tables managed directly on lake storage.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&amp; SEMI-STRUCTURED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Databases in the cloud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(SQL) and NoSQL — different shapes for different jobs.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&amp; Databases · Part 1 · Phase F  ·  12 / 25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ab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ROWS &amp; RELATIONS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Relational databases (SQL)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tables of rows &amp; columns with a fixed schema; related tables joined by keys; queried with SQL.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97480"/>
            <a:ext cx="91440" cy="23774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consistency &amp; ACID transactions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joins and ad-hoc queries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tooling &amp; standards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schema = data integrity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97480"/>
            <a:ext cx="91440" cy="23774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schema; migrations needed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up more easily than out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can get expensive at scale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PostgreSQL, MySQL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choice for transactional systems where correctness matters (orders, payments, inventory).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TRANSACTION SAFE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ACID properties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1579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check2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35915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30358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34670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steps commit, or none do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92024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1579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balanc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35915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30358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34670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 leaves valid state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92024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1579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lay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35915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30358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34670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txns don't corrupt each other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92024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1579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lo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35915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30358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34670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data survives crashes</a:t>
            </a:r>
            <a:endParaRPr lang="en-US" sz="1030" dirty="0"/>
          </a:p>
        </p:txBody>
      </p:sp>
      <p:sp>
        <p:nvSpPr>
          <p:cNvPr id="26" name="Text 19"/>
          <p:cNvSpPr/>
          <p:nvPr/>
        </p:nvSpPr>
        <p:spPr>
          <a:xfrm>
            <a:off x="548640" y="4937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is why a bank transfer never loses or duplicates money — even if the server crashes mid-transaction.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TABLES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NoSQL databases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family of non-relational stores built for flexible schemas and horizontal scale — trading some consistency for speed and size.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97480"/>
            <a:ext cx="91440" cy="23774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reach for it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/ evolving schema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horizontal scale-out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write throughput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access patterns by key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97480"/>
            <a:ext cx="91440" cy="23774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/ eventual consistency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joins &amp; ad-hoc queries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design around access patterns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standardised across vendors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'NoSQL' really means 'not only SQL' — pick it for the workload, not as a blanket replacement.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hap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MAIN FAMILIES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Types of NoSQL store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2615184" cy="2423160"/>
          </a:xfrm>
          <a:prstGeom prst="roundRect">
            <a:avLst>
              <a:gd name="adj" fmla="val 3396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1579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has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35915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30358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346704"/>
            <a:ext cx="232257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lookups by key; caches, sessions (Redis)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920240"/>
            <a:ext cx="2615184" cy="2423160"/>
          </a:xfrm>
          <a:prstGeom prst="roundRect">
            <a:avLst>
              <a:gd name="adj" fmla="val 3396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1579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filecod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35915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30358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346704"/>
            <a:ext cx="232257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JSON-like docs; flexible records (MongoDB)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920240"/>
            <a:ext cx="2615184" cy="2423160"/>
          </a:xfrm>
          <a:prstGeom prst="roundRect">
            <a:avLst>
              <a:gd name="adj" fmla="val 3396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1579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gri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35915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30358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Wide-Column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346704"/>
            <a:ext cx="232257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sparse tables; time-series (Cassandra)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920240"/>
            <a:ext cx="2615184" cy="2423160"/>
          </a:xfrm>
          <a:prstGeom prst="roundRect">
            <a:avLst>
              <a:gd name="adj" fmla="val 3396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1579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ne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35915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30358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346704"/>
            <a:ext cx="232257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&amp; edges; relationships (Neo4j)</a:t>
            </a:r>
            <a:endParaRPr lang="en-US" sz="1030" dirty="0"/>
          </a:p>
        </p:txBody>
      </p:sp>
      <p:sp>
        <p:nvSpPr>
          <p:cNvPr id="26" name="Text 19"/>
          <p:cNvSpPr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model to the shape of your data and how you'll query it — that choice drives everything else.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exchan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SQL vs NoSQL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91440" cy="28346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SQL when…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structured &amp; relational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transactions &amp; strong consistency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flexible ad-hoc queries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rules matter most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828800"/>
            <a:ext cx="91440" cy="28346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NoSQL when…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changes often or varies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to scale writes horizontally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by key / known patterns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speed beat strict consistency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systems are often polyglot: a relational core plus a key-value cache plus a search/graph store.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erv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RUNS THE DATABASE?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Managed vs self-managed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91440" cy="28346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(DBaaS)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handles patching, backups, failover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in minutes; scale with a click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control, higher per-hour cost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RDS, Cloud SQL, Atlas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828800"/>
            <a:ext cx="91440" cy="28346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Self-managed (on a VM)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install, tune, patch &amp; back up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&amp; potentially lower cost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on-call burden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ops effort and risk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managed unless you have a strong reason — your time is usually worth more than the premium.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yn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FOR SAFETY &amp; SPEED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Replication &amp; high availability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synchronized copies of the data. The primary takes writes; replicas serve reads and stand by for failover.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3416808" cy="1828800"/>
          </a:xfrm>
          <a:prstGeom prst="roundRect">
            <a:avLst>
              <a:gd name="adj" fmla="val 4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946148" y="289864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0" name="Image 1" descr="ic_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596" y="305409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3611880"/>
            <a:ext cx="3233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58368" y="3941064"/>
            <a:ext cx="319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all writes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983736" y="2697480"/>
            <a:ext cx="3840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0"/>
          <p:cNvSpPr/>
          <p:nvPr/>
        </p:nvSpPr>
        <p:spPr>
          <a:xfrm>
            <a:off x="4386072" y="2697480"/>
            <a:ext cx="3416808" cy="1828800"/>
          </a:xfrm>
          <a:prstGeom prst="roundRect">
            <a:avLst>
              <a:gd name="adj" fmla="val 4000"/>
            </a:avLst>
          </a:prstGeom>
          <a:solidFill>
            <a:srgbClr val="2D6A9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83580" y="289864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6" name="Image 2" descr="ic_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028" y="305409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77512" y="3611880"/>
            <a:ext cx="3233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A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495800" y="3941064"/>
            <a:ext cx="319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reads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7821168" y="2697480"/>
            <a:ext cx="3840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5"/>
          <p:cNvSpPr/>
          <p:nvPr/>
        </p:nvSpPr>
        <p:spPr>
          <a:xfrm>
            <a:off x="8223504" y="2697480"/>
            <a:ext cx="3416808" cy="1828800"/>
          </a:xfrm>
          <a:prstGeom prst="roundRect">
            <a:avLst>
              <a:gd name="adj" fmla="val 4000"/>
            </a:avLst>
          </a:prstGeom>
          <a:solidFill>
            <a:srgbClr val="2D6A9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621012" y="289864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2" name="Image 3" descr="ic_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6460" y="3054096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14944" y="3611880"/>
            <a:ext cx="3233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B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333232" y="3941064"/>
            <a:ext cx="319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standby for failover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primary fails, a replica is promoted. Replicas also spread read load — a common, cheap scaling win.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has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TO SCALE OUT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Partitioning &amp; sharding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one big table across many machines by a shard key, so each holds a slice — more nodes, more capacity.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68096" y="2788920"/>
            <a:ext cx="2542032" cy="1371600"/>
          </a:xfrm>
          <a:prstGeom prst="roundRect">
            <a:avLst>
              <a:gd name="adj" fmla="val 533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59536" y="2788920"/>
            <a:ext cx="2359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1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A–F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21024" y="2788920"/>
            <a:ext cx="2542032" cy="1371600"/>
          </a:xfrm>
          <a:prstGeom prst="roundRect">
            <a:avLst>
              <a:gd name="adj" fmla="val 533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712464" y="2788920"/>
            <a:ext cx="2359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2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G–M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73952" y="2788920"/>
            <a:ext cx="2542032" cy="1371600"/>
          </a:xfrm>
          <a:prstGeom prst="roundRect">
            <a:avLst>
              <a:gd name="adj" fmla="val 533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65392" y="2788920"/>
            <a:ext cx="2359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3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N–S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326880" y="2788920"/>
            <a:ext cx="2542032" cy="1371600"/>
          </a:xfrm>
          <a:prstGeom prst="roundRect">
            <a:avLst>
              <a:gd name="adj" fmla="val 533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418320" y="2788920"/>
            <a:ext cx="2359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4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T–Z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4754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shard key carefully: a skewed key creates 'hot' shards. Re-sharding later is painful — plan ahead.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DISTRIBUTED TRADE-OFF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CAP theorem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27632"/>
            <a:ext cx="11091672" cy="3246120"/>
          </a:xfrm>
          <a:prstGeom prst="roundRect">
            <a:avLst>
              <a:gd name="adj" fmla="val 2817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828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 network partition, pick two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783080" y="2423160"/>
            <a:ext cx="1737360" cy="1737360"/>
          </a:xfrm>
          <a:prstGeom prst="ellipse">
            <a:avLst/>
          </a:prstGeom>
          <a:solidFill>
            <a:srgbClr val="2D6A9F"/>
          </a:solidFill>
          <a:ln w="19050">
            <a:solidFill>
              <a:srgbClr val="F4B9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783080" y="27889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554480" y="42245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 sees the latest write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64608" y="2423160"/>
            <a:ext cx="1737360" cy="1737360"/>
          </a:xfrm>
          <a:prstGeom prst="ellipse">
            <a:avLst/>
          </a:prstGeom>
          <a:solidFill>
            <a:srgbClr val="2D6A9F"/>
          </a:solidFill>
          <a:ln w="19050">
            <a:solidFill>
              <a:srgbClr val="F4B9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64608" y="27889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636008" y="42245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gets a response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946136" y="2423160"/>
            <a:ext cx="1737360" cy="1737360"/>
          </a:xfrm>
          <a:prstGeom prst="ellipse">
            <a:avLst/>
          </a:prstGeom>
          <a:solidFill>
            <a:srgbClr val="2D6A9F"/>
          </a:solidFill>
          <a:ln w="19050">
            <a:solidFill>
              <a:srgbClr val="F4B9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46136" y="27889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</a:t>
            </a:r>
            <a:endParaRPr lang="en-US" sz="13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717536" y="42245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despite dropped messages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WILL partition, so P is non-negotiable in practice — real systems trade C against A (often choosing 'eventual' consistency).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READS FAST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Indexing basics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index: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sorted lookup structure (often a B-tree) that finds rows without scanning the whole table — like a book's index.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440680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97480"/>
            <a:ext cx="91440" cy="219456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index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300984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table scan, row by row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as the table grows (O(n))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only for small tables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97480"/>
            <a:ext cx="5440680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97480"/>
            <a:ext cx="91440" cy="219456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 index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300984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near-directly to matches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lookups (≈ O(log n))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filters, joins, sort keys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5166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speed reads but slow writes and use space — index the columns you filter and join on, not everything.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histo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LOSE THE DATA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Backups &amp; durability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 ≠ backup: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protects against hardware failure; backups protect against mistakes and corruption (a bad DELETE replicates too).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97480"/>
            <a:ext cx="91440" cy="23774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(point-in-time copies)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recovery (replay logs)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 copies for disaster recovery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scheduled, encrypted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97480"/>
            <a:ext cx="91440" cy="23774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with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 — how much data you can lose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— how fast you must recover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restores regularly (untested = none)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&amp; lifecycle policy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Common pitfalls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013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916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storage type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using object storage for a transactional DB (or block for huge static media).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66928" y="236829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2585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lifecycle policy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leaving everything in the hot tier — storage bills quietly balloon.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29352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825496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mistaken for backup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deleted or corrupted row replicates instantly; keep real backups.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35021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392424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shard / index choice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skewed shard keys make hot nodes; missing indexes make slow scans.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406908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395935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Chasing NoSQL by default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reaching for NoSQL when a relational DB with proper indexes would do.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66928" y="463600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45262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Untested restores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discovering a broken backup during an actual incident.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/ block / file — match to the job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hot→archive to control cost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for integrity, NoSQL for scale/flex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for HA; shard to scale out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CAP: under partition, trade C vs 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file to an object bucket; set a lifecycle rule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object vs block cost for 1 TB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same data in SQL and in a document store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read replica to a managed DB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snapshot and practise a restore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33172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979408" y="2286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&amp; Databases (Part 2)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94192" y="341071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979408" y="336499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scaling, caching, query tuning &amp; security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1" descr="ic_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5586984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l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single 'best' store — match the storage type and database family to the data's shape, access pattern and the consistency you truly need.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2026-06-12T09:42:01Z</dcterms:created>
  <dcterms:modified xsi:type="dcterms:W3CDTF">2026-06-12T09:42:01Z</dcterms:modified>
</cp:coreProperties>
</file>