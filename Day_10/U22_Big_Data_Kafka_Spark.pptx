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image" Target="../media/image-6-2.png"/><Relationship Id="rId7" Type="http://schemas.openxmlformats.org/officeDocument/2006/relationships/image" Target="../media/image-6-2.png"/><Relationship Id="rId8" Type="http://schemas.openxmlformats.org/officeDocument/2006/relationships/image" Target="../media/image-6-2.png"/><Relationship Id="rId9" Type="http://schemas.openxmlformats.org/officeDocument/2006/relationships/image" Target="../media/image-6-2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1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1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cube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PHASE F — DATA ENGINEERING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Big Data: Kafka &amp; Spark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41248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Streaming backbones and distributed compute at scale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415137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Vs · distributed computing · Apache Kafka · Apache Spark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U22  ·  Phase F  ·  25 slides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ub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When data outgrows a single machine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terabyte-and-beyond scale you can't fit data on one server. </a:t>
            </a:r>
            <a:pPr algn="l" indent="0" marL="0">
              <a:lnSpc>
                <a:spcPct val="104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systems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spread storage and compute across a cluster — Kafka moves it, Spark crunches it.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cube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58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Vs of big data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stream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basics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2944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event log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lay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internals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230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topics, partitions, groups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bol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basics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7516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compute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rocke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+ Kafka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9802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pipelines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548640" y="53218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pillars of the modern big-data stack: Kafka (the data backbone) and Spark (the compute engine).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U22 · Big Data: Kafka &amp; Spark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cub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BIG-DATA PROBLEM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scale changes everything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volume, velocity and variety break the single-machine model.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· Phase F  ·  03 / 25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ub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DATA 'BIG'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3 Vs of big data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947672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warehou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552" y="226771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944368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55264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terabytes to petabytes — too big for one disk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4315968" y="182880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5715000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bo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26771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25696" y="2944368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462272" y="3255264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arrive fast and continuously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8083296" y="182880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9482328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shape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5208" y="226771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193024" y="2944368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Variety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8229600" y="3255264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text, logs, images, JSON</a:t>
            </a:r>
            <a:endParaRPr lang="en-US" sz="1030" dirty="0"/>
          </a:p>
        </p:txBody>
      </p:sp>
      <p:sp>
        <p:nvSpPr>
          <p:cNvPr id="21" name="Text 15"/>
          <p:cNvSpPr/>
          <p:nvPr/>
        </p:nvSpPr>
        <p:spPr>
          <a:xfrm>
            <a:off x="548640" y="4160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extended with Veracity (quality) and Value (worth) — but the 3 Vs are the core test.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48640" y="47548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822960" y="4754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machine can't hold or process the data in time, you must distribute across many.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U22 · Big Data: Kafka &amp; Spark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erv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GROW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Scale up vs scale out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440680" cy="246888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783080"/>
            <a:ext cx="91440" cy="246888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476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up (vertical)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386584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a bigger machine — more CPU/RAM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simple: no code changes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ceiling; very expensive at the top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machine = one point of failure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783080"/>
            <a:ext cx="5440680" cy="246888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783080"/>
            <a:ext cx="91440" cy="246888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476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out (horizontal)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386584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commodity machines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near-limitless capacity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distributed software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fault-tolerant by replication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548640" y="4572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Big-data tools (Kafka, Spark, Hadoop) are built to scale OUT across clusters of ordinary machines.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U22 · Big Data: Kafka &amp; Spark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netwire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CLUSTERS WORK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Distributed computing basics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013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916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split data into chunks spread across nodes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24597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5000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node works on its chunk at once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11810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0837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locality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move compute to the data, not data to compute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" y="377647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666744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copies on multiple nodes survive failures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66928" y="443484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4325112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manager assigns work and tracks progress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355080" y="1783080"/>
            <a:ext cx="5285232" cy="3246120"/>
          </a:xfrm>
          <a:prstGeom prst="roundRect">
            <a:avLst>
              <a:gd name="adj" fmla="val 2817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355080" y="1965960"/>
            <a:ext cx="5285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&amp; CONQUER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766560" y="251460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16263F"/>
          </a:solidFill>
          <a:ln/>
        </p:spPr>
      </p:sp>
      <p:pic>
        <p:nvPicPr>
          <p:cNvPr id="19" name="Image 1" descr="ic_serv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624328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766560" y="29169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7909560" y="251460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16263F"/>
          </a:solidFill>
          <a:ln/>
        </p:spPr>
      </p:sp>
      <p:pic>
        <p:nvPicPr>
          <p:cNvPr id="22" name="Image 2" descr="ic_serv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624328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909560" y="29169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9052560" y="251460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16263F"/>
          </a:solidFill>
          <a:ln/>
        </p:spPr>
      </p:sp>
      <p:pic>
        <p:nvPicPr>
          <p:cNvPr id="25" name="Image 3" descr="ic_serv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2624328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52560" y="29169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10195560" y="251460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16263F"/>
          </a:solidFill>
          <a:ln/>
        </p:spPr>
      </p:sp>
      <p:pic>
        <p:nvPicPr>
          <p:cNvPr id="28" name="Image 4" descr="ic_serv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0" y="2624328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195560" y="29169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6766560" y="342900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16263F"/>
          </a:solidFill>
          <a:ln/>
        </p:spPr>
      </p:sp>
      <p:pic>
        <p:nvPicPr>
          <p:cNvPr id="31" name="Image 5" descr="ic_serve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3538728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66560" y="38313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7909560" y="342900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16263F"/>
          </a:solidFill>
          <a:ln/>
        </p:spPr>
      </p:sp>
      <p:pic>
        <p:nvPicPr>
          <p:cNvPr id="34" name="Image 6" descr="ic_server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538728"/>
            <a:ext cx="274320" cy="27432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909560" y="38313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850" dirty="0"/>
          </a:p>
        </p:txBody>
      </p:sp>
      <p:sp>
        <p:nvSpPr>
          <p:cNvPr id="36" name="Shape 27"/>
          <p:cNvSpPr/>
          <p:nvPr/>
        </p:nvSpPr>
        <p:spPr>
          <a:xfrm>
            <a:off x="9052560" y="342900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16263F"/>
          </a:solidFill>
          <a:ln/>
        </p:spPr>
      </p:sp>
      <p:pic>
        <p:nvPicPr>
          <p:cNvPr id="37" name="Image 7" descr="ic_server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2600" y="3538728"/>
            <a:ext cx="274320" cy="27432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052560" y="38313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850" dirty="0"/>
          </a:p>
        </p:txBody>
      </p:sp>
      <p:sp>
        <p:nvSpPr>
          <p:cNvPr id="39" name="Shape 29"/>
          <p:cNvSpPr/>
          <p:nvPr/>
        </p:nvSpPr>
        <p:spPr>
          <a:xfrm>
            <a:off x="10195560" y="3429000"/>
            <a:ext cx="914400" cy="685800"/>
          </a:xfrm>
          <a:prstGeom prst="roundRect">
            <a:avLst>
              <a:gd name="adj" fmla="val 10667"/>
            </a:avLst>
          </a:prstGeom>
          <a:solidFill>
            <a:srgbClr val="16263F"/>
          </a:solidFill>
          <a:ln/>
        </p:spPr>
      </p:sp>
      <p:pic>
        <p:nvPicPr>
          <p:cNvPr id="40" name="Image 8" descr="ic_server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15600" y="3538728"/>
            <a:ext cx="274320" cy="27432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10195560" y="38313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850" dirty="0"/>
          </a:p>
        </p:txBody>
      </p:sp>
      <p:sp>
        <p:nvSpPr>
          <p:cNvPr id="42" name="Text 31"/>
          <p:cNvSpPr/>
          <p:nvPr/>
        </p:nvSpPr>
        <p:spPr>
          <a:xfrm>
            <a:off x="6355080" y="4526280"/>
            <a:ext cx="5285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big job → many small tasks, run in parallel.</a:t>
            </a:r>
            <a:endParaRPr lang="en-US" sz="1150" dirty="0"/>
          </a:p>
        </p:txBody>
      </p:sp>
      <p:sp>
        <p:nvSpPr>
          <p:cNvPr id="43" name="Text 3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U22 · Big Data: Kafka &amp; Spark</a:t>
            </a:r>
            <a:endParaRPr lang="en-US" sz="950" dirty="0"/>
          </a:p>
        </p:txBody>
      </p:sp>
      <p:sp>
        <p:nvSpPr>
          <p:cNvPr id="44" name="Text 3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strea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data backbone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distributed, durable log that decouples who produces data from who consumes it.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· Phase F  ·  07 / 25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trea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STREAMING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Apache Kafka?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distributed, append-only log for real-time event streams — publishers write, subscribers read, at massive throughput.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3416808" cy="1737360"/>
          </a:xfrm>
          <a:prstGeom prst="roundRect">
            <a:avLst>
              <a:gd name="adj" fmla="val 4211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946148" y="294436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0" name="Image 1" descr="ic_broadcas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596" y="309981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3657600"/>
            <a:ext cx="3233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58368" y="3986784"/>
            <a:ext cx="3197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that publish events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983736" y="2743200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0"/>
          <p:cNvSpPr/>
          <p:nvPr/>
        </p:nvSpPr>
        <p:spPr>
          <a:xfrm>
            <a:off x="4386072" y="2743200"/>
            <a:ext cx="3416808" cy="1737360"/>
          </a:xfrm>
          <a:prstGeom prst="roundRect">
            <a:avLst>
              <a:gd name="adj" fmla="val 4211"/>
            </a:avLst>
          </a:prstGeom>
          <a:solidFill>
            <a:srgbClr val="2D6A9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83580" y="294436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6" name="Image 2" descr="ic_stream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028" y="309981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77512" y="3657600"/>
            <a:ext cx="3233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cluster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495800" y="3986784"/>
            <a:ext cx="3197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durable, replicated log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7821168" y="2743200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5"/>
          <p:cNvSpPr/>
          <p:nvPr/>
        </p:nvSpPr>
        <p:spPr>
          <a:xfrm>
            <a:off x="8223504" y="2743200"/>
            <a:ext cx="3416808" cy="1737360"/>
          </a:xfrm>
          <a:prstGeom prst="roundRect">
            <a:avLst>
              <a:gd name="adj" fmla="val 4211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621012" y="294436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2" name="Image 3" descr="ic_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6460" y="3099816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14944" y="3657600"/>
            <a:ext cx="3233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333232" y="3986784"/>
            <a:ext cx="3197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that read events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Decoupling is the key idea: producers and consumers never talk directly — Kafka sits between them.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U22 · Big Data: Kafka &amp; Spark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KAFKA ORGANISES DATA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Topics &amp; partitions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013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91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named stream of events (e.g. 'orders')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597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5000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topic is split into ordered, append-only logs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1810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0837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each event's position within its partition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77647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66674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guaranteed within a partition, not across them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66928" y="443484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432511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more partitions = more consumers in parallel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400800" y="1828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topic: orders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0" y="24048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6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040880" y="2240280"/>
            <a:ext cx="868680" cy="548640"/>
          </a:xfrm>
          <a:prstGeom prst="rect">
            <a:avLst/>
          </a:prstGeom>
          <a:solidFill>
            <a:srgbClr val="F2F5F9"/>
          </a:solidFill>
          <a:ln w="12700">
            <a:solidFill>
              <a:srgbClr val="C7D2D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0" y="22402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991856" y="2240280"/>
            <a:ext cx="868680" cy="548640"/>
          </a:xfrm>
          <a:prstGeom prst="rect">
            <a:avLst/>
          </a:prstGeom>
          <a:solidFill>
            <a:srgbClr val="F2F5F9"/>
          </a:solidFill>
          <a:ln w="12700">
            <a:solidFill>
              <a:srgbClr val="C7D2D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991856" y="22402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942832" y="2240280"/>
            <a:ext cx="868680" cy="548640"/>
          </a:xfrm>
          <a:prstGeom prst="rect">
            <a:avLst/>
          </a:prstGeom>
          <a:solidFill>
            <a:srgbClr val="F2F5F9"/>
          </a:solidFill>
          <a:ln w="12700">
            <a:solidFill>
              <a:srgbClr val="C7D2D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942832" y="22402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893808" y="2240280"/>
            <a:ext cx="868680" cy="548640"/>
          </a:xfrm>
          <a:prstGeom prst="rect">
            <a:avLst/>
          </a:prstGeom>
          <a:solidFill>
            <a:srgbClr val="F2F5F9"/>
          </a:solidFill>
          <a:ln w="12700">
            <a:solidFill>
              <a:srgbClr val="C7D2D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893808" y="22402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10844784" y="2240280"/>
            <a:ext cx="868680" cy="548640"/>
          </a:xfrm>
          <a:prstGeom prst="rect">
            <a:avLst/>
          </a:prstGeom>
          <a:solidFill>
            <a:srgbClr val="F4B942"/>
          </a:solidFill>
          <a:ln w="12700">
            <a:solidFill>
              <a:srgbClr val="C7D2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844784" y="22402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400800" y="32735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6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040880" y="3108960"/>
            <a:ext cx="868680" cy="548640"/>
          </a:xfrm>
          <a:prstGeom prst="rect">
            <a:avLst/>
          </a:prstGeom>
          <a:solidFill>
            <a:srgbClr val="F2F5F9"/>
          </a:solidFill>
          <a:ln w="12700">
            <a:solidFill>
              <a:srgbClr val="C7D2D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040880" y="310896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991856" y="3108960"/>
            <a:ext cx="868680" cy="548640"/>
          </a:xfrm>
          <a:prstGeom prst="rect">
            <a:avLst/>
          </a:prstGeom>
          <a:solidFill>
            <a:srgbClr val="F2F5F9"/>
          </a:solidFill>
          <a:ln w="12700">
            <a:solidFill>
              <a:srgbClr val="C7D2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991856" y="310896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942832" y="3108960"/>
            <a:ext cx="868680" cy="548640"/>
          </a:xfrm>
          <a:prstGeom prst="rect">
            <a:avLst/>
          </a:prstGeom>
          <a:solidFill>
            <a:srgbClr val="F2F5F9"/>
          </a:solidFill>
          <a:ln w="12700">
            <a:solidFill>
              <a:srgbClr val="C7D2D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942832" y="310896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9893808" y="3108960"/>
            <a:ext cx="868680" cy="548640"/>
          </a:xfrm>
          <a:prstGeom prst="rect">
            <a:avLst/>
          </a:prstGeom>
          <a:solidFill>
            <a:srgbClr val="F2F5F9"/>
          </a:solidFill>
          <a:ln w="12700">
            <a:solidFill>
              <a:srgbClr val="C7D2D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893808" y="310896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10844784" y="3108960"/>
            <a:ext cx="868680" cy="548640"/>
          </a:xfrm>
          <a:prstGeom prst="rect">
            <a:avLst/>
          </a:prstGeom>
          <a:solidFill>
            <a:srgbClr val="F4B942"/>
          </a:solidFill>
          <a:ln w="12700">
            <a:solidFill>
              <a:srgbClr val="C7D2D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844784" y="310896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400800" y="41422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6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7040880" y="3977640"/>
            <a:ext cx="868680" cy="548640"/>
          </a:xfrm>
          <a:prstGeom prst="rect">
            <a:avLst/>
          </a:prstGeom>
          <a:solidFill>
            <a:srgbClr val="F2F5F9"/>
          </a:solidFill>
          <a:ln w="12700">
            <a:solidFill>
              <a:srgbClr val="C7D2D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040880" y="39776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7991856" y="3977640"/>
            <a:ext cx="868680" cy="548640"/>
          </a:xfrm>
          <a:prstGeom prst="rect">
            <a:avLst/>
          </a:prstGeom>
          <a:solidFill>
            <a:srgbClr val="F2F5F9"/>
          </a:solidFill>
          <a:ln w="12700">
            <a:solidFill>
              <a:srgbClr val="C7D2D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991856" y="39776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8942832" y="3977640"/>
            <a:ext cx="868680" cy="548640"/>
          </a:xfrm>
          <a:prstGeom prst="rect">
            <a:avLst/>
          </a:prstGeom>
          <a:solidFill>
            <a:srgbClr val="F2F5F9"/>
          </a:solidFill>
          <a:ln w="12700">
            <a:solidFill>
              <a:srgbClr val="C7D2D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942832" y="39776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9893808" y="3977640"/>
            <a:ext cx="868680" cy="548640"/>
          </a:xfrm>
          <a:prstGeom prst="rect">
            <a:avLst/>
          </a:prstGeom>
          <a:solidFill>
            <a:srgbClr val="F2F5F9"/>
          </a:solidFill>
          <a:ln w="12700">
            <a:solidFill>
              <a:srgbClr val="C7D2DE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893808" y="39776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10844784" y="3977640"/>
            <a:ext cx="868680" cy="548640"/>
          </a:xfrm>
          <a:prstGeom prst="rect">
            <a:avLst/>
          </a:prstGeom>
          <a:solidFill>
            <a:srgbClr val="F4B942"/>
          </a:solidFill>
          <a:ln w="12700">
            <a:solidFill>
              <a:srgbClr val="C7D2DE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0844784" y="39776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7040880" y="4892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new events append here (offset grows)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U22 · Big Data: Kafka &amp; Spark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erv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CLUSTER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Brokers &amp; replication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15184" cy="1920240"/>
          </a:xfrm>
          <a:prstGeom prst="roundRect">
            <a:avLst>
              <a:gd name="adj" fmla="val 4286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serv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2199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09544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Kafka server; a cluster has many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783080"/>
            <a:ext cx="2615184" cy="1920240"/>
          </a:xfrm>
          <a:prstGeom prst="roundRect">
            <a:avLst>
              <a:gd name="adj" fmla="val 4286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lay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2199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09544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partition copied to N brokers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783080"/>
            <a:ext cx="2615184" cy="1920240"/>
          </a:xfrm>
          <a:prstGeom prst="roundRect">
            <a:avLst>
              <a:gd name="adj" fmla="val 4286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check2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2199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09544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replica handles reads/writes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783080"/>
            <a:ext cx="2615184" cy="1920240"/>
          </a:xfrm>
          <a:prstGeom prst="roundRect">
            <a:avLst>
              <a:gd name="adj" fmla="val 4286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shiel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2199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09544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follower takes over if the leader dies</a:t>
            </a:r>
            <a:endParaRPr lang="en-US" sz="1030" dirty="0"/>
          </a:p>
        </p:txBody>
      </p:sp>
      <p:sp>
        <p:nvSpPr>
          <p:cNvPr id="26" name="Text 19"/>
          <p:cNvSpPr/>
          <p:nvPr/>
        </p:nvSpPr>
        <p:spPr>
          <a:xfrm>
            <a:off x="548640" y="4069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factor 3 is common: tolerate 2 broker failures with zero data loss. Durability is Kafka's superpower.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U22 · Big Data: Kafka &amp; Spark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AT SCALE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Consumer groups &amp; offsets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440680" cy="246888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783080"/>
            <a:ext cx="91440" cy="246888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476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groups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386584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shares the work of a topic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partition goes to one group member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consumers → scale out reading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are independent of each other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783080"/>
            <a:ext cx="5440680" cy="246888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783080"/>
            <a:ext cx="91440" cy="246888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476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tracking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386584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remembers its position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offsets to resume after restart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by resetting the offset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groups read at their own pace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548640" y="4572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Kafka retains events, a new consumer can replay history from offset 0 — great for reprocessing.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U22 · Big Data: Kafka &amp; Spark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IT'S FOR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Kafka use cases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78308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pipelines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663440" y="1783080"/>
            <a:ext cx="6793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events between microservices reliably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459736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459736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aggregation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663440" y="2459736"/>
            <a:ext cx="6793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logs/metrics from many services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136392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13639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processing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663440" y="3136392"/>
            <a:ext cx="6793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real-time analytics (with Spark/Flink)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813048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381304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sourcing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663440" y="3813048"/>
            <a:ext cx="6793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 is the source of truth for state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4489704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4489704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Decoupling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663440" y="4489704"/>
            <a:ext cx="6793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between fast producers &amp; slow consumers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you have continuous events and multiple interested consumers, Kafka is a natural fit.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U22 · Big Data: Kafka &amp; Spark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13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bo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compute engine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in-memory, distributed processing for batch and streaming workloads.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· Phase F  ·  13 / 25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o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ANALYTICS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Apache Spark?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 compute engine that processes large datasets in parallel across a cluster — keeping data in memory for speed.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/>
        </p:spPr>
      </p:sp>
      <p:sp>
        <p:nvSpPr>
          <p:cNvPr id="9" name="Shape 6"/>
          <p:cNvSpPr/>
          <p:nvPr/>
        </p:nvSpPr>
        <p:spPr>
          <a:xfrm>
            <a:off x="1947672" y="29809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chi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552" y="318211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" y="3858768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94944" y="4169664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 data in RAM — far faster than disk-based MapReduce</a:t>
            </a:r>
            <a:endParaRPr lang="en-US" sz="1030" dirty="0"/>
          </a:p>
        </p:txBody>
      </p:sp>
      <p:sp>
        <p:nvSpPr>
          <p:cNvPr id="13" name="Shape 9"/>
          <p:cNvSpPr/>
          <p:nvPr/>
        </p:nvSpPr>
        <p:spPr>
          <a:xfrm>
            <a:off x="4315968" y="274320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5715000" y="29809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5" name="Image 2" descr="ic_shape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318211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25696" y="3858768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4462272" y="4169664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streaming, ML and graph in one engine</a:t>
            </a:r>
            <a:endParaRPr lang="en-US" sz="1030" dirty="0"/>
          </a:p>
        </p:txBody>
      </p:sp>
      <p:sp>
        <p:nvSpPr>
          <p:cNvPr id="18" name="Shape 13"/>
          <p:cNvSpPr/>
          <p:nvPr/>
        </p:nvSpPr>
        <p:spPr>
          <a:xfrm>
            <a:off x="8083296" y="274320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2F5F9"/>
          </a:solidFill>
          <a:ln/>
        </p:spPr>
      </p:sp>
      <p:sp>
        <p:nvSpPr>
          <p:cNvPr id="19" name="Shape 14"/>
          <p:cNvSpPr/>
          <p:nvPr/>
        </p:nvSpPr>
        <p:spPr>
          <a:xfrm>
            <a:off x="9482328" y="29809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0" name="Image 3" descr="ic_lan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5208" y="3182112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193024" y="3858768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8229600" y="4169664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(PySpark), Scala, Java, R, SQL</a:t>
            </a:r>
            <a:endParaRPr lang="en-US" sz="1030" dirty="0"/>
          </a:p>
        </p:txBody>
      </p:sp>
      <p:sp>
        <p:nvSpPr>
          <p:cNvPr id="23" name="Text 17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U22 · Big Data: Kafka &amp; Spark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SPARK RUNS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Spark architecture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3416808" cy="1783080"/>
          </a:xfrm>
          <a:prstGeom prst="roundRect">
            <a:avLst>
              <a:gd name="adj" fmla="val 41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946148" y="202996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8" name="Image 1" descr="ic_bra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596" y="218541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2743200"/>
            <a:ext cx="3233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58368" y="3072384"/>
            <a:ext cx="31973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program; builds the plan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983736" y="1828800"/>
            <a:ext cx="3840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8"/>
          <p:cNvSpPr/>
          <p:nvPr/>
        </p:nvSpPr>
        <p:spPr>
          <a:xfrm>
            <a:off x="4386072" y="1828800"/>
            <a:ext cx="3416808" cy="1783080"/>
          </a:xfrm>
          <a:prstGeom prst="roundRect">
            <a:avLst>
              <a:gd name="adj" fmla="val 41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783580" y="202996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4" name="Image 2" descr="ic_sitema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028" y="218541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77512" y="2743200"/>
            <a:ext cx="3233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manager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495800" y="3072384"/>
            <a:ext cx="31973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allocates resources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7821168" y="1828800"/>
            <a:ext cx="3840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3"/>
          <p:cNvSpPr/>
          <p:nvPr/>
        </p:nvSpPr>
        <p:spPr>
          <a:xfrm>
            <a:off x="8223504" y="1828800"/>
            <a:ext cx="3416808" cy="1783080"/>
          </a:xfrm>
          <a:prstGeom prst="roundRect">
            <a:avLst>
              <a:gd name="adj" fmla="val 41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621012" y="202996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0" name="Image 3" descr="ic_serv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6460" y="2185416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14944" y="2743200"/>
            <a:ext cx="3233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8333232" y="3072384"/>
            <a:ext cx="31973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tasks on partitions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66928" y="3995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4" name="Text 18"/>
          <p:cNvSpPr/>
          <p:nvPr/>
        </p:nvSpPr>
        <p:spPr>
          <a:xfrm>
            <a:off x="841248" y="38862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→ stages → tasks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driver splits work; executors run tasks in parallel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66928" y="45445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6" name="Text 20"/>
          <p:cNvSpPr/>
          <p:nvPr/>
        </p:nvSpPr>
        <p:spPr>
          <a:xfrm>
            <a:off x="841248" y="44348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task per partition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parallelism scales with partitions and executors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U22 · Big Data: Kafka &amp; Spark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ab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SPARK'S DATA ABSTRACTIONS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RDDs &amp; DataFrames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440680" cy="246888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783080"/>
            <a:ext cx="91440" cy="246888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476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(low-level)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386584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Distributed Dataset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partitioned, fault-tolerant collection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control, but verbose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from lineage if a node fails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783080"/>
            <a:ext cx="5440680" cy="246888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783080"/>
            <a:ext cx="91440" cy="246888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476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(high-level)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386584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table-like: named, typed columns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by the Catalyst engine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recommended API today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like pandas / SQL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548640" y="4572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DataFrames: you write what you want, and Spark's optimiser figures out the efficient plan.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U22 · Big Data: Kafka &amp; Spark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flow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BY DESIGN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Transformations vs actions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783080"/>
            <a:ext cx="91440" cy="224028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476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(lazy)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386584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filter, select, join, groupBy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plan — nothing runs yet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records the lineage (a DAG)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78308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783080"/>
            <a:ext cx="91440" cy="224028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476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(trigger)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386584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collect, show, write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the plan to execute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optimises the whole DAG first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548640" y="42976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2960" y="4297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lazy?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the full chain before running lets Spark fuse steps, prune columns and minimise data shuffles.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U22 · Big Data: Kafka &amp; Spark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file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DATAFRAME API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PySpark in practice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3611880"/>
          </a:xfrm>
          <a:prstGeom prst="roundRect">
            <a:avLst>
              <a:gd name="adj" fmla="val 1519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" y="183794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987552" y="183794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1764792"/>
            <a:ext cx="10268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sales_job.py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49808" y="2075688"/>
            <a:ext cx="10689336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pyspark.sql import SparkSession, functions as F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 = SparkSession.builder.appName("sales").getOrCreate()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E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spark.read.parquet("s3://lake/orders/")      # lazy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 = (df.filter(F.col('status') == 'paid')      # transformation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.groupBy('dt', 'region')                 # transformation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.agg(F.sum('amount').alias('revenue')))   # transformation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daily.write.mode("overwrite").parquet("s3://lake/daily/")  # ACTION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before the write is lazy; the write is the action that launches the distributed job.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U22 · Big Data: Kafka &amp; Spark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trea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ON LIVE DATA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Structured Streaming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013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91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DataFrame API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treat a stream as an unbounded, ever-growing table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51460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40487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Micro-batches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process small batches continuously, low latency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22783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11810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Event-time windows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aggregate by when events happened, not arrived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94106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83133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Exactly-once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checkpointing gives reliable, no-duplicate results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355080" y="1783080"/>
            <a:ext cx="5285232" cy="3108960"/>
          </a:xfrm>
          <a:prstGeom prst="roundRect">
            <a:avLst>
              <a:gd name="adj" fmla="val 2941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83680" y="214884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6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readStream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.format('kafka')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.option('subscribe','orders')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…transform…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9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.writeStream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8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.start()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U22 · Big Data: Kafka &amp; Spark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hap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ENGINE, MANY LIBRARIES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Spark ecosystem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15184" cy="1920240"/>
          </a:xfrm>
          <a:prstGeom prst="roundRect">
            <a:avLst>
              <a:gd name="adj" fmla="val 4286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tab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2199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09544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queries &amp; DataFrames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783080"/>
            <a:ext cx="2615184" cy="1920240"/>
          </a:xfrm>
          <a:prstGeom prst="roundRect">
            <a:avLst>
              <a:gd name="adj" fmla="val 4286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stream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2199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09544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micro-batch processing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783080"/>
            <a:ext cx="2615184" cy="1920240"/>
          </a:xfrm>
          <a:prstGeom prst="roundRect">
            <a:avLst>
              <a:gd name="adj" fmla="val 4286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brai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2199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MLlib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09544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machine learning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783080"/>
            <a:ext cx="2615184" cy="1920240"/>
          </a:xfrm>
          <a:prstGeom prst="roundRect">
            <a:avLst>
              <a:gd name="adj" fmla="val 4286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sitemap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2199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GraphX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09544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analytics</a:t>
            </a:r>
            <a:endParaRPr lang="en-US" sz="1030" dirty="0"/>
          </a:p>
        </p:txBody>
      </p:sp>
      <p:sp>
        <p:nvSpPr>
          <p:cNvPr id="26" name="Text 19"/>
          <p:cNvSpPr/>
          <p:nvPr/>
        </p:nvSpPr>
        <p:spPr>
          <a:xfrm>
            <a:off x="548640" y="4069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unification is the win: the same cluster and API serve batch ETL, streaming, SQL and ML.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U22 · Big Data: Kafka &amp; Spark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o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real-time pipeline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2468880"/>
            <a:ext cx="2457450" cy="1828800"/>
          </a:xfrm>
          <a:prstGeom prst="roundRect">
            <a:avLst>
              <a:gd name="adj" fmla="val 4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66469" y="267004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8" name="Image 1" descr="ic_broadcas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917" y="282549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383280"/>
            <a:ext cx="22745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58368" y="3712464"/>
            <a:ext cx="22379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apps, sensors, clicks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024378" y="2468880"/>
            <a:ext cx="3840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8"/>
          <p:cNvSpPr/>
          <p:nvPr/>
        </p:nvSpPr>
        <p:spPr>
          <a:xfrm>
            <a:off x="3426714" y="2468880"/>
            <a:ext cx="2457450" cy="1828800"/>
          </a:xfrm>
          <a:prstGeom prst="roundRect">
            <a:avLst>
              <a:gd name="adj" fmla="val 4000"/>
            </a:avLst>
          </a:prstGeom>
          <a:solidFill>
            <a:srgbClr val="2D6A9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44543" y="267004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4" name="Image 2" descr="ic_stream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991" y="282549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18154" y="3383280"/>
            <a:ext cx="22745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3536442" y="3712464"/>
            <a:ext cx="22379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&amp; decouple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902452" y="2468880"/>
            <a:ext cx="3840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3"/>
          <p:cNvSpPr/>
          <p:nvPr/>
        </p:nvSpPr>
        <p:spPr>
          <a:xfrm>
            <a:off x="6304788" y="2468880"/>
            <a:ext cx="2457450" cy="1828800"/>
          </a:xfrm>
          <a:prstGeom prst="roundRect">
            <a:avLst>
              <a:gd name="adj" fmla="val 4000"/>
            </a:avLst>
          </a:prstGeom>
          <a:solidFill>
            <a:srgbClr val="1F3656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222617" y="267004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0" name="Image 3" descr="ic_bol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8065" y="2825496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96228" y="3383280"/>
            <a:ext cx="22745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414516" y="3712464"/>
            <a:ext cx="22379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&amp; enrich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8780526" y="2468880"/>
            <a:ext cx="3840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4" name="Shape 18"/>
          <p:cNvSpPr/>
          <p:nvPr/>
        </p:nvSpPr>
        <p:spPr>
          <a:xfrm>
            <a:off x="9182862" y="2468880"/>
            <a:ext cx="2457450" cy="1828800"/>
          </a:xfrm>
          <a:prstGeom prst="roundRect">
            <a:avLst>
              <a:gd name="adj" fmla="val 4000"/>
            </a:avLst>
          </a:prstGeom>
          <a:solidFill>
            <a:srgbClr val="3AAFA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100691" y="267004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6" name="Image 4" descr="ic_warehous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6139" y="2825496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274302" y="3383280"/>
            <a:ext cx="22745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292590" y="3712464"/>
            <a:ext cx="22379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/ dashboard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548640" y="461772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822960" y="4617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absorbs bursty event streams; Spark Structured Streaming reads from Kafka, transforms, and writes results downstream.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U22 · Big Data: Kafka &amp; Spark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ompas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TOOLS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When to use what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78308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durable event bus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0" y="1783080"/>
            <a:ext cx="6428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Kafka (decouple producers &amp; consumers)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459736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459736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large-scale batch ETL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029200" y="2459736"/>
            <a:ext cx="6428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Spark (DataFrames, SQL)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136392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136392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real-time analytics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029200" y="3136392"/>
            <a:ext cx="6428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Kafka + Spark Structured Streaming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813048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381304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fits on one machine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029200" y="3813048"/>
            <a:ext cx="6428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pandas / DuckDB — skip the cluster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4489704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4489704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ML on big data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029200" y="4489704"/>
            <a:ext cx="6428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Spark MLlib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systems add real complexity — only reach for them when the data genuinely needs it.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U22 · Big Data: Kafka &amp; Spark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THESE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Common pitfalls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013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91640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shuffles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wide ops (joins, groupBy) move data across the network — the #1 Spark cost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55117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441448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huge partition stalls the whole job; watch key distribution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30098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191256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few / many partitions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under-parallelised or tiny-task overhead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40507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941064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collect() on big data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pulling everything to the driver blows up memory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66928" y="480060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469087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Kafka retention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set retention / compaction or disks fill up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U22 · Big Data: Kafka &amp; Spark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layergro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SO FAR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Where this fits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2286000"/>
            <a:ext cx="2457450" cy="1828800"/>
          </a:xfrm>
          <a:prstGeom prst="roundRect">
            <a:avLst>
              <a:gd name="adj" fmla="val 4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66469" y="248716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8" name="Image 1" descr="ic_stream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917" y="2642616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200400"/>
            <a:ext cx="22745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/ move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58368" y="3529584"/>
            <a:ext cx="22379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&amp; Kafka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024378" y="2286000"/>
            <a:ext cx="3840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8"/>
          <p:cNvSpPr/>
          <p:nvPr/>
        </p:nvSpPr>
        <p:spPr>
          <a:xfrm>
            <a:off x="3426714" y="2286000"/>
            <a:ext cx="2457450" cy="1828800"/>
          </a:xfrm>
          <a:prstGeom prst="roundRect">
            <a:avLst>
              <a:gd name="adj" fmla="val 4000"/>
            </a:avLst>
          </a:prstGeom>
          <a:solidFill>
            <a:srgbClr val="1F3656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44543" y="248716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4" name="Image 2" descr="ic_sitema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991" y="264261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18154" y="3200400"/>
            <a:ext cx="22745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3536442" y="3529584"/>
            <a:ext cx="22379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(U21)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902452" y="2286000"/>
            <a:ext cx="3840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3"/>
          <p:cNvSpPr/>
          <p:nvPr/>
        </p:nvSpPr>
        <p:spPr>
          <a:xfrm>
            <a:off x="6304788" y="2286000"/>
            <a:ext cx="2457450" cy="1828800"/>
          </a:xfrm>
          <a:prstGeom prst="roundRect">
            <a:avLst>
              <a:gd name="adj" fmla="val 4000"/>
            </a:avLst>
          </a:prstGeom>
          <a:solidFill>
            <a:srgbClr val="2D6A9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222617" y="248716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0" name="Image 3" descr="ic_bol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8065" y="2642616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96228" y="3200400"/>
            <a:ext cx="22745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414516" y="3529584"/>
            <a:ext cx="22379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8780526" y="2286000"/>
            <a:ext cx="3840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4" name="Shape 18"/>
          <p:cNvSpPr/>
          <p:nvPr/>
        </p:nvSpPr>
        <p:spPr>
          <a:xfrm>
            <a:off x="9182862" y="2286000"/>
            <a:ext cx="2457450" cy="1828800"/>
          </a:xfrm>
          <a:prstGeom prst="roundRect">
            <a:avLst>
              <a:gd name="adj" fmla="val 4000"/>
            </a:avLst>
          </a:prstGeom>
          <a:solidFill>
            <a:srgbClr val="3AAFA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100691" y="248716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6" name="Image 4" descr="ic_clou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6139" y="2642616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274302" y="3200400"/>
            <a:ext cx="22745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292590" y="3529584"/>
            <a:ext cx="223799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(U23)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548640" y="4480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&amp; Spark are the heavy-lifting layer; next unit covers where all this data lands — cloud storage &amp; databases.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U22 · Big Data: Kafka &amp; Spark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= volume, velocity, variety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OUT across clusters, not up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= durable, partitioned event log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= in-memory distributed compute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lazy; actions trigger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local Kafka; produce &amp; consume a topic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partitions &amp; offsets in your words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CSV in PySpark; groupBy + agg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ops are lazy vs actions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a Kafka→Spark→warehouse pipeline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33172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979408" y="2286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&amp; Databases (Part 1)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94192" y="3410712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8394192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979408" y="336499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all this data actually lives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1" descr="ic_bo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5586984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algn="l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moves event data reliably and Spark processes it in parallel — together they are the backbone of real-time big-data systems.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U22 · Big Data: Kafka &amp; Spark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2026-06-12T09:36:08Z</dcterms:created>
  <dcterms:modified xsi:type="dcterms:W3CDTF">2026-06-12T09:36:08Z</dcterms:modified>
</cp:coreProperties>
</file>