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pipeli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F — DATA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ETL &amp; Orchestration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Moving, shaping and scheduling data — reliably, at scale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Transform · Load  ·  ELT  ·  pipelines  ·  DAGs  ·  Apache Airflow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U21  ·  Phase F  ·  25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raw sources to analysis-ready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dashboards are only as good as the data feeding them.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plumbing that makes reliable, fresh data show up where it's needed.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basics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transform · load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layergro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&amp; stack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in the warehouse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pipe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reliability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site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&amp; scheduling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tool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how data moves from messy sources to clean, queryable, trustworthy tables.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&amp; SHAPING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ETL pipeline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sources, transform into shape, load to a destination.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Orchestration · Phase F  ·  03 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PATTERN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ETL?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process that takes raw data from source systems and delivers clean, structured data to a destination for analysis.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6148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9981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576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8678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databases, APIs, files, events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83736" y="274320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386072" y="274320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998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7512" y="36576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5800" y="398678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join, aggregate, reshape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821168" y="274320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23504" y="274320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21012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9981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4944" y="36576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33232" y="398678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warehouse / lake / mart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can fail independently — which is exactly why pipelines need orchestration (later in this unit).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Extract — getting the raw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systems via SQL / CDC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pl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GraphQL, paginated pulls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Parquet, logs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trea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queues, webhooks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3858768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48640" y="3858768"/>
            <a:ext cx="91440" cy="18745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8" name="Text 21"/>
          <p:cNvSpPr/>
          <p:nvPr/>
        </p:nvSpPr>
        <p:spPr>
          <a:xfrm>
            <a:off x="841248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extract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59536" y="446227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entire source every run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slow &amp; costly at scale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small / slowly-changing tables</a:t>
            </a:r>
            <a:endParaRPr lang="en-US" sz="1180" dirty="0"/>
          </a:p>
        </p:txBody>
      </p:sp>
      <p:sp>
        <p:nvSpPr>
          <p:cNvPr id="30" name="Shape 23"/>
          <p:cNvSpPr/>
          <p:nvPr/>
        </p:nvSpPr>
        <p:spPr>
          <a:xfrm>
            <a:off x="6199632" y="3858768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99632" y="3858768"/>
            <a:ext cx="91440" cy="18745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2" name="Text 25"/>
          <p:cNvSpPr/>
          <p:nvPr/>
        </p:nvSpPr>
        <p:spPr>
          <a:xfrm>
            <a:off x="649224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extract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510528" y="446227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 changed since last run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timestamps or change-data-capture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large, active sources</a:t>
            </a:r>
            <a:endParaRPr lang="en-US" sz="118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 — making data usable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 types, handle nulls, dedupe, standardise units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enrich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combine sources, add reference / lookup data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18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083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roll up to the grain the business needs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776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6667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pivot, normalise / denormalise, derive columns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43484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3251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enforce schema and business rules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1783080"/>
            <a:ext cx="5330952" cy="3246120"/>
          </a:xfrm>
          <a:prstGeom prst="roundRect">
            <a:avLst>
              <a:gd name="adj" fmla="val 28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09360" y="1938528"/>
            <a:ext cx="5330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 →  CLEAN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2514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12/05/2024 ,  $1,200 ,  N/A  "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6B7A"/>
                </a:solidFill>
              </a:rPr>
              <a:t>↓  parse · cast · default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2024-05-12 | 1200.00 | 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is where most of the engineering effort — and most bugs — live.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Load — writing to the destination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94767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ehou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query-optimised (Snowflake, BigQuery)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315968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0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25696" y="289864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62272" y="320954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semi-structured at low cost (S3 + Parquet)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83296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48232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ab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93024" y="289864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29600" y="320954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slice for one team or use case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8640" y="3840480"/>
            <a:ext cx="91440" cy="18745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3" name="Text 17"/>
          <p:cNvSpPr/>
          <p:nvPr/>
        </p:nvSpPr>
        <p:spPr>
          <a:xfrm>
            <a:off x="841248" y="4005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 (truncate + insert)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59536" y="4443984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whole target table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consistent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for big tables</a:t>
            </a:r>
            <a:endParaRPr lang="en-US" sz="1180" dirty="0"/>
          </a:p>
        </p:txBody>
      </p:sp>
      <p:sp>
        <p:nvSpPr>
          <p:cNvPr id="25" name="Shape 19"/>
          <p:cNvSpPr/>
          <p:nvPr/>
        </p:nvSpPr>
        <p:spPr>
          <a:xfrm>
            <a:off x="6199632" y="38404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99632" y="3840480"/>
            <a:ext cx="91440" cy="18745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7" name="Text 21"/>
          <p:cNvSpPr/>
          <p:nvPr/>
        </p:nvSpPr>
        <p:spPr>
          <a:xfrm>
            <a:off x="6492240" y="4005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/ merge (incremental)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510528" y="4443984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 rows, update changed ones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primary / business key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large, evolving tables</a:t>
            </a:r>
            <a:endParaRPr lang="en-US" sz="1180" dirty="0"/>
          </a:p>
        </p:txBody>
      </p:sp>
      <p:sp>
        <p:nvSpPr>
          <p:cNvPr id="29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rrow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ORDERINGS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ETL vs ELT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transform, then 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on a separate engine first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clean, modelled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on-prem; controls warehouse cost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raw history kept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— load, then transform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 straight into the warehouse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in-place with SQL (e.g. dbt)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warehouses make compute cheap &amp; elastic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raw data for re-processing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default: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cloud warehouses flipped the order — many teams now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land raw data first, model it with SQL where it lives.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DATA MOVE?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Batch vs streaming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1783080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in scheduled chunks (hourly, nightly)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231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2423160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each event as it arrives, continuously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0632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3440" y="3063240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minutes–hours · streaming: sub-second–seconds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7033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3440" y="3703320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is simpler to build, test and reason about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3434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batch for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63440" y="4343400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ML training sets, periodic syncs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9834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9834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streaming for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663440" y="4983480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alerts, live dashboards, monitoring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run both — batch for the bulk, streaming for the time-sensitive paths.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quality &amp; validation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expected columns, types and constraints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unexpected nulls; row-count thresholds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18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08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primary keys actually unique; no dupes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776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6667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domain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values within valid bounds &amp; enums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43484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32511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arrived within its expected window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1783080"/>
            <a:ext cx="5285232" cy="3246120"/>
          </a:xfrm>
          <a:prstGeom prst="roundRect">
            <a:avLst>
              <a:gd name="adj" fmla="val 28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5080" y="1965960"/>
            <a:ext cx="5285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FAIL LOUD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0" y="24688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733"/>
                </a:solidFill>
              </a:rPr>
              <a:t>A bad row caught at ingestion costs minutes.</a:t>
            </a:r>
            <a:endParaRPr lang="en-US" sz="12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733"/>
                </a:solidFill>
              </a:rPr>
              <a:t>The same row caught in a board report costs trust.</a:t>
            </a:r>
            <a:endParaRPr lang="en-US" sz="12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6263F"/>
                </a:solidFill>
              </a:rPr>
              <a:t>→ validate at the boundary; quarantine bad records; alert.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THAT DON'T BREAK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for reliability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Re-runnable, incremental, observable pipelines that recover from failure.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Orchestration · Phase F  ·  11 / 25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data pipeline?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pipeline: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steps, with dependencies, that moves and transforms data automatically and repeatedly.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457450" cy="1737360"/>
          </a:xfrm>
          <a:prstGeom prst="roundRect">
            <a:avLst>
              <a:gd name="adj" fmla="val 421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66469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17" y="309981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576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86784"/>
            <a:ext cx="2237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raw data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024378" y="27432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3426714" y="2743200"/>
            <a:ext cx="2457450" cy="1737360"/>
          </a:xfrm>
          <a:prstGeom prst="roundRect">
            <a:avLst>
              <a:gd name="adj" fmla="val 421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44543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1" y="30998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18154" y="36576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36442" y="3986784"/>
            <a:ext cx="2237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902452" y="27432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6304788" y="2743200"/>
            <a:ext cx="2457450" cy="1737360"/>
          </a:xfrm>
          <a:prstGeom prst="roundRect">
            <a:avLst>
              <a:gd name="adj" fmla="val 421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222617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065" y="309981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96228" y="36576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14516" y="3986784"/>
            <a:ext cx="2237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enrich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780526" y="27432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9182862" y="2743200"/>
            <a:ext cx="2457450" cy="1737360"/>
          </a:xfrm>
          <a:prstGeom prst="roundRect">
            <a:avLst>
              <a:gd name="adj" fmla="val 421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100691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4" descr="ic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39" y="309981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74302" y="36576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292590" y="3986784"/>
            <a:ext cx="2237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to users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arrows are dependencies: a step runs only when its inputs are ready — that's what orchestration manages.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RE-RUNNABLE BY DESIGN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Idempotency &amp; incremental loads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produces the same result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rows, no double-counting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with upserts / overwrite-by-partition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safely retry after failure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only new / changed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high-water mark (e.g. max timestamp)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cheaper than full re-processing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reliable change signal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you can re-run safely is a pipeline you can fix at 3 a.m. — design every step to be idempotent.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TIME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Partitioning &amp; backfills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date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store each day/hour as its own slice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one partition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run handles a single date window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18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08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cleanly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re-run a date = replace just that partition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776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6667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re-process historical dates after a fix or schema change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43484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32511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expire old partitions to control storage cost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1783080"/>
            <a:ext cx="5285232" cy="3246120"/>
          </a:xfrm>
          <a:prstGeom prst="roundRect">
            <a:avLst>
              <a:gd name="adj" fmla="val 28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dt=2024-05-10  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dt=2024-05-11  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9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dt=2024-05-12  ⟲ re-run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dt=2024-05-13  … pending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83680" y="4069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one day touches only that partition — the rest stay untouched.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Error handling &amp; retries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ta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failures (timeouts) often pass on a 2nd try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longer between attempts to avoid hammering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a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records that keep failing for later review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 human when retries are exhausted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transient errors (retry) from deterministic ones (a bad record will fail forever — quarantine it).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HEALTHY?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Monitoring, SLAs &amp; alerting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1783080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latest data within its expected age?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5973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2459736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row count in the normal range?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363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3440" y="3136392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run finish within its time budget?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1304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130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3440" y="3813048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runs succeed first-try?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8970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48970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63440" y="4489704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promise, e.g. 'sales data ready by 6 a.m.'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the symptoms users feel (stale or wrong data) — not just on raw task failures.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lo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THIS COME FROM?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lineage &amp; observability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how each table and column is derived from its upstream sources.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457450" cy="1371600"/>
          </a:xfrm>
          <a:prstGeom prst="roundRect">
            <a:avLst>
              <a:gd name="adj" fmla="val 5333"/>
            </a:avLst>
          </a:prstGeom>
          <a:solidFill>
            <a:srgbClr val="1F365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907792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source.orders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3255264"/>
            <a:ext cx="223799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OLTP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24378" y="274320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426714" y="2743200"/>
            <a:ext cx="2457450" cy="1371600"/>
          </a:xfrm>
          <a:prstGeom prst="roundRect">
            <a:avLst>
              <a:gd name="adj" fmla="val 5333"/>
            </a:avLst>
          </a:prstGeom>
          <a:solidFill>
            <a:srgbClr val="1F365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18154" y="2907792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stg_orders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36442" y="3255264"/>
            <a:ext cx="223799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02452" y="274320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304788" y="2743200"/>
            <a:ext cx="2457450" cy="1371600"/>
          </a:xfrm>
          <a:prstGeom prst="roundRect">
            <a:avLst>
              <a:gd name="adj" fmla="val 5333"/>
            </a:avLst>
          </a:prstGeom>
          <a:solidFill>
            <a:srgbClr val="1F365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96228" y="2907792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fct_sales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14516" y="3255264"/>
            <a:ext cx="223799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fact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780526" y="274320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9182862" y="2743200"/>
            <a:ext cx="2457450" cy="1371600"/>
          </a:xfrm>
          <a:prstGeom prst="roundRect">
            <a:avLst>
              <a:gd name="adj" fmla="val 5333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274302" y="2907792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exec_dashboard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292590" y="3255264"/>
            <a:ext cx="223799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" y="44074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297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breaks downstream if I change this column?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Text 23"/>
          <p:cNvSpPr/>
          <p:nvPr/>
        </p:nvSpPr>
        <p:spPr>
          <a:xfrm>
            <a:off x="841248" y="4846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wrong number on a dashboard — trace it back to the source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Scheduling the work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dependencies, run tasks in order, retry, monitor — automatically.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Orchestration · Phase F  ·  18 / 25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CRON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we need orchestration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5146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alone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scripts on a clock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dependencies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retries, no backfills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silent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what ran when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51460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tasks + dependencies (a DAG)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steps only when inputs are ready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backfills, SLAs built in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logs, alerting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many workers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pipelines grow past a handful of steps, dependency management — not the code — becomes the hard part.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ABSTRACTION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DAGs — directed acyclic graphs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nodes, dependencies are arrows, and there are no cycles — so there is always a valid order to run them.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356616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69748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443484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dedupe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56616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7784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356616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5528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058400" y="356616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05840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0320" y="3886200"/>
            <a:ext cx="640080" cy="-86868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560320" y="3886200"/>
            <a:ext cx="640080" cy="86868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37760" y="3017520"/>
            <a:ext cx="640080" cy="86868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937760" y="4754880"/>
            <a:ext cx="640080" cy="-86868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15200" y="3886200"/>
            <a:ext cx="64008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692640" y="3886200"/>
            <a:ext cx="36576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reads the DAG and figures out the order, parallelism and what to retry.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Apache Airflow — architecture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45745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66469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17" y="21854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432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072384"/>
            <a:ext cx="2237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runs &amp; when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24378" y="182880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426714" y="1828800"/>
            <a:ext cx="245745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4543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1" y="21854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18154" y="27432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36442" y="3072384"/>
            <a:ext cx="2237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tasks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02452" y="182880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6304788" y="1828800"/>
            <a:ext cx="245745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22617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065" y="218541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96228" y="27432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14516" y="3072384"/>
            <a:ext cx="2237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task code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80526" y="182880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9182862" y="1828800"/>
            <a:ext cx="2457450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0691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39" y="218541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4302" y="27432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92590" y="3072384"/>
            <a:ext cx="2237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history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66928" y="3995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0" name="Text 23"/>
          <p:cNvSpPr/>
          <p:nvPr/>
        </p:nvSpPr>
        <p:spPr>
          <a:xfrm>
            <a:off x="841248" y="3886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 DAG runs, logs, retries and trigger backfills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66928" y="45445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2" name="Text 25"/>
          <p:cNvSpPr/>
          <p:nvPr/>
        </p:nvSpPr>
        <p:spPr>
          <a:xfrm>
            <a:off x="841248" y="4434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as Python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pipelines are code — versioned, reviewed, tested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AS CODE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Airflow DAG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3840480"/>
          </a:xfrm>
          <a:prstGeom prst="roundRect">
            <a:avLst>
              <a:gd name="adj" fmla="val 1429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37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37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76479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etl_sales_dag.py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2075688"/>
            <a:ext cx="1068933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 import DAG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airflow.operators.python import PythonOperator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pendulum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DAG(dag_id="etl_sales",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schedule="@daily",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start_date=pendulum.datetime(2024, 1, 1),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catchup=False,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default_args={"retries": 2}) as dag: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extract  = PythonOperator(task_id='extract',  python_callable=pull)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transform= PythonOperator(task_id='transform',python_callable=clean)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     = PythonOperator(task_id='load',     python_callable=write)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extract &gt;&gt; transform &gt;&gt; load        # dependency chain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'&gt;&gt;' operators declare dependencies; Airflow builds the DAG and schedules the tasks accordingly.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Scheduling, retries &amp; backfills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566160" y="1783080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DAG runs (@daily, cron, or dataset-driven)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597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66160" y="2459736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logical date the DAG covers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3639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66160" y="3136392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 all missed intervals since start_date?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1304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130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66160" y="3813048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to re-attempt a failed task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8970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4897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566160" y="4489704"/>
            <a:ext cx="7891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(re)run a past date range after a fix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'catchup=True' on an old start_date — it can launch hundreds of historical runs at once.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ool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 &amp; 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293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305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072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11810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ubiquitous orchestrator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293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305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072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11810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transforms &amp; tests (the T in ELT)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293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305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072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/ Dagster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11810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Python-native orchestration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293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trea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3055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072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Kafka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11810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compute &amp; streaming (next unit)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66928" y="39044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7" name="Text 20"/>
          <p:cNvSpPr/>
          <p:nvPr/>
        </p:nvSpPr>
        <p:spPr>
          <a:xfrm>
            <a:off x="841248" y="3794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— non-idempotent tasks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re-runs create duplicates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66928" y="44714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9" name="Text 22"/>
          <p:cNvSpPr/>
          <p:nvPr/>
        </p:nvSpPr>
        <p:spPr>
          <a:xfrm>
            <a:off x="841248" y="436168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— silent failures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alerting; stale data goes unnoticed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566928" y="50383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1" name="Text 24"/>
          <p:cNvSpPr/>
          <p:nvPr/>
        </p:nvSpPr>
        <p:spPr>
          <a:xfrm>
            <a:off x="841248" y="49286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— giant monolith tasks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hard to retry; one failure redoes everything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 = extract, transform, load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warehouses favour ELT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idempotent, incremental steps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monitor, alert on freshness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with DAGs (Airflow)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an ETL pipeline for a CSV → warehouse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transform step idempotent (upsert)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data-quality checks for a table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Airflow; build a 3-task DAG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retries + a freshness SLA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Data: Kafka &amp; Spark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backbones &amp; distributed compute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pipe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engineering is reliability engineering — re-runnable pipelines, validated data and orchestration you can trust.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 · ETL &amp; Orchestration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2026-06-12T09:36:07Z</dcterms:created>
  <dcterms:modified xsi:type="dcterms:W3CDTF">2026-06-12T09:36:07Z</dcterms:modified>
</cp:coreProperties>
</file>