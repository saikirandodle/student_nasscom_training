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kd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0.4</c:v>
                </c:pt>
                <c:pt idx="1">
                  <c:v>0.45</c:v>
                </c:pt>
                <c:pt idx="2">
                  <c:v>0.5</c:v>
                </c:pt>
                <c:pt idx="3">
                  <c:v>0.55</c:v>
                </c:pt>
                <c:pt idx="4">
                  <c:v>0.6000000000000001</c:v>
                </c:pt>
                <c:pt idx="5">
                  <c:v>0.65</c:v>
                </c:pt>
                <c:pt idx="6">
                  <c:v>0.7000000000000001</c:v>
                </c:pt>
                <c:pt idx="7">
                  <c:v>0.75</c:v>
                </c:pt>
                <c:pt idx="8">
                  <c:v>0.8</c:v>
                </c:pt>
                <c:pt idx="9">
                  <c:v>0.8500000000000001</c:v>
                </c:pt>
                <c:pt idx="10">
                  <c:v>0.9</c:v>
                </c:pt>
                <c:pt idx="11">
                  <c:v>0.9500000000000001</c:v>
                </c:pt>
                <c:pt idx="12">
                  <c:v>1</c:v>
                </c:pt>
                <c:pt idx="13">
                  <c:v>1.05</c:v>
                </c:pt>
                <c:pt idx="14">
                  <c:v>1.1</c:v>
                </c:pt>
                <c:pt idx="15">
                  <c:v>1.15</c:v>
                </c:pt>
                <c:pt idx="16">
                  <c:v>1.5500000000000003</c:v>
                </c:pt>
                <c:pt idx="17">
                  <c:v>2.65</c:v>
                </c:pt>
                <c:pt idx="18">
                  <c:v>4.449999999999999</c:v>
                </c:pt>
                <c:pt idx="19">
                  <c:v>6.949999999999999</c:v>
                </c:pt>
                <c:pt idx="20">
                  <c:v>10.15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image" Target="../media/image-1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9  ·  PHASE E — UNSUPERVISED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Clustering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 (finish) — </a:t>
            </a:r>
            <a:pPr algn="l"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Hierarchical, DBSCAN &amp; Gaussian Mixtures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Dendrograms · linkage · density-based · soft clustering · choosing an algorithm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U18 (finish)  ·  Phase E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Beyond k-means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k-means. Part 2 covers the algorithms that handle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shapes, unknown k, noise and soft membership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how to choose between them.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dendrograms &amp; linkage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dot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layergro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clustering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one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objgrou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deploy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fast but rigid — these methods trade speed for flexibility where it's needed.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a tree of clusters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nearest groups step by step — no need to pre-pick 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2 · Phase E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l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PART 1 LEFT OFF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k-means &amp; its limits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rosshai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simple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default for round, even clusters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pick k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to choose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hap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blobs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crescents, rings, chains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edges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forced into one cluster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that relax these limits — hierarchical, density-based, and probabilistic (soft).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FROM THE BOTTOM 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Agglomerative clustering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point is its own cluster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repeatedly join the two closest clusters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all points form one big cluster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full hierarchy — cut it where you like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0" y="212140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2D6A9F"/>
          </a:solidFill>
          <a:ln/>
        </p:spPr>
      </p:sp>
      <p:sp>
        <p:nvSpPr>
          <p:cNvPr id="17" name="Shape 14"/>
          <p:cNvSpPr/>
          <p:nvPr/>
        </p:nvSpPr>
        <p:spPr>
          <a:xfrm>
            <a:off x="8732520" y="212140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2D6A9F"/>
          </a:solidFill>
          <a:ln/>
        </p:spPr>
      </p:sp>
      <p:sp>
        <p:nvSpPr>
          <p:cNvPr id="18" name="Shape 15"/>
          <p:cNvSpPr/>
          <p:nvPr/>
        </p:nvSpPr>
        <p:spPr>
          <a:xfrm>
            <a:off x="9235440" y="212140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9738360" y="212140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2D6A9F"/>
          </a:solidFill>
          <a:ln/>
        </p:spPr>
      </p:sp>
      <p:sp>
        <p:nvSpPr>
          <p:cNvPr id="20" name="Shape 17"/>
          <p:cNvSpPr/>
          <p:nvPr/>
        </p:nvSpPr>
        <p:spPr>
          <a:xfrm>
            <a:off x="10241280" y="212140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2D6A9F"/>
          </a:solidFill>
          <a:ln/>
        </p:spPr>
      </p:sp>
      <p:sp>
        <p:nvSpPr>
          <p:cNvPr id="21" name="Shape 18"/>
          <p:cNvSpPr/>
          <p:nvPr/>
        </p:nvSpPr>
        <p:spPr>
          <a:xfrm>
            <a:off x="10744200" y="212140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2D6A9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pairs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0" y="2715768"/>
            <a:ext cx="859536" cy="292608"/>
          </a:xfrm>
          <a:prstGeom prst="roundRect">
            <a:avLst>
              <a:gd name="adj" fmla="val 15625"/>
            </a:avLst>
          </a:prstGeom>
          <a:solidFill>
            <a:srgbClr val="3AAFA9"/>
          </a:solidFill>
          <a:ln/>
        </p:spPr>
      </p:sp>
      <p:sp>
        <p:nvSpPr>
          <p:cNvPr id="24" name="Shape 21"/>
          <p:cNvSpPr/>
          <p:nvPr/>
        </p:nvSpPr>
        <p:spPr>
          <a:xfrm>
            <a:off x="9235440" y="2715768"/>
            <a:ext cx="859536" cy="292608"/>
          </a:xfrm>
          <a:prstGeom prst="roundRect">
            <a:avLst>
              <a:gd name="adj" fmla="val 15625"/>
            </a:avLst>
          </a:prstGeom>
          <a:solidFill>
            <a:srgbClr val="3AAFA9"/>
          </a:solidFill>
          <a:ln/>
        </p:spPr>
      </p:sp>
      <p:sp>
        <p:nvSpPr>
          <p:cNvPr id="25" name="Shape 22"/>
          <p:cNvSpPr/>
          <p:nvPr/>
        </p:nvSpPr>
        <p:spPr>
          <a:xfrm>
            <a:off x="10241280" y="2715768"/>
            <a:ext cx="859536" cy="292608"/>
          </a:xfrm>
          <a:prstGeom prst="roundRect">
            <a:avLst>
              <a:gd name="adj" fmla="val 15625"/>
            </a:avLst>
          </a:prstGeom>
          <a:solidFill>
            <a:srgbClr val="3AAFA9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0" y="3310128"/>
            <a:ext cx="1316736" cy="292608"/>
          </a:xfrm>
          <a:prstGeom prst="roundRect">
            <a:avLst>
              <a:gd name="adj" fmla="val 15625"/>
            </a:avLst>
          </a:prstGeom>
          <a:solidFill>
            <a:srgbClr val="C9941E"/>
          </a:solidFill>
          <a:ln/>
        </p:spPr>
      </p:sp>
      <p:sp>
        <p:nvSpPr>
          <p:cNvPr id="28" name="Shape 25"/>
          <p:cNvSpPr/>
          <p:nvPr/>
        </p:nvSpPr>
        <p:spPr>
          <a:xfrm>
            <a:off x="9738360" y="3310128"/>
            <a:ext cx="1316736" cy="292608"/>
          </a:xfrm>
          <a:prstGeom prst="roundRect">
            <a:avLst>
              <a:gd name="adj" fmla="val 15625"/>
            </a:avLst>
          </a:prstGeom>
          <a:solidFill>
            <a:srgbClr val="C9941E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29600" y="3904488"/>
            <a:ext cx="2688336" cy="292608"/>
          </a:xfrm>
          <a:prstGeom prst="roundRect">
            <a:avLst>
              <a:gd name="adj" fmla="val 15625"/>
            </a:avLst>
          </a:prstGeom>
          <a:solidFill>
            <a:srgbClr val="16263F"/>
          </a:solidFill>
          <a:ln/>
        </p:spPr>
      </p:sp>
      <p:sp>
        <p:nvSpPr>
          <p:cNvPr id="31" name="Text 28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merges the nearest groups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dendrogram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individual data points at the bottom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distance at which clusters merged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line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horizontal cut sets the number of clusters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merges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joining dissimilar groups → natural cut point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5120" y="4434840"/>
            <a:ext cx="0" cy="-27432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0" y="4434840"/>
            <a:ext cx="0" cy="-27432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4434840"/>
            <a:ext cx="0" cy="-27432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78240" y="4434840"/>
            <a:ext cx="0" cy="-27432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18320" y="4434840"/>
            <a:ext cx="0" cy="-27432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241280" y="4434840"/>
            <a:ext cx="0" cy="-27432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881360" y="4434840"/>
            <a:ext cx="0" cy="-27432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75120" y="4160520"/>
            <a:ext cx="0" cy="-2743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0" y="4160520"/>
            <a:ext cx="0" cy="-27432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75120" y="3886200"/>
            <a:ext cx="64008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95160" y="4160520"/>
            <a:ext cx="0" cy="-54864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55280" y="4160520"/>
            <a:ext cx="0" cy="-54864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95160" y="3611880"/>
            <a:ext cx="96012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18320" y="4160520"/>
            <a:ext cx="0" cy="-32004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241280" y="4160520"/>
            <a:ext cx="0" cy="-32004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18320" y="3840480"/>
            <a:ext cx="82296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29800" y="4160520"/>
            <a:ext cx="0" cy="-59436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881360" y="4160520"/>
            <a:ext cx="0" cy="-59436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29800" y="3566160"/>
            <a:ext cx="105156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5220" y="4160520"/>
            <a:ext cx="0" cy="-91440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78240" y="4160520"/>
            <a:ext cx="0" cy="-91440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75220" y="3246120"/>
            <a:ext cx="130302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26730" y="4160520"/>
            <a:ext cx="0" cy="-123444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355580" y="4160520"/>
            <a:ext cx="0" cy="-123444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6730" y="2926080"/>
            <a:ext cx="222885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55080" y="3383280"/>
            <a:ext cx="51663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41" name="Text 38"/>
          <p:cNvSpPr/>
          <p:nvPr/>
        </p:nvSpPr>
        <p:spPr>
          <a:xfrm>
            <a:off x="6355080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→ 3 clusters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'CLOSE' IS MEASURED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Linkage methods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pair of points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3232" y="3456432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EAF0F6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4564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chainy clusters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346704" y="173736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3346704" y="173736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2D6A9F"/>
          </a:solidFill>
          <a:ln/>
        </p:spPr>
      </p:sp>
      <p:sp>
        <p:nvSpPr>
          <p:cNvPr id="14" name="Text 11"/>
          <p:cNvSpPr/>
          <p:nvPr/>
        </p:nvSpPr>
        <p:spPr>
          <a:xfrm>
            <a:off x="3346704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511296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farthest pair of points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511296" y="3456432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EAF0F6"/>
          </a:solidFill>
          <a:ln/>
        </p:spPr>
      </p:sp>
      <p:sp>
        <p:nvSpPr>
          <p:cNvPr id="17" name="Text 14"/>
          <p:cNvSpPr/>
          <p:nvPr/>
        </p:nvSpPr>
        <p:spPr>
          <a:xfrm>
            <a:off x="3529584" y="34564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equal-size clusters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6144768" y="173736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44768" y="173736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2D6A9F"/>
          </a:solidFill>
          <a:ln/>
        </p:spPr>
      </p:sp>
      <p:sp>
        <p:nvSpPr>
          <p:cNvPr id="20" name="Text 17"/>
          <p:cNvSpPr/>
          <p:nvPr/>
        </p:nvSpPr>
        <p:spPr>
          <a:xfrm>
            <a:off x="6144768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09360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all pairwise distances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309360" y="3456432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EAF0F6"/>
          </a:solidFill>
          <a:ln/>
        </p:spPr>
      </p:sp>
      <p:sp>
        <p:nvSpPr>
          <p:cNvPr id="23" name="Text 20"/>
          <p:cNvSpPr/>
          <p:nvPr/>
        </p:nvSpPr>
        <p:spPr>
          <a:xfrm>
            <a:off x="6327648" y="34564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middle ground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8942832" y="173736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25" name="Shape 22"/>
          <p:cNvSpPr/>
          <p:nvPr/>
        </p:nvSpPr>
        <p:spPr>
          <a:xfrm>
            <a:off x="8942832" y="173736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26" name="Text 23"/>
          <p:cNvSpPr/>
          <p:nvPr/>
        </p:nvSpPr>
        <p:spPr>
          <a:xfrm>
            <a:off x="8942832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107424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variance increase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107424" y="3456432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EAF0F6"/>
          </a:solidFill>
          <a:ln/>
        </p:spPr>
      </p:sp>
      <p:sp>
        <p:nvSpPr>
          <p:cNvPr id="29" name="Text 26"/>
          <p:cNvSpPr/>
          <p:nvPr/>
        </p:nvSpPr>
        <p:spPr>
          <a:xfrm>
            <a:off x="9125712" y="34564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popular default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changes the cluster shapes you get — Ward is a sensible default; single-linkage can 'chain'.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Hierarchical: pros &amp; cons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E6F2EA"/>
          </a:solidFill>
          <a:ln w="15240">
            <a:solidFill>
              <a:srgbClr val="2E6B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842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56032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pre-pick k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dendrogram shows structure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(no random init)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distance metric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BEAEA"/>
          </a:solidFill>
          <a:ln w="15240">
            <a:solidFill>
              <a:srgbClr val="9A3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3952" y="19842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11112" y="256032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slow: O(n²) memory / time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on very large datasets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can't be undone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noise &amp; linkage choice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dot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CLUSTERING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DBSCAN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clusters through dense regions; label the sparse points as noise.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2 · Phase E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ot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DENSITY, NOT DISTANCE TO A CENTRE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DBSCAN: core, border &amp; noise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≥ min_samples neighbours within eps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near a core, but not dense itself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no dense region → an outlier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chains of density-connected core points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082576" y="3606904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Shape 13"/>
          <p:cNvSpPr/>
          <p:nvPr/>
        </p:nvSpPr>
        <p:spPr>
          <a:xfrm>
            <a:off x="8269788" y="3510837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Shape 14"/>
          <p:cNvSpPr/>
          <p:nvPr/>
        </p:nvSpPr>
        <p:spPr>
          <a:xfrm>
            <a:off x="8313067" y="2955125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40253" y="2666770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9" name="Shape 16"/>
          <p:cNvSpPr/>
          <p:nvPr/>
        </p:nvSpPr>
        <p:spPr>
          <a:xfrm>
            <a:off x="9024465" y="3040886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Shape 17"/>
          <p:cNvSpPr/>
          <p:nvPr/>
        </p:nvSpPr>
        <p:spPr>
          <a:xfrm>
            <a:off x="7599624" y="342948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Shape 18"/>
          <p:cNvSpPr/>
          <p:nvPr/>
        </p:nvSpPr>
        <p:spPr>
          <a:xfrm>
            <a:off x="8245729" y="3563903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Shape 19"/>
          <p:cNvSpPr/>
          <p:nvPr/>
        </p:nvSpPr>
        <p:spPr>
          <a:xfrm>
            <a:off x="7569341" y="3270281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Shape 20"/>
          <p:cNvSpPr/>
          <p:nvPr/>
        </p:nvSpPr>
        <p:spPr>
          <a:xfrm>
            <a:off x="8699740" y="3038559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4" name="Shape 21"/>
          <p:cNvSpPr/>
          <p:nvPr/>
        </p:nvSpPr>
        <p:spPr>
          <a:xfrm>
            <a:off x="7755805" y="2884542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5" name="Shape 22"/>
          <p:cNvSpPr/>
          <p:nvPr/>
        </p:nvSpPr>
        <p:spPr>
          <a:xfrm>
            <a:off x="7744897" y="3345582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6" name="Shape 23"/>
          <p:cNvSpPr/>
          <p:nvPr/>
        </p:nvSpPr>
        <p:spPr>
          <a:xfrm>
            <a:off x="8870216" y="3489216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7" name="Shape 24"/>
          <p:cNvSpPr/>
          <p:nvPr/>
        </p:nvSpPr>
        <p:spPr>
          <a:xfrm>
            <a:off x="8165042" y="361572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8" name="Shape 25"/>
          <p:cNvSpPr/>
          <p:nvPr/>
        </p:nvSpPr>
        <p:spPr>
          <a:xfrm>
            <a:off x="8453854" y="3693510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9" name="Shape 26"/>
          <p:cNvSpPr/>
          <p:nvPr/>
        </p:nvSpPr>
        <p:spPr>
          <a:xfrm>
            <a:off x="8659693" y="2647860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0" name="Shape 27"/>
          <p:cNvSpPr/>
          <p:nvPr/>
        </p:nvSpPr>
        <p:spPr>
          <a:xfrm>
            <a:off x="8376158" y="3623861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Shape 28"/>
          <p:cNvSpPr/>
          <p:nvPr/>
        </p:nvSpPr>
        <p:spPr>
          <a:xfrm>
            <a:off x="8598930" y="3460625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2" name="Shape 29"/>
          <p:cNvSpPr/>
          <p:nvPr/>
        </p:nvSpPr>
        <p:spPr>
          <a:xfrm>
            <a:off x="8616809" y="3501530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3" name="Shape 30"/>
          <p:cNvSpPr/>
          <p:nvPr/>
        </p:nvSpPr>
        <p:spPr>
          <a:xfrm>
            <a:off x="8937794" y="3335660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4" name="Shape 31"/>
          <p:cNvSpPr/>
          <p:nvPr/>
        </p:nvSpPr>
        <p:spPr>
          <a:xfrm>
            <a:off x="8728766" y="3073647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5" name="Shape 32"/>
          <p:cNvSpPr/>
          <p:nvPr/>
        </p:nvSpPr>
        <p:spPr>
          <a:xfrm>
            <a:off x="7644285" y="2636467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6" name="Shape 33"/>
          <p:cNvSpPr/>
          <p:nvPr/>
        </p:nvSpPr>
        <p:spPr>
          <a:xfrm>
            <a:off x="8752671" y="3177847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7" name="Shape 34"/>
          <p:cNvSpPr/>
          <p:nvPr/>
        </p:nvSpPr>
        <p:spPr>
          <a:xfrm>
            <a:off x="7498080" y="2286000"/>
            <a:ext cx="137160" cy="137160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8" name="Shape 35"/>
          <p:cNvSpPr/>
          <p:nvPr/>
        </p:nvSpPr>
        <p:spPr>
          <a:xfrm>
            <a:off x="9144000" y="3931920"/>
            <a:ext cx="137160" cy="137160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9" name="Shape 36"/>
          <p:cNvSpPr/>
          <p:nvPr/>
        </p:nvSpPr>
        <p:spPr>
          <a:xfrm>
            <a:off x="9052560" y="2377440"/>
            <a:ext cx="137160" cy="137160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0" name="Shape 37"/>
          <p:cNvSpPr/>
          <p:nvPr/>
        </p:nvSpPr>
        <p:spPr>
          <a:xfrm>
            <a:off x="6675120" y="21031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1" name="Shape 38"/>
          <p:cNvSpPr/>
          <p:nvPr/>
        </p:nvSpPr>
        <p:spPr>
          <a:xfrm>
            <a:off x="6528816" y="1956816"/>
            <a:ext cx="438912" cy="438912"/>
          </a:xfrm>
          <a:prstGeom prst="ellipse">
            <a:avLst/>
          </a:prstGeom>
          <a:ln w="19050">
            <a:solidFill>
              <a:srgbClr val="C0392B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11064240" y="411480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Shape 40"/>
          <p:cNvSpPr/>
          <p:nvPr/>
        </p:nvSpPr>
        <p:spPr>
          <a:xfrm>
            <a:off x="10917936" y="3968496"/>
            <a:ext cx="438912" cy="438912"/>
          </a:xfrm>
          <a:prstGeom prst="ellipse">
            <a:avLst/>
          </a:prstGeom>
          <a:ln w="19050">
            <a:solidFill>
              <a:srgbClr val="C0392B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core · blue = border · red = noise</a:t>
            </a:r>
            <a:endParaRPr lang="en-US" sz="930" dirty="0"/>
          </a:p>
        </p:txBody>
      </p:sp>
      <p:sp>
        <p:nvSpPr>
          <p:cNvPr id="45" name="Text 4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KNOBS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eps &amp; min_samples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(ε)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radius — how close counts as 'near'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needed within ε to be a dense core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wa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ε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becomes noise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objgrou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ε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clusters merge into one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min_samples ≈ 2 × dimensions, then tune ε — the result is very sensitive to ε.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ε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k-distance plot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point's distance to its k-th neighbour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ascending, then plot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sharp bend marks a good ε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ε = the distance at the knee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k-distance — find the knee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10332720" y="2743200"/>
            <a:ext cx="457200" cy="457200"/>
          </a:xfrm>
          <a:prstGeom prst="ellipse">
            <a:avLst/>
          </a:prstGeom>
          <a:ln w="31750">
            <a:solidFill>
              <a:srgbClr val="C0392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96696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→ ε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DBSCAN: strengths &amp; limits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E6F2EA"/>
          </a:solidFill>
          <a:ln w="15240">
            <a:solidFill>
              <a:srgbClr val="2E6B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842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56032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arbitrary shapes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pre-pick k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noise / outliers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BEAEA"/>
          </a:solidFill>
          <a:ln w="15240">
            <a:solidFill>
              <a:srgbClr val="9A3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3952" y="19842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11112" y="256032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 to ε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varying density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 high dimensions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needs the k-distance plot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&amp; MODEL-BASED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Gaussian Mixture Models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each point belong to several clusters — with probabilities.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2 · Phase E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CLUSTERING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Gaussian Mixture Models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= a mix of k Gaussian 'bells'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point gets a probability per cluster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Expectation-Maximisation (EM)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elliptical clusters, not just spheres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 rot="1200000">
            <a:off x="6858000" y="2468880"/>
            <a:ext cx="2194560" cy="1280160"/>
          </a:xfrm>
          <a:prstGeom prst="ellipse">
            <a:avLst/>
          </a:prstGeom>
          <a:solidFill>
            <a:srgbClr val="2D6A9F">
              <a:alpha val="35000"/>
            </a:srgbClr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-900000">
            <a:off x="8595360" y="2834640"/>
            <a:ext cx="2377440" cy="1188720"/>
          </a:xfrm>
          <a:prstGeom prst="ellipse">
            <a:avLst/>
          </a:prstGeom>
          <a:solidFill>
            <a:srgbClr val="3AAFA9">
              <a:alpha val="40000"/>
            </a:srgbClr>
          </a:solidFill>
          <a:ln w="19050">
            <a:solidFill>
              <a:srgbClr val="3AAFA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point: 0.6 blue / 0.4 teal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vs HARD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GMM vs k-means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6263F"/>
          </a:solidFill>
          <a:ln/>
        </p:spPr>
      </p:sp>
      <p:sp>
        <p:nvSpPr>
          <p:cNvPr id="7" name="Text 4"/>
          <p:cNvSpPr/>
          <p:nvPr/>
        </p:nvSpPr>
        <p:spPr>
          <a:xfrm>
            <a:off x="42062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55280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0624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— one cluster each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— probabilities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449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449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shape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206240" y="3044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only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30449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elliptical (covariance)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666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666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06240" y="3666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55280" y="36667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membership 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2885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88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206240" y="42885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55280" y="4288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(EM iterations)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GMM when clusters overlap or are elongated, or when you need a confidence per assignment.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Other clustering methods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magn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climbs to density peaks; finds k itself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projdi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graph-based; great for non-convex shapes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dot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for varying density; less tuning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vect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 for very large data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won't need all of these — but knowing they exist helps you reach for the right tool.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&amp; APPLYING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Pick, validate, deploy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algorithm to your data's shape, size and noise — then validate.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 2 · Phase E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GUIDE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Choosing a clustering algorithm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3736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round clusters, fast</a:t>
            </a:r>
            <a:endParaRPr lang="en-US" sz="1250" dirty="0"/>
          </a:p>
        </p:txBody>
      </p:sp>
      <p:pic>
        <p:nvPicPr>
          <p:cNvPr id="8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65960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0" y="17373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41401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241401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hierarchy / unknown k, small data</a:t>
            </a:r>
            <a:endParaRPr lang="en-US" sz="12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4261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55280" y="241401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(Ward)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09067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309067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shapes + noise / outliers</a:t>
            </a:r>
            <a:endParaRPr lang="en-US" sz="1250" dirty="0"/>
          </a:p>
        </p:txBody>
      </p:sp>
      <p:pic>
        <p:nvPicPr>
          <p:cNvPr id="16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31927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55280" y="309067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/ HDBSCAN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37673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60" y="376732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or elliptical clusters</a:t>
            </a:r>
            <a:endParaRPr lang="en-US" sz="1250" dirty="0"/>
          </a:p>
        </p:txBody>
      </p:sp>
      <p:pic>
        <p:nvPicPr>
          <p:cNvPr id="20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3995928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55280" y="37673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22960" y="444398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 shapes, modest size</a:t>
            </a:r>
            <a:endParaRPr lang="en-US" sz="1250" dirty="0"/>
          </a:p>
        </p:txBody>
      </p:sp>
      <p:pic>
        <p:nvPicPr>
          <p:cNvPr id="24" name="Image 5" descr="ic_arrow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672584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955280" y="444398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k-means as a baseline; switch only when its shape, k, or noise assumptions break.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SCALE 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Workflow &amp; code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standardise before any distance method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PCA first if high-dimensional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silhouette / Davies-Bouldin to compare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profile clusters into something useful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3017520"/>
          </a:xfrm>
          <a:prstGeom prst="roundRect">
            <a:avLst>
              <a:gd name="adj" fmla="val 1818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AgglomerativeClustering, DBSCAN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sklearn.mixture import GaussianMixture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 in models.items():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 = m.fit_predict(Xs)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len(set(labels)) &gt; 1: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print(name,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silhouette_score(Xs, labels))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hierarchical, DBSCAN and GMM on the same scaled data; compare silhouette scores.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omparrow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distance method depends on it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hap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shape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force k-means on crescents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ε properly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k-distance knee for DBSCAN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interpret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peak still needs a sanity check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winner: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'best' clusterer depends entirely on your data's shape, size, density and noise.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builds a dendrogram tree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sets the cluster shapes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finds shapes + noise via density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gives soft, elliptical clusters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method for your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dendrogram; cut for k clusters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4 linkage methods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DBSCAN with a k-distance plot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GMM; inspect soft probabilities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four by silhouette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Labeling &amp; Data-Centric AI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models by improving the data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hierarchical, DBSCAN and GMM each beat k-means on a specific weakness — the skill is matching the algorithm to your data.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· Clustering (finish)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2026-06-12T05:15:46Z</dcterms:created>
  <dcterms:modified xsi:type="dcterms:W3CDTF">2026-06-12T05:15:46Z</dcterms:modified>
</cp:coreProperties>
</file>