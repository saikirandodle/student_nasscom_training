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</c:v>
                </c:pt>
              </c:strCache>
            </c:strRef>
          </c:tx>
          <c:spPr>
            <a:solidFill>
              <a:srgbClr val="3AAF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noisy labels</c:v>
                  </c:pt>
                  <c:pt idx="1">
                    <c:v>cleaned labels</c:v>
                  </c:pt>
                  <c:pt idx="2">
                    <c:v>+ hard cases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</c:v>
                </c:pt>
                <c:pt idx="1">
                  <c:v>0.84</c:v>
                </c:pt>
                <c:pt idx="2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3.png"/><Relationship Id="rId6" Type="http://schemas.openxmlformats.org/officeDocument/2006/relationships/image" Target="../media/image-19-6.png"/><Relationship Id="rId7" Type="http://schemas.openxmlformats.org/officeDocument/2006/relationships/image" Target="../media/image-19-3.png"/><Relationship Id="rId8" Type="http://schemas.openxmlformats.org/officeDocument/2006/relationships/image" Target="../media/image-19-8.png"/><Relationship Id="rId9" Type="http://schemas.openxmlformats.org/officeDocument/2006/relationships/image" Target="../media/image-19-3.png"/><Relationship Id="rId10" Type="http://schemas.openxmlformats.org/officeDocument/2006/relationships/image" Target="../media/image-1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ta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10  ·  PHASE E — DATA-CENTRIC AI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Labeling &amp; Data-Centric AI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Better models come from better data — not just better algorithms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· label quality · active learning · weak supervision · the data loop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U19  ·  Phase E  ·  22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Shift the focus from model to data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model is decent, the fastest path to better performance is usually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the data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its labels, quality and coverage — not endlessly tuning the model.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data-centric vs model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t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labels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agreement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magn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smarter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&amp; weak supervision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clip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&amp; augmentation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sync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loop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Popularised by Andrew Ng: hold the model fixed and systematically improve the data instead.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DATA-CENTRIC SHIFT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over model tweaks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data is often the highest-leverage thing you can improve.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Data-Centric AI · Phase E  ·  01 / 22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PHILOSOPHIES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Model-centric vs data-centric AI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3017520"/>
          </a:xfrm>
          <a:prstGeom prst="roundRect">
            <a:avLst>
              <a:gd name="adj" fmla="val 303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MODEL-CENTRIC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41401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i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data fixed; improve the model.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310896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architecture &amp; hyperparameters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new algorithms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&amp; optimise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treated as fixed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9632" y="1737360"/>
            <a:ext cx="5440680" cy="3017520"/>
          </a:xfrm>
          <a:prstGeom prst="roundRect">
            <a:avLst>
              <a:gd name="adj" fmla="val 3030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6199632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DATA-CENTRIC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73952" y="241401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i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model fixed; improve the data.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11112" y="310896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label errors &amp; inconsistency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coverage of hard cases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augment, relabel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treated as fixed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either/or — but teams often over-invest in models and under-invest in data quality.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LEVERAGE IS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better data often beats a better model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algorithm overcomes noisy labels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consistent labels can beat more 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examples of hard cases lift real accuracy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 tweaks plateau; data fixes don't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62763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— accuracy by data quality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217920" y="46451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fixing data moved the needle, not the model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ip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'GOOD DATA' MEANS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quality dimensions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heckdb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&amp; values are correct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 applied everywhere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missing values; full coverage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real-world distribution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(up to date) and unbiased (no systematic skew). Quality is multi-dimensional, not a single number.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t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GOOD LABELS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labeling problem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the supervision signal — and getting them right is harder than it looks.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Data-Centric AI · Phase E  ·  02 / 22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THAN IT LOOKS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labeling problem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human labeling is slow &amp; costly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annotators disagree on edge cases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rules drift across people &amp; time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experts (e.g. doctors) are a bottleneck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874520"/>
            <a:ext cx="5422392" cy="2697480"/>
          </a:xfrm>
          <a:prstGeom prst="roundRect">
            <a:avLst>
              <a:gd name="adj" fmla="val 3390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image, two labellers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0" y="242316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EAF1F8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24231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Annotator A:  </a:t>
            </a:r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= DEFECT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320040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FBEA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3200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Annotator B:  </a:t>
            </a:r>
            <a:pPr algn="l"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= OK (cosmetic)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17920" y="4160520"/>
            <a:ext cx="5422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on edge cases is the core challenge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GET LABELS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Labeling approaches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user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157984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79806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experts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94944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quality, low volume, costly</a:t>
            </a:r>
            <a:endParaRPr lang="en-US" sz="980" dirty="0"/>
          </a:p>
        </p:txBody>
      </p:sp>
      <p:sp>
        <p:nvSpPr>
          <p:cNvPr id="11" name="Shape 7"/>
          <p:cNvSpPr/>
          <p:nvPr/>
        </p:nvSpPr>
        <p:spPr>
          <a:xfrm>
            <a:off x="3346704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57984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38144" y="279806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Crowdsourcing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493008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scalable; needs quality control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6144768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57984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36208" y="279806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291072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rules/heuristics label at scale</a:t>
            </a:r>
            <a:endParaRPr lang="en-US" sz="980" dirty="0"/>
          </a:p>
        </p:txBody>
      </p:sp>
      <p:sp>
        <p:nvSpPr>
          <p:cNvPr id="21" name="Shape 15"/>
          <p:cNvSpPr/>
          <p:nvPr/>
        </p:nvSpPr>
        <p:spPr>
          <a:xfrm>
            <a:off x="8942832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magn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157984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34272" y="2798064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/ LLM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9089136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auto-label, then human-verify</a:t>
            </a:r>
            <a:endParaRPr lang="en-US" sz="980" dirty="0"/>
          </a:p>
        </p:txBody>
      </p:sp>
      <p:sp>
        <p:nvSpPr>
          <p:cNvPr id="26" name="Shape 19"/>
          <p:cNvSpPr/>
          <p:nvPr/>
        </p:nvSpPr>
        <p:spPr>
          <a:xfrm>
            <a:off x="548640" y="42062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06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auto-label cheaply (rules / model / LLM), then route only the uncertain cases to expensive humans.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eckdb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LABEL QUALITY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Inter-annotator agreement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if humans disagree, the label is unclear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labels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have several people label the same items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κ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agreement beyond chance (2 raters)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Fleiss' κ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extends it to many raters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828800"/>
            <a:ext cx="5422392" cy="2743200"/>
          </a:xfrm>
          <a:prstGeom prst="roundRect">
            <a:avLst>
              <a:gd name="adj" fmla="val 333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2194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 =  (pₒ − pₑ) / (1 − pₑ)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355080" y="2834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pₒ = observed agreement,  pₑ = agreement expected by chance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355080" y="3520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0.4 poor   ·   0.4–0.6 moderate   ·   0.6–0.8 good   ·   &gt; 0.8 strong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ip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LABELS CONSISTENT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Labeling guidelines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liplis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rules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definitions for every class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t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examples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hard, ambiguous cases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yn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the guide as disagreements surface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heckdb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 &amp; re-train annotators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lever: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 labeling guide. Most 'model' problems are really inconsistent-label problems in disguise.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icroscop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FIX BAD LABELS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Label-error detection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everywhere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even benchmark datasets carry errors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learning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models flag likely mislabels (cleanlab)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model-vs-label conflicts → review queue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don't ignore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correct or remove, then retrain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874520"/>
            <a:ext cx="5422392" cy="2697480"/>
          </a:xfrm>
          <a:prstGeom prst="roundRect">
            <a:avLst>
              <a:gd name="adj" fmla="val 3390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mislabels by model confidence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0" y="2423160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2423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OK  ·  model: 0.97 DEFECT   </a:t>
            </a:r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likely mislabel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0" y="3291840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E6F2EA"/>
          </a:solidFill>
          <a:ln w="12700">
            <a:solidFill>
              <a:srgbClr val="2E6B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3291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DEFECT  ·  model: 0.95 DEFECT   </a:t>
            </a:r>
            <a:pPr algn="l" indent="0" marL="0">
              <a:buNone/>
            </a:pPr>
            <a:r>
              <a:rPr lang="en-US" sz="110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consistent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magn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SMARTER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 more with fewer labels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learning, weak supervision and semi-supervised methods stretch every label.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Data-Centric AI · Phase E  ·  03 / 22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magn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RIGHT EXAMPLES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Active learning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label the examples the model is unsure about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 → find uncertain → label → repeat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reach target accuracy with far fewer labels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uncertainty, margin, or disagreement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869680" y="2011680"/>
            <a:ext cx="0" cy="2514600"/>
          </a:xfrm>
          <a:prstGeom prst="line">
            <a:avLst/>
          </a:prstGeom>
          <a:noFill/>
          <a:ln w="31750">
            <a:solidFill>
              <a:srgbClr val="F4B942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7366438" y="3652787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139541" y="2252803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447080" y="3085949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538342" y="2228209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949550" y="3057216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801299" y="3735141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728959" y="4137804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971311" y="4066523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981192" y="2801065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254770" y="4017093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783946" y="3939603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7303238" y="2965963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7957533" y="2536635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966575" y="3347016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7609198" y="2888714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7679011" y="2378671"/>
            <a:ext cx="109728" cy="109728"/>
          </a:xfrm>
          <a:prstGeom prst="ellipse">
            <a:avLst/>
          </a:prstGeom>
          <a:solidFill>
            <a:srgbClr val="2D6A9F">
              <a:alpha val="7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9921276" y="2959323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9301150" y="3239878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9558641" y="2202080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0843891" y="3447083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9574936" y="2678336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0792265" y="2677422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0399140" y="3469176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9832636" y="3886327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9307242" y="2463577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9166142" y="3696163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10653369" y="3511051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9157413" y="2231106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9461377" y="2786922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0878895" y="2223069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9184537" y="2650568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10126605" y="3423696"/>
            <a:ext cx="109728" cy="109728"/>
          </a:xfrm>
          <a:prstGeom prst="ellipse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8641080" y="2743200"/>
            <a:ext cx="146304" cy="14630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49" name="Shape 46"/>
          <p:cNvSpPr/>
          <p:nvPr/>
        </p:nvSpPr>
        <p:spPr>
          <a:xfrm>
            <a:off x="8531352" y="2633472"/>
            <a:ext cx="365760" cy="365760"/>
          </a:xfrm>
          <a:prstGeom prst="ellipse">
            <a:avLst/>
          </a:prstGeom>
          <a:ln w="19050">
            <a:solidFill>
              <a:srgbClr val="F4B94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778240" y="3566160"/>
            <a:ext cx="146304" cy="14630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51" name="Shape 48"/>
          <p:cNvSpPr/>
          <p:nvPr/>
        </p:nvSpPr>
        <p:spPr>
          <a:xfrm>
            <a:off x="8668512" y="3456432"/>
            <a:ext cx="365760" cy="365760"/>
          </a:xfrm>
          <a:prstGeom prst="ellipse">
            <a:avLst/>
          </a:prstGeom>
          <a:ln w="19050">
            <a:solidFill>
              <a:srgbClr val="F4B94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006840" y="2468880"/>
            <a:ext cx="146304" cy="14630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53" name="Shape 50"/>
          <p:cNvSpPr/>
          <p:nvPr/>
        </p:nvSpPr>
        <p:spPr>
          <a:xfrm>
            <a:off x="8897112" y="2359152"/>
            <a:ext cx="365760" cy="365760"/>
          </a:xfrm>
          <a:prstGeom prst="ellipse">
            <a:avLst/>
          </a:prstGeom>
          <a:ln w="19050">
            <a:solidFill>
              <a:srgbClr val="F4B942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732520" y="4023360"/>
            <a:ext cx="146304" cy="146304"/>
          </a:xfrm>
          <a:prstGeom prst="ellipse">
            <a:avLst/>
          </a:prstGeom>
          <a:solidFill>
            <a:srgbClr val="16263F"/>
          </a:solidFill>
          <a:ln/>
        </p:spPr>
      </p:sp>
      <p:sp>
        <p:nvSpPr>
          <p:cNvPr id="55" name="Shape 52"/>
          <p:cNvSpPr/>
          <p:nvPr/>
        </p:nvSpPr>
        <p:spPr>
          <a:xfrm>
            <a:off x="8622792" y="3913632"/>
            <a:ext cx="365760" cy="365760"/>
          </a:xfrm>
          <a:prstGeom prst="ellipse">
            <a:avLst/>
          </a:prstGeom>
          <a:ln w="19050">
            <a:solidFill>
              <a:srgbClr val="F4B94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217920" y="45720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the ringed (uncertain) points first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WITH RULES, NOT HANDS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Weak supervision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functions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noisy rules / heuristics / patterns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model merges them into one label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label millions of rows programmatically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Snorkel and similar frameworks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83080"/>
            <a:ext cx="5422392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0" y="2103120"/>
            <a:ext cx="3017520" cy="438912"/>
          </a:xfrm>
          <a:prstGeom prst="roundRect">
            <a:avLst>
              <a:gd name="adj" fmla="val 12500"/>
            </a:avLst>
          </a:prstGeom>
          <a:solidFill>
            <a:srgbClr val="2D6A9F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21031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'free $$$' → SPAM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418320" y="2322576"/>
            <a:ext cx="731520" cy="42062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2670048"/>
            <a:ext cx="3017520" cy="438912"/>
          </a:xfrm>
          <a:prstGeom prst="roundRect">
            <a:avLst>
              <a:gd name="adj" fmla="val 12500"/>
            </a:avLst>
          </a:prstGeom>
          <a:solidFill>
            <a:srgbClr val="2D6A9F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267004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known sender → HAM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418320" y="2889504"/>
            <a:ext cx="731520" cy="-146304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0" y="3236976"/>
            <a:ext cx="3017520" cy="438912"/>
          </a:xfrm>
          <a:prstGeom prst="roundRect">
            <a:avLst>
              <a:gd name="adj" fmla="val 12500"/>
            </a:avLst>
          </a:prstGeom>
          <a:solidFill>
            <a:srgbClr val="2D6A9F"/>
          </a:solidFill>
          <a:ln/>
        </p:spPr>
      </p:sp>
      <p:sp>
        <p:nvSpPr>
          <p:cNvPr id="22" name="Text 19"/>
          <p:cNvSpPr/>
          <p:nvPr/>
        </p:nvSpPr>
        <p:spPr>
          <a:xfrm>
            <a:off x="6492240" y="323697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many links → SPAM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418320" y="3456432"/>
            <a:ext cx="731520" cy="-713232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058400" y="265176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5" name="Text 22"/>
          <p:cNvSpPr/>
          <p:nvPr/>
        </p:nvSpPr>
        <p:spPr>
          <a:xfrm>
            <a:off x="10058400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17920" y="45720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rules → one probabilistic label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UNLABELLED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Semi-supervised learning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little labelled, a lot unlabelled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Self-training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 labels its own confident cases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Pseudo-labels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add high-confidence predictions to train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structure in unlabelled data helps the model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2011680"/>
            <a:ext cx="5422392" cy="237744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0" y="2743200"/>
            <a:ext cx="914400" cy="91440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3703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(few)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863840" y="2377440"/>
            <a:ext cx="3291840" cy="1645920"/>
          </a:xfrm>
          <a:prstGeom prst="rect">
            <a:avLst/>
          </a:prstGeom>
          <a:solidFill>
            <a:srgbClr val="2D6A9F">
              <a:alpha val="45000"/>
            </a:srgbClr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unlabelled (lots)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MORE FROM WHAT YOU HAVE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augmentation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shap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rotate, crop, recolour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t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synonyms, back-translation, paraphrase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tre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/ signals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jitter, SMOTE, noise injection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robo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examples of rare cases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algn="l" indent="0" marL="0">
              <a:buNone/>
            </a:pPr>
            <a:r>
              <a:rPr lang="en-US" sz="13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coverage and balance rare classes without collecting (or labeling) new real data.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DATA-CENTRIC LOOP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Iterate on the data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data quality as an ongoing, measurable engineering process.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Data-Centric AI · Phase E  ·  04 / 22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CYCLE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data-centric iteration loop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303020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224942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" y="28254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58368" y="3118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current data</a:t>
            </a:r>
            <a:endParaRPr lang="en-US" sz="850" dirty="0"/>
          </a:p>
        </p:txBody>
      </p:sp>
      <p:pic>
        <p:nvPicPr>
          <p:cNvPr id="11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569464"/>
            <a:ext cx="146304" cy="1463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834640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3" name="Shape 8"/>
          <p:cNvSpPr/>
          <p:nvPr/>
        </p:nvSpPr>
        <p:spPr>
          <a:xfrm>
            <a:off x="3570732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4" name="Image 3" descr="ic_microscop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92" y="2249424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889504" y="28254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ERROR-ANALYSE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2926080" y="3118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fail?</a:t>
            </a:r>
            <a:endParaRPr lang="en-US" sz="850" dirty="0"/>
          </a:p>
        </p:txBody>
      </p:sp>
      <p:pic>
        <p:nvPicPr>
          <p:cNvPr id="17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569464"/>
            <a:ext cx="146304" cy="14630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102352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19" name="Shape 12"/>
          <p:cNvSpPr/>
          <p:nvPr/>
        </p:nvSpPr>
        <p:spPr>
          <a:xfrm>
            <a:off x="5838444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5" descr="ic_clip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5604" y="2249424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57216" y="28254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DATA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5193792" y="3118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labels, add cases</a:t>
            </a:r>
            <a:endParaRPr lang="en-US" sz="850" dirty="0"/>
          </a:p>
        </p:txBody>
      </p:sp>
      <p:pic>
        <p:nvPicPr>
          <p:cNvPr id="23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2569464"/>
            <a:ext cx="146304" cy="14630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370064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25" name="Shape 16"/>
          <p:cNvSpPr/>
          <p:nvPr/>
        </p:nvSpPr>
        <p:spPr>
          <a:xfrm>
            <a:off x="8106156" y="211226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6" name="Image 7" descr="ic_tren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316" y="2249424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424928" y="28254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150" dirty="0"/>
          </a:p>
        </p:txBody>
      </p:sp>
      <p:sp>
        <p:nvSpPr>
          <p:cNvPr id="28" name="Text 18"/>
          <p:cNvSpPr/>
          <p:nvPr/>
        </p:nvSpPr>
        <p:spPr>
          <a:xfrm>
            <a:off x="7461504" y="3118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data quality help?</a:t>
            </a:r>
            <a:endParaRPr lang="en-US" sz="850" dirty="0"/>
          </a:p>
        </p:txBody>
      </p:sp>
      <p:pic>
        <p:nvPicPr>
          <p:cNvPr id="29" name="Image 8" descr="ic_arrow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4896" y="2569464"/>
            <a:ext cx="146304" cy="146304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637776" y="1874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10373868" y="2112264"/>
            <a:ext cx="585216" cy="58521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2" name="Image 9" descr="ic_sync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1028" y="2249424"/>
            <a:ext cx="310896" cy="31089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692640" y="282549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150" dirty="0"/>
          </a:p>
        </p:txBody>
      </p:sp>
      <p:sp>
        <p:nvSpPr>
          <p:cNvPr id="34" name="Text 22"/>
          <p:cNvSpPr/>
          <p:nvPr/>
        </p:nvSpPr>
        <p:spPr>
          <a:xfrm>
            <a:off x="9729216" y="31181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model fixed</a:t>
            </a:r>
            <a:endParaRPr lang="en-US" sz="850" dirty="0"/>
          </a:p>
        </p:txBody>
      </p:sp>
      <p:sp>
        <p:nvSpPr>
          <p:cNvPr id="35" name="Shape 23"/>
          <p:cNvSpPr/>
          <p:nvPr/>
        </p:nvSpPr>
        <p:spPr>
          <a:xfrm>
            <a:off x="548640" y="38862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36" name="Text 24"/>
          <p:cNvSpPr/>
          <p:nvPr/>
        </p:nvSpPr>
        <p:spPr>
          <a:xfrm>
            <a:off x="822960" y="3886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is the engine:  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what the model gets wrong, find the data pattern behind it, fix that slice — then measure again.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38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ip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t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tools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Studio, CVAT, Prodigy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microscop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metrics; find weak segments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checkdb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QA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cleanlab, agreement audits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databa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data like code (DVC)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548640" y="4526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datasets as living artifacts: versioned, documented, tested and continuously improved.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only tune models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fixes are often higher-leverage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cliplis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guide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instructions = inconsistent labels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checkdb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agreement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κ means the task is ill-defined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balanc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the bias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labels bake in unfairness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can only be as good as your labels — invest there before chasing fancier architectures.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Data-centric: improve data, fix model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labels beat clever models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inter-annotator agreement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Active/weak/semi-supervision save labels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via error analysis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labeling guide for one task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2 people label 50 items; compute κ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cleanlab to find label errors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active-learning loop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a small dataset; re-measure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Fairness &amp; Explainability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responsible, transparent, trustworthy models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t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highest-leverage work in ML is often in the data — label it well, measure its quality, and improve it systematically.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U19 · Data Labeling &amp; Data-Centric AI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2026-06-12T05:15:46Z</dcterms:created>
  <dcterms:modified xsi:type="dcterms:W3CDTF">2026-06-12T05:15:46Z</dcterms:modified>
</cp:coreProperties>
</file>