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income</c:v>
                  </c:pt>
                  <c:pt idx="1">
                    <c:v>credit history</c:v>
                  </c:pt>
                  <c:pt idx="2">
                    <c:v>loan amount</c:v>
                  </c:pt>
                  <c:pt idx="3">
                    <c:v>age</c:v>
                  </c:pt>
                  <c:pt idx="4">
                    <c:v>ZIP code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0.27</c:v>
                </c:pt>
                <c:pt idx="2">
                  <c:v>0.19</c:v>
                </c:pt>
                <c:pt idx="3">
                  <c:v>0.13</c:v>
                </c:pt>
                <c:pt idx="4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pdp</c:v>
                </c:pt>
              </c:strCache>
            </c:strRef>
          </c:tx>
          <c:spPr>
            <a:solidFill>
              <a:srgbClr val="3AAFA9"/>
            </a:solidFill>
            <a:ln w="4445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0.15</c:v>
                  </c:pt>
                  <c:pt idx="4">
                    <c:v>0.2</c:v>
                  </c:pt>
                  <c:pt idx="5">
                    <c:v>0.25</c:v>
                  </c:pt>
                  <c:pt idx="6">
                    <c:v>0.3</c:v>
                  </c:pt>
                  <c:pt idx="7">
                    <c:v>0.35</c:v>
                  </c:pt>
                  <c:pt idx="8">
                    <c:v>0.4</c:v>
                  </c:pt>
                  <c:pt idx="9">
                    <c:v>0.45</c:v>
                  </c:pt>
                  <c:pt idx="10">
                    <c:v>0.5</c:v>
                  </c:pt>
                  <c:pt idx="11">
                    <c:v>0.55</c:v>
                  </c:pt>
                  <c:pt idx="12">
                    <c:v>0.6</c:v>
                  </c:pt>
                  <c:pt idx="13">
                    <c:v>0.65</c:v>
                  </c:pt>
                  <c:pt idx="14">
                    <c:v>0.7</c:v>
                  </c:pt>
                  <c:pt idx="15">
                    <c:v>0.75</c:v>
                  </c:pt>
                  <c:pt idx="16">
                    <c:v>0.8</c:v>
                  </c:pt>
                  <c:pt idx="17">
                    <c:v>0.85</c:v>
                  </c:pt>
                  <c:pt idx="18">
                    <c:v>0.9</c:v>
                  </c:pt>
                  <c:pt idx="19">
                    <c:v>0.95</c:v>
                  </c:pt>
                  <c:pt idx="20">
                    <c:v>1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0.1546849956469994</c:v>
                </c:pt>
                <c:pt idx="1">
                  <c:v>0.15769085984141523</c:v>
                </c:pt>
                <c:pt idx="2">
                  <c:v>0.16259034697346408</c:v>
                </c:pt>
                <c:pt idx="3">
                  <c:v>0.1705185615259494</c:v>
                </c:pt>
                <c:pt idx="4">
                  <c:v>0.18319811122429674</c:v>
                </c:pt>
                <c:pt idx="5">
                  <c:v>0.20310072601487048</c:v>
                </c:pt>
                <c:pt idx="6">
                  <c:v>0.23344204541548227</c:v>
                </c:pt>
                <c:pt idx="7">
                  <c:v>0.2776978666644494</c:v>
                </c:pt>
                <c:pt idx="8">
                  <c:v>0.3382589949589966</c:v>
                </c:pt>
                <c:pt idx="9">
                  <c:v>0.41427846815870173</c:v>
                </c:pt>
                <c:pt idx="10">
                  <c:v>0.5</c:v>
                </c:pt>
                <c:pt idx="11">
                  <c:v>0.5857215318412983</c:v>
                </c:pt>
                <c:pt idx="12">
                  <c:v>0.6617410050410034</c:v>
                </c:pt>
                <c:pt idx="13">
                  <c:v>0.7223021333355505</c:v>
                </c:pt>
                <c:pt idx="14">
                  <c:v>0.7665579545845176</c:v>
                </c:pt>
                <c:pt idx="15">
                  <c:v>0.7968992739851295</c:v>
                </c:pt>
                <c:pt idx="16">
                  <c:v>0.8168018887757033</c:v>
                </c:pt>
                <c:pt idx="17">
                  <c:v>0.8294814384740505</c:v>
                </c:pt>
                <c:pt idx="18">
                  <c:v>0.8374096530265359</c:v>
                </c:pt>
                <c:pt idx="19">
                  <c:v>0.8423091401585848</c:v>
                </c:pt>
                <c:pt idx="20">
                  <c:v>0.8453150043530007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3.png"/><Relationship Id="rId6" Type="http://schemas.openxmlformats.org/officeDocument/2006/relationships/image" Target="../media/image-19-6.png"/><Relationship Id="rId7" Type="http://schemas.openxmlformats.org/officeDocument/2006/relationships/image" Target="../media/image-19-3.png"/><Relationship Id="rId8" Type="http://schemas.openxmlformats.org/officeDocument/2006/relationships/image" Target="../media/image-19-8.png"/><Relationship Id="rId9" Type="http://schemas.openxmlformats.org/officeDocument/2006/relationships/image" Target="../media/image-19-3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alsca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10  ·  PHASE E — RESPONSIBLE 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Applied Fairness &amp; Explainability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models people can trust — fair, transparent, accountable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 metrics · mitigation · SHAP · LIME · counterfactuals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U20  ·  Phase E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that are fair and understandable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increasingly drive decisions about people — so they must be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to all groups and explainable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people they affect, the teams who build them, and regulators.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bal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metrics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handshak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unfairness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prediction?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microscop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PDP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user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'Responsible AI' isn't a constraint bolted on at the end — it's a discipline applied throughout.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al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Bias and how to measure it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unfairness comes from, and how to quantify 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Phase E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fairness in ML?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should not systematically disadvantage people based on protected attributes (race, gender, age…).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0449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that favours one group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0449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scores with disparate impact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user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04495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skewed across groups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microscop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04495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under-serving some populations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models cause real harm, legal risk and lost trust — fairness is both ethical and practical.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ing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BIAS COMES FROM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Sources of bias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373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bias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54880" y="173736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inequities are in the data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1401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1401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bias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54880" y="241401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groups under-represented in data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09067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09067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bias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54880" y="309067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human judgements become labels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6732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7673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bias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54880" y="376732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(e.g. ZIP) encode protected traits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44398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44398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bias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54880" y="444398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 a population it wasn't built for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usually enters through the data and the problem framing — long before the model is trained.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FAIRNESS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Fairness metrics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359152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positive rates across groups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456432"/>
            <a:ext cx="3127248" cy="420624"/>
          </a:xfrm>
          <a:prstGeom prst="roundRect">
            <a:avLst>
              <a:gd name="adj" fmla="val 13043"/>
            </a:avLst>
          </a:prstGeom>
          <a:solidFill>
            <a:srgbClr val="16263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45643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P(ŷ=1) same per group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15968" y="17373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315968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2D6A9F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opportunity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44568" y="2359152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true-positive rates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44568" y="3456432"/>
            <a:ext cx="3127248" cy="420624"/>
          </a:xfrm>
          <a:prstGeom prst="roundRect">
            <a:avLst>
              <a:gd name="adj" fmla="val 13043"/>
            </a:avLst>
          </a:prstGeom>
          <a:solidFill>
            <a:srgbClr val="16263F"/>
          </a:solidFill>
          <a:ln/>
        </p:spPr>
      </p:sp>
      <p:sp>
        <p:nvSpPr>
          <p:cNvPr id="17" name="Text 14"/>
          <p:cNvSpPr/>
          <p:nvPr/>
        </p:nvSpPr>
        <p:spPr>
          <a:xfrm>
            <a:off x="4544568" y="345643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same per group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83296" y="17373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8083296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2D6A9F"/>
          </a:solidFill>
          <a:ln/>
        </p:spPr>
      </p:sp>
      <p:sp>
        <p:nvSpPr>
          <p:cNvPr id="20" name="Text 17"/>
          <p:cNvSpPr/>
          <p:nvPr/>
        </p:nvSpPr>
        <p:spPr>
          <a:xfrm>
            <a:off x="8311896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Equalised odds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11896" y="2359152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TPR and FPR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311896" y="3456432"/>
            <a:ext cx="3127248" cy="420624"/>
          </a:xfrm>
          <a:prstGeom prst="roundRect">
            <a:avLst>
              <a:gd name="adj" fmla="val 13043"/>
            </a:avLst>
          </a:prstGeom>
          <a:solidFill>
            <a:srgbClr val="16263F"/>
          </a:solidFill>
          <a:ln/>
        </p:spPr>
      </p:sp>
      <p:sp>
        <p:nvSpPr>
          <p:cNvPr id="23" name="Text 20"/>
          <p:cNvSpPr/>
          <p:nvPr/>
        </p:nvSpPr>
        <p:spPr>
          <a:xfrm>
            <a:off x="8311896" y="345643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balanced per group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encodes a different notion of 'fair' — the right one depends on the decision and its harms.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TRUTH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can't satisfy them all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most fairness metrics are mutually exclusive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they make conflicting mathematical demands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must choose which fairness to prioritise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let the context &amp; stakeholders decide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920240"/>
            <a:ext cx="5422392" cy="2560320"/>
          </a:xfrm>
          <a:prstGeom prst="roundRect">
            <a:avLst>
              <a:gd name="adj" fmla="val 357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to optimise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12280" y="2834640"/>
            <a:ext cx="914400" cy="914400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7" name="Text 14"/>
          <p:cNvSpPr/>
          <p:nvPr/>
        </p:nvSpPr>
        <p:spPr>
          <a:xfrm>
            <a:off x="6629400" y="28346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549640" y="2834640"/>
            <a:ext cx="914400" cy="914400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28346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287000" y="2834640"/>
            <a:ext cx="914400" cy="914400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1" name="Text 18"/>
          <p:cNvSpPr/>
          <p:nvPr/>
        </p:nvSpPr>
        <p:spPr>
          <a:xfrm>
            <a:off x="10104120" y="28346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4023360"/>
            <a:ext cx="5422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one usually breaks the others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andsh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UNFAIRNESS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Bias mitigation — three stages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84448" cy="269748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data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2724912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 / resample groups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biased features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 for balance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15968" y="1737360"/>
            <a:ext cx="3584448" cy="269748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4315968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4544568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44568" y="230428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training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681728" y="2724912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constraints in the loss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debiasing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 for parity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83296" y="1737360"/>
            <a:ext cx="3584448" cy="269748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8083296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11896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11896" y="230428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outputs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449056" y="2724912"/>
            <a:ext cx="2944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group-specific thresholds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per group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decisions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— and always re-measured, since mitigation can trade accuracy for fairness.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Opening the black box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model made a prediction — for trust, debugging and compliance.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Phase E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DECIDE THAT?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explainability?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model's predictions understandable to humans — the 'why' behind the output.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0449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accept what they understand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microscop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0449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spurious or leaky features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balsca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04495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bias in the reasoning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0604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8437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user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04495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7216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03250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'right to explanation' (e.g. GDPR)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accurate model nobody trusts or can audit may never make it into production.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Kinds of explanation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04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transparent by design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6700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models, shallow trees, rules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99632" y="17373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/>
          <p:nvPr/>
        </p:nvSpPr>
        <p:spPr>
          <a:xfrm>
            <a:off x="6473952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73952" y="2304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trained black box afterwards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73952" y="26700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 on any model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5021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C99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39044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behaves overall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42702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importance, PDP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99632" y="33375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19" name="Text 16"/>
          <p:cNvSpPr/>
          <p:nvPr/>
        </p:nvSpPr>
        <p:spPr>
          <a:xfrm>
            <a:off x="6473952" y="35021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73952" y="39044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 prediction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73952" y="42702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 for a single row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ort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OVERALL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Global feature importance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which features drive the model most?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built-in feature_importances_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permutation importance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importance ≠ causation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'ZIP code' mattering can be a fairness red flag (a proxy)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micr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EXPLAINABILITY TOOLBOX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SHAP, LIME &amp; more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methods for explaining individual predictions.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Phase E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icr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CREDIT TO EACH FEATURE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SHAP values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game theory — each feature's fair contribution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explains a single prediction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aggregate across rows for overall view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contributions sum to the prediction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loan was denied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3550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603236" y="2423160"/>
            <a:ext cx="176936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history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89620" y="2926080"/>
            <a:ext cx="98298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amount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782812" y="3429000"/>
            <a:ext cx="589788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account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372600" y="3931920"/>
            <a:ext cx="393192" cy="2743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4" name="Shape 21"/>
          <p:cNvSpPr/>
          <p:nvPr/>
        </p:nvSpPr>
        <p:spPr>
          <a:xfrm>
            <a:off x="9372600" y="2286000"/>
            <a:ext cx="0" cy="2331720"/>
          </a:xfrm>
          <a:prstGeom prst="line">
            <a:avLst/>
          </a:prstGeom>
          <a:noFill/>
          <a:ln w="19050">
            <a:solidFill>
              <a:srgbClr val="5C6B7A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0" y="45720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pushes toward denial · green toward approval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LOCAL STAND-IN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fit a simple model around one prediction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perturb the input, see how output changes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local feature weights you can read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treats the model as a black box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874520"/>
            <a:ext cx="5422392" cy="269748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surrogate around one point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0" y="2468880"/>
            <a:ext cx="4572000" cy="1737360"/>
          </a:xfrm>
          <a:prstGeom prst="chord">
            <a:avLst>
              <a:gd name="adj1" fmla="val 12000000"/>
              <a:gd name="adj2" fmla="val 1200000"/>
            </a:avLst>
          </a:prstGeom>
          <a:solidFill>
            <a:srgbClr val="2D6A9F">
              <a:alpha val="20000"/>
            </a:srgbClr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95360" y="320040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Shape 15"/>
          <p:cNvSpPr/>
          <p:nvPr/>
        </p:nvSpPr>
        <p:spPr>
          <a:xfrm>
            <a:off x="7955280" y="3657600"/>
            <a:ext cx="1463040" cy="-914400"/>
          </a:xfrm>
          <a:prstGeom prst="line">
            <a:avLst/>
          </a:prstGeom>
          <a:noFill/>
          <a:ln w="31750">
            <a:solidFill>
              <a:srgbClr val="F4B942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6217920" y="4206240"/>
            <a:ext cx="5422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line = simple local explanation of the red point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FEATURE MOVES THE OUTPUT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Partial dependence plots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average effect of a feature on predictions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reveals nonlinearity &amp; thresholds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line per row, not just the average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assumes feature independence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PDP: approval rate vs income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S-curve shows where income starts to matter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andsh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THE OUTCOME?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Counterfactual explanations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smallest change that flips the decision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tells a person what to do differently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'raise income by ₹40k → approved'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Human-friendly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model internals needed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2011680"/>
            <a:ext cx="5422392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23774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BEA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₹6L</a:t>
            </a:r>
            <a:endParaRPr lang="en-US" sz="950" dirty="0"/>
          </a:p>
        </p:txBody>
      </p:sp>
      <p:pic>
        <p:nvPicPr>
          <p:cNvPr id="18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697480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235440" y="23774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6F2EA"/>
          </a:solidFill>
          <a:ln w="15240">
            <a:solidFill>
              <a:srgbClr val="2E6B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3544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23544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₹6.4L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217920" y="361188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change that flips the decision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Responsible AI in practice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explainability as a workflow, not an afterthought.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Phase E  ·  04 / 22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RESPONSIBLE-AI WORKFLOW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it in from the start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303020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al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22494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58368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harms &amp; protected groups</a:t>
            </a:r>
            <a:endParaRPr lang="en-US" sz="83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69464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34640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3570732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microscop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24942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889504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2926080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bias early</a:t>
            </a:r>
            <a:endParaRPr lang="en-US" sz="83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569464"/>
            <a:ext cx="146304" cy="14630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02352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9" name="Shape 12"/>
          <p:cNvSpPr/>
          <p:nvPr/>
        </p:nvSpPr>
        <p:spPr>
          <a:xfrm>
            <a:off x="5838444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tren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5604" y="224942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57216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5193792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+ accuracy</a:t>
            </a:r>
            <a:endParaRPr lang="en-US" sz="83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569464"/>
            <a:ext cx="146304" cy="14630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70064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25" name="Shape 16"/>
          <p:cNvSpPr/>
          <p:nvPr/>
        </p:nvSpPr>
        <p:spPr>
          <a:xfrm>
            <a:off x="8106156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7" descr="ic_ey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316" y="2249424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24928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7461504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 checks</a:t>
            </a:r>
            <a:endParaRPr lang="en-US" sz="830" dirty="0"/>
          </a:p>
        </p:txBody>
      </p:sp>
      <p:pic>
        <p:nvPicPr>
          <p:cNvPr id="29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569464"/>
            <a:ext cx="146304" cy="14630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637776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373868" y="2112264"/>
            <a:ext cx="585216" cy="58521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9" descr="ic_usershield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2249424"/>
            <a:ext cx="310896" cy="31089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692640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34" name="Text 22"/>
          <p:cNvSpPr/>
          <p:nvPr/>
        </p:nvSpPr>
        <p:spPr>
          <a:xfrm>
            <a:off x="9729216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in production</a:t>
            </a:r>
            <a:endParaRPr lang="en-US" sz="830" dirty="0"/>
          </a:p>
        </p:txBody>
      </p:sp>
      <p:sp>
        <p:nvSpPr>
          <p:cNvPr id="35" name="Shape 23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36" name="Text 24"/>
          <p:cNvSpPr/>
          <p:nvPr/>
        </p:nvSpPr>
        <p:spPr>
          <a:xfrm>
            <a:off x="822960" y="3886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it in, don't bolt it on: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explainability are cheapest and most effective when considered from problem framing through monitoring.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icr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microscop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InterpretML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alsca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Fairlearn, AIF360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lip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cards, datasheets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user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boards, audits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the tools with human judgement — metrics inform decisions, they don't make them for you.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al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isn't one number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metric for the context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fing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 column isn't enough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still leak protected traits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can mislead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≠ the true mechanism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user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after launch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drifts as data shifts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all: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is a sociotechnical problem — tools help, but people and process make a model trustworthy.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enters via data &amp; framing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metrics conflict — choose one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pre / in / post-processing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explain predictions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responsibility in from the start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demographic parity on a model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metric across groups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SHAP values; read the top drivers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prediction with LIME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one bias-mitigation technique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 — Deep Learning foundations begin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&amp; representation learning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bal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affects people must be fair and explainable — measure both, mitigate deliberately, and keep humans in the loop.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 · Applied Fairness &amp; Explainability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2026-06-12T05:17:43Z</dcterms:created>
  <dcterms:modified xsi:type="dcterms:W3CDTF">2026-06-12T05:17:43Z</dcterms:modified>
</cp:coreProperties>
</file>