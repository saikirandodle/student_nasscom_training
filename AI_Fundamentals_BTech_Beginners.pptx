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8" r:id="rId7"/>
    <p:sldId id="289" r:id="rId8"/>
    <p:sldId id="291" r:id="rId9"/>
    <p:sldId id="292" r:id="rId10"/>
    <p:sldId id="293" r:id="rId11"/>
    <p:sldId id="290" r:id="rId12"/>
    <p:sldId id="261" r:id="rId13"/>
    <p:sldId id="262" r:id="rId14"/>
    <p:sldId id="295" r:id="rId15"/>
    <p:sldId id="296" r:id="rId16"/>
    <p:sldId id="298" r:id="rId17"/>
    <p:sldId id="299" r:id="rId18"/>
    <p:sldId id="263" r:id="rId19"/>
    <p:sldId id="264" r:id="rId20"/>
    <p:sldId id="265" r:id="rId21"/>
    <p:sldId id="300" r:id="rId22"/>
    <p:sldId id="301" r:id="rId23"/>
    <p:sldId id="302" r:id="rId24"/>
    <p:sldId id="266" r:id="rId25"/>
    <p:sldId id="303" r:id="rId26"/>
    <p:sldId id="304" r:id="rId27"/>
    <p:sldId id="268" r:id="rId28"/>
    <p:sldId id="305" r:id="rId29"/>
    <p:sldId id="269" r:id="rId30"/>
    <p:sldId id="306" r:id="rId31"/>
    <p:sldId id="307" r:id="rId32"/>
    <p:sldId id="270" r:id="rId33"/>
    <p:sldId id="271" r:id="rId34"/>
    <p:sldId id="272" r:id="rId35"/>
    <p:sldId id="308" r:id="rId36"/>
    <p:sldId id="273" r:id="rId37"/>
    <p:sldId id="274" r:id="rId38"/>
    <p:sldId id="275" r:id="rId39"/>
    <p:sldId id="276" r:id="rId40"/>
    <p:sldId id="310" r:id="rId41"/>
    <p:sldId id="311" r:id="rId42"/>
    <p:sldId id="312" r:id="rId43"/>
    <p:sldId id="277" r:id="rId44"/>
    <p:sldId id="278" r:id="rId45"/>
    <p:sldId id="313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4001" y="2514600"/>
            <a:ext cx="546495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Artificial Intelligence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From History to Generative and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3823" y="5659120"/>
            <a:ext cx="20623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EDCFF"/>
                </a:solidFill>
              </a:defRPr>
            </a:pPr>
            <a:r>
              <a:rPr lang="en-US" dirty="0"/>
              <a:t>D. Sai Kiran</a:t>
            </a:r>
          </a:p>
          <a:p>
            <a:pPr algn="ctr">
              <a:defRPr sz="2200">
                <a:solidFill>
                  <a:srgbClr val="BEDCFF"/>
                </a:solidFill>
              </a:defRPr>
            </a:pPr>
            <a:r>
              <a:rPr lang="en-US" dirty="0"/>
              <a:t>CSE Department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962640" cy="345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Understand the major milestones in the history of Artificial Intelligence.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Explain AI, Machine Learning and Deep Learning using simple real-world examples.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Identify the main types of Machine Learning: supervised, unsupervised and reinforcement learning.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Understand how neural networks and deep learning learn complex patterns.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Explain Generative AI, Large Language Models (LLMs), prompts and hallucinations.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Differentiate Generative AI from Agentic AI and understand the AI agent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rPr dirty="0"/>
              <a:t>Key takeaway: By the end of the class, you should be able to explain the complete relationship: AI → ML → Deep Learning → GenAI → Agentic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Class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792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508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8576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360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144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60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Generative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928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Agentic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A Brief History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0400" y="2103120"/>
            <a:ext cx="168351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rPr dirty="0"/>
              <a:t>1943–50</a:t>
            </a:r>
            <a:br>
              <a:rPr dirty="0"/>
            </a:br>
            <a:r>
              <a:rPr dirty="0"/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808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508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1956</a:t>
            </a:r>
            <a:br/>
            <a:r>
              <a:t>AI is named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592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1970s</a:t>
            </a:r>
            <a:br/>
            <a:r>
              <a:t>AI Winter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376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1980s</a:t>
            </a:r>
            <a:br/>
            <a:r>
              <a:t>Expert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160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60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1990s–2000s</a:t>
            </a:r>
            <a:br/>
            <a: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944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2010s+</a:t>
            </a:r>
            <a:br/>
            <a:r>
              <a:t>Deep &amp; GenAI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AI developed through cycles of optimism, setbacks, new computing power, better algorithms and larger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Important AI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02360"/>
            <a:ext cx="10698480" cy="4168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/>
              <a:t>Early Foundations – 1940s–1950s</a:t>
            </a:r>
          </a:p>
          <a:p>
            <a:pPr marL="342900" indent="-342900">
              <a:buAutoNum type="arabicPeriod"/>
            </a:pPr>
            <a:endParaRPr lang="en-IN" sz="2000" b="1" dirty="0"/>
          </a:p>
          <a:p>
            <a:pPr lvl="0" algn="just"/>
            <a:r>
              <a:rPr lang="en-IN" sz="2200" b="1" dirty="0"/>
              <a:t>1943:</a:t>
            </a:r>
            <a:r>
              <a:rPr lang="en-IN" sz="2200" dirty="0"/>
              <a:t> Warren McCulloch and Walter Pitts proposed a mathematical model of an artificial neuron.</a:t>
            </a:r>
          </a:p>
          <a:p>
            <a:pPr lvl="0" algn="just"/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1950:</a:t>
            </a:r>
            <a:r>
              <a:rPr lang="en-IN" sz="2200" dirty="0"/>
              <a:t> Alan Turing introduced the idea of testing machine intelligence through the </a:t>
            </a:r>
            <a:r>
              <a:rPr lang="en-IN" sz="2200" b="1" dirty="0"/>
              <a:t>Turing Test</a:t>
            </a:r>
            <a:r>
              <a:rPr lang="en-IN" sz="2200" dirty="0"/>
              <a:t> in his paper </a:t>
            </a:r>
            <a:r>
              <a:rPr lang="en-IN" sz="2200" i="1" dirty="0"/>
              <a:t>“Computing Machinery and Intelligence.”</a:t>
            </a:r>
            <a:r>
              <a:rPr lang="en-IN" sz="2200" dirty="0"/>
              <a:t> </a:t>
            </a:r>
          </a:p>
          <a:p>
            <a:pPr lvl="0" algn="just"/>
            <a:endParaRPr lang="en-IN" sz="2200" dirty="0"/>
          </a:p>
          <a:p>
            <a:pPr lvl="0" algn="just"/>
            <a:r>
              <a:rPr lang="en-IN" sz="2200" b="1" dirty="0"/>
              <a:t>1956:</a:t>
            </a:r>
            <a:r>
              <a:rPr lang="en-IN" sz="2200" dirty="0"/>
              <a:t> The term </a:t>
            </a:r>
            <a:r>
              <a:rPr lang="en-IN" sz="2200" b="1" dirty="0"/>
              <a:t>“Artificial Intelligence”</a:t>
            </a:r>
            <a:r>
              <a:rPr lang="en-IN" sz="2200" dirty="0"/>
              <a:t> was officially introduced at the </a:t>
            </a:r>
            <a:r>
              <a:rPr lang="en-IN" sz="2200" b="1" dirty="0"/>
              <a:t>Dartmouth Conference</a:t>
            </a:r>
            <a:r>
              <a:rPr lang="en-IN" sz="2200" dirty="0"/>
              <a:t>, organized by John McCarthy and other researchers. This period is generally considered the </a:t>
            </a:r>
            <a:r>
              <a:rPr lang="en-IN" sz="2200" b="1" dirty="0"/>
              <a:t>birth of AI as an academic field</a:t>
            </a:r>
            <a:r>
              <a:rPr lang="en-IN" sz="2200" dirty="0"/>
              <a:t>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F65F2-F8D3-2448-9D42-8DFCFBBBB9A7}"/>
              </a:ext>
            </a:extLst>
          </p:cNvPr>
          <p:cNvSpPr txBox="1"/>
          <p:nvPr/>
        </p:nvSpPr>
        <p:spPr>
          <a:xfrm>
            <a:off x="847898" y="457201"/>
            <a:ext cx="1055716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dirty="0"/>
              <a:t>The </a:t>
            </a:r>
            <a:r>
              <a:rPr lang="en-IN" b="1" dirty="0"/>
              <a:t>Turing Test</a:t>
            </a:r>
            <a:r>
              <a:rPr lang="en-IN" dirty="0"/>
              <a:t> is a method proposed by </a:t>
            </a:r>
            <a:r>
              <a:rPr lang="en-IN" b="1" dirty="0"/>
              <a:t>Alan Turing in 1950</a:t>
            </a:r>
            <a:r>
              <a:rPr lang="en-IN" dirty="0"/>
              <a:t> to determine whether a machine can demonstrate </a:t>
            </a:r>
            <a:r>
              <a:rPr lang="en-IN" b="1" dirty="0"/>
              <a:t>human-like intelligence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How does it work?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A human evaluator communicates with </a:t>
            </a:r>
            <a:r>
              <a:rPr lang="en-IN" b="1" dirty="0"/>
              <a:t>two participants</a:t>
            </a:r>
            <a:r>
              <a:rPr lang="en-IN" dirty="0"/>
              <a:t> through text: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👤 </a:t>
            </a:r>
            <a:r>
              <a:rPr lang="en-IN" b="1" dirty="0"/>
              <a:t>Human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🤖 </a:t>
            </a:r>
            <a:r>
              <a:rPr lang="en-IN" b="1" dirty="0"/>
              <a:t>Machine (AI)</a:t>
            </a:r>
            <a:r>
              <a:rPr lang="en-IN" dirty="0"/>
              <a:t> 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The evaluator does </a:t>
            </a:r>
            <a:r>
              <a:rPr lang="en-IN" b="1" dirty="0"/>
              <a:t>not know which participant is the machine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If the evaluator cannot reliably determine which one is the machine based on their conversations, the machine is considered to have </a:t>
            </a:r>
            <a:r>
              <a:rPr lang="en-IN" b="1" dirty="0"/>
              <a:t>passed the Turing Test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None/>
            </a:pPr>
            <a:endParaRPr lang="en-IN" dirty="0"/>
          </a:p>
          <a:p>
            <a:pPr>
              <a:lnSpc>
                <a:spcPct val="100000"/>
              </a:lnSpc>
              <a:buNone/>
            </a:pPr>
            <a:r>
              <a:rPr lang="en-IN" dirty="0"/>
              <a:t>Passing the Turing Test does </a:t>
            </a:r>
            <a:r>
              <a:rPr lang="en-IN" b="1" dirty="0"/>
              <a:t>not necessarily mean that a machine truly thinks or understands like a human</a:t>
            </a:r>
            <a:r>
              <a:rPr lang="en-IN" dirty="0"/>
              <a:t>. It mainly tests whether the machine can </a:t>
            </a:r>
            <a:r>
              <a:rPr lang="en-IN" b="1" dirty="0"/>
              <a:t>convincingly imitate human conversation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211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169A5-50E7-90FB-609E-065936247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97840"/>
            <a:ext cx="11145520" cy="592328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200" b="1" dirty="0"/>
              <a:t>Early AI Programs – 1950s–1960s</a:t>
            </a:r>
          </a:p>
          <a:p>
            <a:pPr algn="just">
              <a:lnSpc>
                <a:spcPct val="150000"/>
              </a:lnSpc>
            </a:pPr>
            <a:r>
              <a:rPr lang="en-IN" sz="2200" dirty="0"/>
              <a:t>Researchers developed programs that could solve mathematical problems and play games.</a:t>
            </a:r>
          </a:p>
          <a:p>
            <a:pPr lvl="0" algn="just">
              <a:lnSpc>
                <a:spcPct val="150000"/>
              </a:lnSpc>
            </a:pPr>
            <a:r>
              <a:rPr lang="en-IN" sz="2200" b="1" dirty="0"/>
              <a:t>1956–1957:</a:t>
            </a:r>
            <a:r>
              <a:rPr lang="en-IN" sz="2200" dirty="0"/>
              <a:t> Logic-based AI programs were developed. </a:t>
            </a:r>
          </a:p>
          <a:p>
            <a:pPr lvl="0" algn="just">
              <a:lnSpc>
                <a:spcPct val="150000"/>
              </a:lnSpc>
            </a:pPr>
            <a:r>
              <a:rPr lang="en-IN" sz="2200" b="1" dirty="0"/>
              <a:t>1957:</a:t>
            </a:r>
            <a:r>
              <a:rPr lang="en-IN" sz="2200" dirty="0"/>
              <a:t> Frank Rosenblatt developed the </a:t>
            </a:r>
            <a:r>
              <a:rPr lang="en-IN" sz="2200" b="1" dirty="0"/>
              <a:t>Perceptron</a:t>
            </a:r>
            <a:r>
              <a:rPr lang="en-IN" sz="2200" dirty="0"/>
              <a:t>, an early neural-network model. 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/>
              <a:t>AI research focused heavily on </a:t>
            </a:r>
            <a:r>
              <a:rPr lang="en-IN" sz="2200" b="1" dirty="0"/>
              <a:t>symbolic reasoning, logic, and problem solving</a:t>
            </a:r>
            <a:r>
              <a:rPr lang="en-IN" sz="2200" dirty="0"/>
              <a:t>.</a:t>
            </a:r>
          </a:p>
          <a:p>
            <a:pPr algn="just"/>
            <a:endParaRPr lang="en-IN" sz="2200" dirty="0"/>
          </a:p>
          <a:p>
            <a:pPr marL="0" indent="0" algn="just">
              <a:buNone/>
            </a:pPr>
            <a:r>
              <a:rPr lang="en-IN" sz="2200" b="1" dirty="0"/>
              <a:t>First AI Boom – 1960s–1970s</a:t>
            </a:r>
          </a:p>
          <a:p>
            <a:pPr algn="just">
              <a:lnSpc>
                <a:spcPct val="150000"/>
              </a:lnSpc>
            </a:pPr>
            <a:r>
              <a:rPr lang="en-IN" sz="2200" dirty="0"/>
              <a:t>AI systems became more sophisticated.</a:t>
            </a:r>
          </a:p>
          <a:p>
            <a:pPr lvl="0" algn="just">
              <a:lnSpc>
                <a:spcPct val="150000"/>
              </a:lnSpc>
            </a:pPr>
            <a:r>
              <a:rPr lang="en-IN" sz="2200" b="1" dirty="0"/>
              <a:t>ELIZA (1966):</a:t>
            </a:r>
            <a:r>
              <a:rPr lang="en-IN" sz="2200" dirty="0"/>
              <a:t> Developed by Joseph </a:t>
            </a:r>
            <a:r>
              <a:rPr lang="en-IN" sz="2200" dirty="0" err="1"/>
              <a:t>Weizenbaum</a:t>
            </a:r>
            <a:r>
              <a:rPr lang="en-IN" sz="2200" dirty="0"/>
              <a:t>, it simulated a conversation with humans. </a:t>
            </a:r>
          </a:p>
          <a:p>
            <a:pPr lvl="0" algn="just">
              <a:lnSpc>
                <a:spcPct val="150000"/>
              </a:lnSpc>
            </a:pPr>
            <a:r>
              <a:rPr lang="en-IN" sz="2200" b="1" dirty="0"/>
              <a:t>Shakey the Robot:</a:t>
            </a:r>
            <a:r>
              <a:rPr lang="en-IN" sz="2200" dirty="0"/>
              <a:t> One of the first robots capable of reasoning about its actions and environment. 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/>
              <a:t>Researchers explored natural language processing, robotics, and expert systems.</a:t>
            </a:r>
          </a:p>
          <a:p>
            <a:pPr marL="0" indent="0" algn="just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181618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7CF1-0421-8DA1-B40C-D97E6FDF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6E0F84-E66C-5A91-7BA8-5B9F9E9F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6560"/>
            <a:ext cx="11145520" cy="62280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b="1" dirty="0"/>
              <a:t>AI Winter – 1970s–1980s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200" dirty="0"/>
              <a:t>AI progress slowed because:</a:t>
            </a:r>
          </a:p>
          <a:p>
            <a:pPr lvl="0">
              <a:lnSpc>
                <a:spcPct val="110000"/>
              </a:lnSpc>
            </a:pPr>
            <a:r>
              <a:rPr lang="en-IN" sz="2200" dirty="0"/>
              <a:t>Computers had limited processing power. </a:t>
            </a:r>
          </a:p>
          <a:p>
            <a:pPr lvl="0">
              <a:lnSpc>
                <a:spcPct val="110000"/>
              </a:lnSpc>
            </a:pPr>
            <a:r>
              <a:rPr lang="en-IN" sz="2200" dirty="0"/>
              <a:t>Available data was insufficient. </a:t>
            </a:r>
          </a:p>
          <a:p>
            <a:pPr lvl="0">
              <a:lnSpc>
                <a:spcPct val="110000"/>
              </a:lnSpc>
            </a:pPr>
            <a:r>
              <a:rPr lang="en-IN" sz="2200" dirty="0"/>
              <a:t>AI systems were expensive and difficult to maintain. </a:t>
            </a:r>
          </a:p>
          <a:p>
            <a:pPr lvl="0">
              <a:lnSpc>
                <a:spcPct val="110000"/>
              </a:lnSpc>
            </a:pPr>
            <a:r>
              <a:rPr lang="en-IN" sz="2200" dirty="0"/>
              <a:t>Many ambitious AI predictions were not achieved. </a:t>
            </a:r>
          </a:p>
          <a:p>
            <a:pPr>
              <a:lnSpc>
                <a:spcPct val="110000"/>
              </a:lnSpc>
            </a:pPr>
            <a:r>
              <a:rPr lang="en-IN" sz="2200" dirty="0"/>
              <a:t>This period is known as the </a:t>
            </a:r>
            <a:r>
              <a:rPr lang="en-IN" sz="2200" b="1" dirty="0"/>
              <a:t>AI Winter</a:t>
            </a:r>
            <a:r>
              <a:rPr lang="en-IN" sz="2200" dirty="0"/>
              <a:t>, when funding and interest in AI declined.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400" b="1" dirty="0"/>
              <a:t>Expert Systems – 1980s</a:t>
            </a:r>
          </a:p>
          <a:p>
            <a:r>
              <a:rPr lang="en-IN" sz="2400" dirty="0"/>
              <a:t>AI became popular again through </a:t>
            </a:r>
            <a:r>
              <a:rPr lang="en-IN" sz="2400" b="1" dirty="0"/>
              <a:t>expert systems</a:t>
            </a:r>
            <a:r>
              <a:rPr lang="en-IN" sz="2400" dirty="0"/>
              <a:t>.</a:t>
            </a:r>
          </a:p>
          <a:p>
            <a:r>
              <a:rPr lang="en-IN" sz="2400" dirty="0"/>
              <a:t>Expert systems used a collection of rules and knowledge from human experts to make decisions.</a:t>
            </a:r>
          </a:p>
          <a:p>
            <a:r>
              <a:rPr lang="en-IN" sz="2400" dirty="0"/>
              <a:t>Examples:</a:t>
            </a:r>
          </a:p>
          <a:p>
            <a:pPr lvl="0"/>
            <a:r>
              <a:rPr lang="en-IN" sz="2400" b="1" dirty="0"/>
              <a:t>MYCIN:</a:t>
            </a:r>
            <a:r>
              <a:rPr lang="en-IN" sz="2400" dirty="0"/>
              <a:t> Medical diagnosis. </a:t>
            </a:r>
          </a:p>
          <a:p>
            <a:pPr lvl="0"/>
            <a:r>
              <a:rPr lang="en-IN" sz="2400" b="1" dirty="0"/>
              <a:t>XCON:</a:t>
            </a:r>
            <a:r>
              <a:rPr lang="en-IN" sz="2400" dirty="0"/>
              <a:t> Configuration of computer systems.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19867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2872-E606-5279-9695-67B98399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579EB8-2769-9314-D71D-97EAD6298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5120"/>
            <a:ext cx="11145520" cy="62890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/>
              <a:t>Second AI Winter – Late 1980s–1990s</a:t>
            </a:r>
          </a:p>
          <a:p>
            <a:pPr algn="just"/>
            <a:r>
              <a:rPr lang="en-IN" sz="2000" dirty="0"/>
              <a:t>Expert systems proved expensive to maintain and difficult to scale. As a result, AI investment again declined.</a:t>
            </a:r>
          </a:p>
          <a:p>
            <a:pPr algn="just"/>
            <a:r>
              <a:rPr lang="en-IN" sz="2000" dirty="0"/>
              <a:t>However, important developments in </a:t>
            </a:r>
            <a:r>
              <a:rPr lang="en-IN" sz="2000" b="1" dirty="0"/>
              <a:t>machine learning, neural networks, and statistical methods</a:t>
            </a:r>
            <a:r>
              <a:rPr lang="en-IN" sz="2000" dirty="0"/>
              <a:t> continued.</a:t>
            </a:r>
          </a:p>
          <a:p>
            <a:pPr marL="0" indent="0" algn="just">
              <a:buNone/>
            </a:pPr>
            <a:endParaRPr lang="en-IN" sz="2000" b="1" dirty="0"/>
          </a:p>
          <a:p>
            <a:pPr marL="0" indent="0" algn="just">
              <a:buNone/>
            </a:pPr>
            <a:r>
              <a:rPr lang="en-IN" sz="2000" b="1" dirty="0"/>
              <a:t>Machine Learning Era – 1990s–2000s</a:t>
            </a:r>
          </a:p>
          <a:p>
            <a:pPr marL="0" indent="0" algn="just">
              <a:buNone/>
            </a:pPr>
            <a:r>
              <a:rPr lang="en-IN" sz="2000" dirty="0"/>
              <a:t>AI shifted from manually programmed rules toward </a:t>
            </a:r>
            <a:r>
              <a:rPr lang="en-IN" sz="2000" b="1" dirty="0"/>
              <a:t>learning from data</a:t>
            </a:r>
            <a:r>
              <a:rPr lang="en-IN" sz="2000" dirty="0"/>
              <a:t>.</a:t>
            </a: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r>
              <a:rPr lang="en-IN" sz="2000" dirty="0"/>
              <a:t>Important developments included:</a:t>
            </a:r>
          </a:p>
          <a:p>
            <a:pPr lvl="0" algn="just"/>
            <a:r>
              <a:rPr lang="en-IN" sz="2000" dirty="0"/>
              <a:t>Decision trees </a:t>
            </a:r>
          </a:p>
          <a:p>
            <a:pPr lvl="0" algn="just"/>
            <a:r>
              <a:rPr lang="en-IN" sz="2000" dirty="0"/>
              <a:t>Support Vector Machines (SVM) </a:t>
            </a:r>
          </a:p>
          <a:p>
            <a:pPr lvl="0" algn="just"/>
            <a:r>
              <a:rPr lang="en-IN" sz="2000" dirty="0"/>
              <a:t>Bayesian networks </a:t>
            </a:r>
          </a:p>
          <a:p>
            <a:pPr lvl="0" algn="just"/>
            <a:r>
              <a:rPr lang="en-IN" sz="2000" dirty="0"/>
              <a:t>Neural networks </a:t>
            </a:r>
          </a:p>
          <a:p>
            <a:pPr lvl="0" algn="just"/>
            <a:r>
              <a:rPr lang="en-IN" sz="2000" dirty="0"/>
              <a:t>Reinforcement learning </a:t>
            </a:r>
          </a:p>
          <a:p>
            <a:pPr algn="just"/>
            <a:r>
              <a:rPr lang="en-IN" sz="2000" b="1" dirty="0"/>
              <a:t>1997:</a:t>
            </a:r>
            <a:r>
              <a:rPr lang="en-IN" sz="2000" dirty="0"/>
              <a:t> IBM's </a:t>
            </a:r>
            <a:r>
              <a:rPr lang="en-IN" sz="2000" b="1" dirty="0"/>
              <a:t>Deep Blue</a:t>
            </a:r>
            <a:r>
              <a:rPr lang="en-IN" sz="2000" dirty="0"/>
              <a:t> defeated world chess champion Garry Kasparov, demonstrating the power of specialized AI systems.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1340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1970-3873-ED5D-48D2-D4B66E1A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C34DD9-A1D0-8856-EC02-9947FC117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3680"/>
            <a:ext cx="11145520" cy="6492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Deep Learning Revolution – 2010s</a:t>
            </a:r>
          </a:p>
          <a:p>
            <a:r>
              <a:rPr lang="en-IN" sz="2000" dirty="0"/>
              <a:t>The availability of </a:t>
            </a:r>
            <a:r>
              <a:rPr lang="en-IN" sz="2000" b="1" dirty="0"/>
              <a:t>large datasets, powerful GPUs, and improved neural-network algorithms</a:t>
            </a:r>
            <a:r>
              <a:rPr lang="en-IN" sz="2000" dirty="0"/>
              <a:t> led to rapid progress.</a:t>
            </a:r>
          </a:p>
          <a:p>
            <a:pPr lvl="0"/>
            <a:r>
              <a:rPr lang="en-IN" sz="2000" b="1" dirty="0"/>
              <a:t>2012:</a:t>
            </a:r>
            <a:r>
              <a:rPr lang="en-IN" sz="2000" dirty="0"/>
              <a:t> </a:t>
            </a:r>
            <a:r>
              <a:rPr lang="en-IN" sz="2000" dirty="0" err="1"/>
              <a:t>AlexNet</a:t>
            </a:r>
            <a:r>
              <a:rPr lang="en-IN" sz="2000" dirty="0"/>
              <a:t> achieved a major breakthrough in image recognition. </a:t>
            </a:r>
          </a:p>
          <a:p>
            <a:pPr lvl="0"/>
            <a:r>
              <a:rPr lang="en-IN" sz="2000" b="1" dirty="0"/>
              <a:t>2016:</a:t>
            </a:r>
            <a:r>
              <a:rPr lang="en-IN" sz="2000" dirty="0"/>
              <a:t> Google's </a:t>
            </a:r>
            <a:r>
              <a:rPr lang="en-IN" sz="2000" b="1" dirty="0"/>
              <a:t>AlphaGo</a:t>
            </a:r>
            <a:r>
              <a:rPr lang="en-IN" sz="2000" dirty="0"/>
              <a:t> defeated Go champion Lee Sedol. </a:t>
            </a:r>
          </a:p>
          <a:p>
            <a:pPr lvl="0"/>
            <a:r>
              <a:rPr lang="en-IN" sz="2000" dirty="0"/>
              <a:t>Speech recognition, computer vision, recommendation systems, and autonomous vehicles improved significantly.</a:t>
            </a:r>
          </a:p>
          <a:p>
            <a:pPr lvl="0"/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Generative AI – 2020s</a:t>
            </a:r>
          </a:p>
          <a:p>
            <a:r>
              <a:rPr lang="en-IN" sz="2000" dirty="0"/>
              <a:t>AI moved beyond prediction and classification toward </a:t>
            </a:r>
            <a:r>
              <a:rPr lang="en-IN" sz="2000" b="1" dirty="0"/>
              <a:t>generating new content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r>
              <a:rPr lang="en-IN" sz="2000" dirty="0"/>
              <a:t>Examples include:</a:t>
            </a:r>
          </a:p>
          <a:p>
            <a:pPr lvl="0"/>
            <a:r>
              <a:rPr lang="en-IN" sz="2000" dirty="0"/>
              <a:t>Text generation </a:t>
            </a:r>
          </a:p>
          <a:p>
            <a:pPr lvl="0"/>
            <a:r>
              <a:rPr lang="en-IN" sz="2000" dirty="0"/>
              <a:t>Image generation </a:t>
            </a:r>
          </a:p>
          <a:p>
            <a:pPr lvl="0"/>
            <a:r>
              <a:rPr lang="en-IN" sz="2000" dirty="0"/>
              <a:t>Code generation </a:t>
            </a:r>
          </a:p>
          <a:p>
            <a:pPr lvl="0"/>
            <a:r>
              <a:rPr lang="en-IN" sz="2000" dirty="0"/>
              <a:t>Music and audio generation </a:t>
            </a:r>
          </a:p>
          <a:p>
            <a:pPr lvl="0"/>
            <a:r>
              <a:rPr lang="en-IN" sz="2000" dirty="0"/>
              <a:t>Video generation </a:t>
            </a:r>
          </a:p>
          <a:p>
            <a:r>
              <a:rPr lang="en-IN" sz="2000" dirty="0"/>
              <a:t>Large Language Models (</a:t>
            </a:r>
            <a:r>
              <a:rPr lang="en-IN" sz="2000" b="1" dirty="0"/>
              <a:t>LLMs</a:t>
            </a:r>
            <a:r>
              <a:rPr lang="en-IN" sz="2000" dirty="0"/>
              <a:t>) such as GPT-based models demonstrated powerful capabilities in natural language understanding and generation.</a:t>
            </a:r>
          </a:p>
          <a:p>
            <a:pPr lvl="0"/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1856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2E20-C003-2AFF-BCB8-DD0F0F2A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975AA1-2E94-178E-2491-8CC3011C2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58800"/>
            <a:ext cx="11145520" cy="55673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200" b="1" dirty="0"/>
              <a:t>Modern AI – 2025–2026</a:t>
            </a:r>
          </a:p>
          <a:p>
            <a:pPr marL="0" indent="0" algn="just">
              <a:buNone/>
            </a:pPr>
            <a:endParaRPr lang="en-IN" sz="2200" b="1" dirty="0"/>
          </a:p>
          <a:p>
            <a:pPr marL="0" indent="0" algn="just">
              <a:buNone/>
            </a:pPr>
            <a:r>
              <a:rPr lang="en-IN" sz="2200" dirty="0"/>
              <a:t>Modern AI increasingly combines:</a:t>
            </a:r>
          </a:p>
          <a:p>
            <a:pPr lvl="0" algn="just"/>
            <a:r>
              <a:rPr lang="en-IN" sz="2200" b="1" dirty="0"/>
              <a:t>Generative AI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Large Language Models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Multimodal AI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AI agents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Computer vision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Robotics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Reasoning systems</a:t>
            </a:r>
            <a:r>
              <a:rPr lang="en-IN" sz="2200" dirty="0"/>
              <a:t> </a:t>
            </a:r>
          </a:p>
          <a:p>
            <a:pPr lvl="0" algn="just"/>
            <a:r>
              <a:rPr lang="en-IN" sz="2200" b="1" dirty="0"/>
              <a:t>AI-assisted software development</a:t>
            </a:r>
            <a:r>
              <a:rPr lang="en-IN" sz="2200" dirty="0"/>
              <a:t> </a:t>
            </a:r>
          </a:p>
          <a:p>
            <a:pPr lvl="0" algn="just"/>
            <a:endParaRPr lang="en-IN" sz="2200" dirty="0"/>
          </a:p>
          <a:p>
            <a:pPr algn="just"/>
            <a:r>
              <a:rPr lang="en-IN" sz="2200" dirty="0"/>
              <a:t>AI is now being applied in education, healthcare, finance, cybersecurity, manufacturing, transportation, scientific research, and many other fields.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54622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is Artificial Intelligence (AI)?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/>
              <a:t>What is AI?</a:t>
            </a:r>
          </a:p>
          <a:p>
            <a:pPr algn="just"/>
            <a:r>
              <a:rPr lang="en-IN" sz="2200" dirty="0"/>
              <a:t>Artificial Intelligence is the broader field of computer science that aims to make machines perform tasks that normally require human intelligence.</a:t>
            </a:r>
          </a:p>
          <a:p>
            <a:pPr algn="just"/>
            <a:endParaRPr lang="en-IN" sz="2200" b="1" dirty="0"/>
          </a:p>
          <a:p>
            <a:pPr algn="just"/>
            <a:r>
              <a:rPr lang="en-IN" sz="2200" dirty="0"/>
              <a:t>Human intelligence includes:</a:t>
            </a:r>
          </a:p>
          <a:p>
            <a:pPr lvl="0" algn="just"/>
            <a:r>
              <a:rPr lang="en-IN" sz="2200" dirty="0"/>
              <a:t>👁️ Seeing and recognizing objects </a:t>
            </a:r>
          </a:p>
          <a:p>
            <a:pPr lvl="0" algn="just"/>
            <a:r>
              <a:rPr lang="en-IN" sz="2200" dirty="0"/>
              <a:t>👂 Understanding speech </a:t>
            </a:r>
          </a:p>
          <a:p>
            <a:pPr lvl="0" algn="just"/>
            <a:r>
              <a:rPr lang="en-IN" sz="2200" dirty="0"/>
              <a:t>🧠 Reasoning and problem-solving </a:t>
            </a:r>
          </a:p>
          <a:p>
            <a:pPr lvl="0" algn="just"/>
            <a:r>
              <a:rPr lang="en-IN" sz="2200" dirty="0"/>
              <a:t>📚 Learning from experience </a:t>
            </a:r>
          </a:p>
          <a:p>
            <a:pPr lvl="0" algn="just"/>
            <a:r>
              <a:rPr lang="en-IN" sz="2200" dirty="0"/>
              <a:t>🗣️ Understanding language </a:t>
            </a:r>
          </a:p>
          <a:p>
            <a:pPr lvl="0" algn="just"/>
            <a:r>
              <a:rPr lang="en-IN" sz="2200" dirty="0"/>
              <a:t>🎯 Making decisions </a:t>
            </a:r>
          </a:p>
          <a:p>
            <a:pPr lvl="0" algn="just"/>
            <a:r>
              <a:rPr lang="en-IN" sz="2200" dirty="0"/>
              <a:t>🗺️ Planning actions </a:t>
            </a:r>
          </a:p>
          <a:p>
            <a:pPr lvl="0" algn="just"/>
            <a:endParaRPr lang="en-IN" sz="2200" dirty="0"/>
          </a:p>
          <a:p>
            <a:pPr algn="just"/>
            <a:r>
              <a:rPr lang="en-IN" sz="2200" dirty="0"/>
              <a:t>AI tries to give computers some of these capabilities.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187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rPr dirty="0"/>
              <a:t>Key takeaway: AI = making a machine perform an intelligent task.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AI Examples Around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045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Google Maps</a:t>
            </a:r>
            <a:r>
              <a:rPr dirty="0"/>
              <a:t>: predicts traffic and finds efficient routes.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Face recognition</a:t>
            </a:r>
            <a:r>
              <a:rPr dirty="0"/>
              <a:t>: identifies faces in images.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Spam filtering</a:t>
            </a:r>
            <a:r>
              <a:rPr dirty="0"/>
              <a:t>: decides whether an email is spam.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Chess programs</a:t>
            </a:r>
            <a:r>
              <a:rPr dirty="0"/>
              <a:t>: evaluate moves and choose actions.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Voice assistants</a:t>
            </a:r>
            <a:r>
              <a:rPr dirty="0"/>
              <a:t>: understand speech and respond.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Recommendation systems</a:t>
            </a:r>
            <a:r>
              <a:rPr dirty="0"/>
              <a:t>: suggest movies, music or products.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Chatbots</a:t>
            </a:r>
            <a:r>
              <a:rPr dirty="0"/>
              <a:t>: understand user requests and generate responses.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15B5-F39C-F452-96D7-3C53159B5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11064240" cy="58213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200" b="1" dirty="0"/>
              <a:t>Example 1: Google Maps</a:t>
            </a:r>
          </a:p>
          <a:p>
            <a:pPr marL="0" indent="0" algn="just">
              <a:buNone/>
            </a:pPr>
            <a:endParaRPr lang="en-IN" sz="2200" dirty="0"/>
          </a:p>
          <a:p>
            <a:pPr marL="0" indent="0" algn="just">
              <a:buNone/>
            </a:pPr>
            <a:r>
              <a:rPr lang="en-IN" sz="2200" dirty="0"/>
              <a:t>Suppose you want to travel from </a:t>
            </a:r>
            <a:r>
              <a:rPr lang="en-IN" sz="2200" b="1" dirty="0"/>
              <a:t>Hyderabad to Vijayawada</a:t>
            </a:r>
            <a:r>
              <a:rPr lang="en-IN" sz="2200" dirty="0"/>
              <a:t>.</a:t>
            </a:r>
          </a:p>
          <a:p>
            <a:pPr marL="0" indent="0" algn="just">
              <a:buNone/>
            </a:pPr>
            <a:endParaRPr lang="en-IN" sz="2200" dirty="0"/>
          </a:p>
          <a:p>
            <a:pPr marL="0" indent="0" algn="just">
              <a:buNone/>
            </a:pPr>
            <a:r>
              <a:rPr lang="en-IN" sz="2200" dirty="0"/>
              <a:t>Google Maps can:</a:t>
            </a:r>
          </a:p>
          <a:p>
            <a:pPr lvl="0" algn="just"/>
            <a:r>
              <a:rPr lang="en-IN" sz="2200" dirty="0"/>
              <a:t>Identify your current location. </a:t>
            </a:r>
          </a:p>
          <a:p>
            <a:pPr lvl="0" algn="just"/>
            <a:r>
              <a:rPr lang="en-IN" sz="2200" dirty="0"/>
              <a:t>Find possible roads. </a:t>
            </a:r>
          </a:p>
          <a:p>
            <a:pPr lvl="0" algn="just"/>
            <a:r>
              <a:rPr lang="en-IN" sz="2200" dirty="0"/>
              <a:t>Calculate distances. </a:t>
            </a:r>
          </a:p>
          <a:p>
            <a:pPr lvl="0" algn="just"/>
            <a:r>
              <a:rPr lang="en-IN" sz="2200" dirty="0"/>
              <a:t>Estimate travel time. </a:t>
            </a:r>
          </a:p>
          <a:p>
            <a:pPr lvl="0" algn="just"/>
            <a:r>
              <a:rPr lang="en-IN" sz="2200" dirty="0"/>
              <a:t>Consider traffic. </a:t>
            </a:r>
          </a:p>
          <a:p>
            <a:pPr lvl="0" algn="just"/>
            <a:r>
              <a:rPr lang="en-IN" sz="2200" dirty="0"/>
              <a:t>Suggest the best route. </a:t>
            </a:r>
          </a:p>
          <a:p>
            <a:pPr lvl="0" algn="just"/>
            <a:r>
              <a:rPr lang="en-IN" sz="2200" dirty="0"/>
              <a:t>Recalculate the route if there is a traffic jam. </a:t>
            </a:r>
          </a:p>
          <a:p>
            <a:pPr lvl="0" algn="just"/>
            <a:endParaRPr lang="en-IN" sz="2200" dirty="0"/>
          </a:p>
          <a:p>
            <a:pPr algn="just"/>
            <a:r>
              <a:rPr lang="en-IN" sz="2200" dirty="0"/>
              <a:t>This involves several AI techniques for </a:t>
            </a:r>
            <a:r>
              <a:rPr lang="en-IN" sz="2200" b="1" dirty="0"/>
              <a:t>search, prediction, decision-making, and optimization</a:t>
            </a:r>
            <a:r>
              <a:rPr lang="en-IN" sz="2200" dirty="0"/>
              <a:t>.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823526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4802-3809-BC63-3478-1FF0DA1C6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3F3D-1DED-B003-7E79-27A5272A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1106424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Example 2: Chess AI</a:t>
            </a:r>
          </a:p>
          <a:p>
            <a:endParaRPr lang="en-IN" sz="2200" b="1" dirty="0"/>
          </a:p>
          <a:p>
            <a:pPr marL="0" indent="0">
              <a:buNone/>
            </a:pPr>
            <a:r>
              <a:rPr lang="en-IN" sz="2200" dirty="0"/>
              <a:t>A chess-playing AI:</a:t>
            </a:r>
          </a:p>
          <a:p>
            <a:pPr lvl="0"/>
            <a:r>
              <a:rPr lang="en-IN" sz="2200" dirty="0"/>
              <a:t>Looks at the current board. </a:t>
            </a:r>
          </a:p>
          <a:p>
            <a:pPr lvl="0"/>
            <a:r>
              <a:rPr lang="en-IN" sz="2200" dirty="0"/>
              <a:t>Identifies possible moves. </a:t>
            </a:r>
          </a:p>
          <a:p>
            <a:pPr lvl="0"/>
            <a:r>
              <a:rPr lang="en-IN" sz="2200" dirty="0"/>
              <a:t>Predicts possible responses. </a:t>
            </a:r>
          </a:p>
          <a:p>
            <a:pPr lvl="0"/>
            <a:r>
              <a:rPr lang="en-IN" sz="2200" dirty="0"/>
              <a:t>Evaluates different positions. </a:t>
            </a:r>
          </a:p>
          <a:p>
            <a:pPr lvl="0"/>
            <a:r>
              <a:rPr lang="en-IN" sz="2200" dirty="0"/>
              <a:t>Selects a good move. </a:t>
            </a:r>
          </a:p>
          <a:p>
            <a:pPr lvl="0"/>
            <a:endParaRPr lang="en-IN" sz="2200" dirty="0"/>
          </a:p>
          <a:p>
            <a:r>
              <a:rPr lang="en-IN" sz="2200" dirty="0"/>
              <a:t>The machine is performing a task that traditionally requires </a:t>
            </a:r>
            <a:r>
              <a:rPr lang="en-IN" sz="2200" b="1" dirty="0"/>
              <a:t>human reasoning and decision-making</a:t>
            </a:r>
            <a:r>
              <a:rPr lang="en-IN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398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CB26-7D1E-9C7B-0C00-84BB7CD7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649B-6EE0-931A-6FCA-694CAD96D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1106424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Example 3: ChatGPT</a:t>
            </a:r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dirty="0"/>
              <a:t>When you ask: "Explain cloud computing to me.“</a:t>
            </a:r>
          </a:p>
          <a:p>
            <a:pPr marL="0" indent="0">
              <a:buNone/>
            </a:pPr>
            <a:endParaRPr lang="en-IN" sz="2200" dirty="0"/>
          </a:p>
          <a:p>
            <a:r>
              <a:rPr lang="en-IN" sz="2200" dirty="0"/>
              <a:t>An AI language model can:</a:t>
            </a:r>
          </a:p>
          <a:p>
            <a:pPr lvl="0"/>
            <a:r>
              <a:rPr lang="en-IN" sz="2200" dirty="0"/>
              <a:t>Understand your question. </a:t>
            </a:r>
          </a:p>
          <a:p>
            <a:pPr lvl="0"/>
            <a:r>
              <a:rPr lang="en-IN" sz="2200" dirty="0"/>
              <a:t>Identify the topic. </a:t>
            </a:r>
          </a:p>
          <a:p>
            <a:pPr lvl="0"/>
            <a:r>
              <a:rPr lang="en-IN" sz="2200" dirty="0"/>
              <a:t>Generate an appropriate explanation. </a:t>
            </a:r>
          </a:p>
          <a:p>
            <a:pPr lvl="0"/>
            <a:r>
              <a:rPr lang="en-IN" sz="2200" dirty="0"/>
              <a:t>Adjust the explanation based on your level of understanding. </a:t>
            </a:r>
          </a:p>
          <a:p>
            <a:pPr lvl="0"/>
            <a:endParaRPr lang="en-IN" sz="2200" dirty="0"/>
          </a:p>
          <a:p>
            <a:r>
              <a:rPr lang="en-IN" sz="2200" dirty="0"/>
              <a:t>This is an example of </a:t>
            </a:r>
            <a:r>
              <a:rPr lang="en-IN" sz="2200" b="1" dirty="0"/>
              <a:t>AI applied to natural language</a:t>
            </a:r>
            <a:r>
              <a:rPr lang="en-IN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031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A221-8CCA-B28A-6620-D72D9028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01DD-2058-AF16-9160-3E20F06B5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1106424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Main types of AI: </a:t>
            </a:r>
            <a:r>
              <a:rPr lang="en-IN" sz="2200" dirty="0"/>
              <a:t>AI is often discussed in terms of capability:</a:t>
            </a:r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b="1" dirty="0"/>
              <a:t>Narrow AI (Weak AI)</a:t>
            </a:r>
            <a:br>
              <a:rPr lang="en-IN" sz="2200" dirty="0"/>
            </a:br>
            <a:r>
              <a:rPr lang="en-IN" sz="2200" dirty="0"/>
              <a:t>Designed for a particular task.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dirty="0"/>
              <a:t>Examples:</a:t>
            </a:r>
          </a:p>
          <a:p>
            <a:pPr lvl="0"/>
            <a:r>
              <a:rPr lang="en-IN" sz="2200" dirty="0"/>
              <a:t>Face recognition </a:t>
            </a:r>
          </a:p>
          <a:p>
            <a:pPr lvl="0"/>
            <a:r>
              <a:rPr lang="en-IN" sz="2200" dirty="0"/>
              <a:t>Spam detection </a:t>
            </a:r>
          </a:p>
          <a:p>
            <a:pPr lvl="0"/>
            <a:r>
              <a:rPr lang="en-IN" sz="2200" dirty="0"/>
              <a:t>Google Maps </a:t>
            </a:r>
          </a:p>
          <a:p>
            <a:pPr lvl="0"/>
            <a:r>
              <a:rPr lang="en-IN" sz="2200" dirty="0"/>
              <a:t>Recommendation systems </a:t>
            </a:r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b="1" dirty="0"/>
              <a:t>General AI (AGI)</a:t>
            </a:r>
            <a:br>
              <a:rPr lang="en-IN" sz="2200" dirty="0"/>
            </a:br>
            <a:r>
              <a:rPr lang="en-IN" sz="2200" dirty="0"/>
              <a:t>A hypothetical AI that could perform a very broad range of intellectual tasks at human-like capability. </a:t>
            </a:r>
            <a:r>
              <a:rPr lang="en-IN" sz="2200" b="1" dirty="0"/>
              <a:t>It has not been achieved.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1747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The Big Relationship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Artificial</a:t>
            </a:r>
            <a:br/>
            <a: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1336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Machine</a:t>
            </a:r>
            <a:br/>
            <a:r>
              <a:t>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2744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5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Deep</a:t>
            </a:r>
            <a:br/>
            <a:r>
              <a:t>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4151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1463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Generative</a:t>
            </a:r>
            <a:br/>
            <a: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556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2872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Agentic</a:t>
            </a:r>
            <a:br/>
            <a: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6753" y="4114800"/>
            <a:ext cx="842801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rPr dirty="0"/>
              <a:t>Machine Learning is a major approach inside AI. Deep Learning is a type of ML. </a:t>
            </a:r>
            <a:endParaRPr lang="en-US" dirty="0"/>
          </a:p>
          <a:p>
            <a:pPr algn="ctr">
              <a:defRPr sz="2000">
                <a:solidFill>
                  <a:srgbClr val="282828"/>
                </a:solidFill>
              </a:defRPr>
            </a:pPr>
            <a:r>
              <a:rPr dirty="0"/>
              <a:t>Generative and agentic systems often use deep-learning models and LLMs.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1676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is Machine Learning (ML)?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4080"/>
            <a:ext cx="1069848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/>
              <a:t>What is Machine Learning?</a:t>
            </a:r>
          </a:p>
          <a:p>
            <a:pPr algn="just"/>
            <a:r>
              <a:rPr lang="en-IN" sz="2200" dirty="0"/>
              <a:t>Machine Learning is a </a:t>
            </a:r>
            <a:r>
              <a:rPr lang="en-IN" sz="2200" b="1" dirty="0"/>
              <a:t>subset of AI</a:t>
            </a:r>
            <a:r>
              <a:rPr lang="en-IN" sz="2200" dirty="0"/>
              <a:t>. Instead of programming every rule manually, we provide the computer with </a:t>
            </a:r>
            <a:r>
              <a:rPr lang="en-IN" sz="2200" b="1" dirty="0"/>
              <a:t>data</a:t>
            </a:r>
            <a:r>
              <a:rPr lang="en-IN" sz="2200" dirty="0"/>
              <a:t>, and an algorithm learns patterns from that data.</a:t>
            </a:r>
          </a:p>
          <a:p>
            <a:pPr algn="just"/>
            <a:endParaRPr lang="en-IN" sz="2200" dirty="0"/>
          </a:p>
          <a:p>
            <a:pPr algn="just"/>
            <a:r>
              <a:rPr lang="en-IN" sz="2200" b="1" dirty="0"/>
              <a:t>Traditional programming</a:t>
            </a:r>
          </a:p>
          <a:p>
            <a:pPr algn="just"/>
            <a:r>
              <a:rPr lang="en-IN" sz="2200" dirty="0"/>
              <a:t>Imagine we want to identify spam emails.</a:t>
            </a:r>
          </a:p>
          <a:p>
            <a:pPr algn="just"/>
            <a:r>
              <a:rPr lang="en-IN" sz="2200" dirty="0"/>
              <a:t>We could manually create rules:</a:t>
            </a:r>
          </a:p>
          <a:p>
            <a:pPr algn="just"/>
            <a:endParaRPr lang="en-IN" sz="2200" dirty="0"/>
          </a:p>
          <a:p>
            <a:pPr algn="just"/>
            <a:r>
              <a:rPr lang="en-US" sz="2200" dirty="0"/>
              <a:t>IF email contains "WIN MONEY"</a:t>
            </a:r>
          </a:p>
          <a:p>
            <a:pPr algn="just"/>
            <a:r>
              <a:rPr lang="en-US" sz="2200" dirty="0"/>
              <a:t>    → SPAM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IF email contains "FREE PRIZE"</a:t>
            </a:r>
          </a:p>
          <a:p>
            <a:pPr algn="just"/>
            <a:r>
              <a:rPr lang="en-US" sz="2200" dirty="0"/>
              <a:t>    → SPAM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IF email contains "CLICK HERE NOW"</a:t>
            </a:r>
          </a:p>
          <a:p>
            <a:pPr algn="just"/>
            <a:r>
              <a:rPr lang="en-US" sz="2200" dirty="0"/>
              <a:t>    → SPAM</a:t>
            </a:r>
          </a:p>
          <a:p>
            <a:pPr algn="just"/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0F1C8-3F92-935F-A7A7-7E243CEE712D}"/>
              </a:ext>
            </a:extLst>
          </p:cNvPr>
          <p:cNvSpPr txBox="1"/>
          <p:nvPr/>
        </p:nvSpPr>
        <p:spPr>
          <a:xfrm>
            <a:off x="6096000" y="5523915"/>
            <a:ext cx="4714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But spammers can change their messages.</a:t>
            </a:r>
          </a:p>
          <a:p>
            <a:pPr>
              <a:buNone/>
            </a:pPr>
            <a:r>
              <a:rPr lang="en-IN" dirty="0"/>
              <a:t>There could be thousands of rules.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Traditional Programming vs Machine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333451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Rules +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832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2920" y="2103120"/>
            <a:ext cx="333451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400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48600" y="2103120"/>
            <a:ext cx="333451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Traditional programming: humans explicitly specify the rules.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47B0-FEE6-5DFB-4580-EA01480D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615C59-9E61-4DF2-DDF9-40B5BF06A6A4}"/>
              </a:ext>
            </a:extLst>
          </p:cNvPr>
          <p:cNvSpPr txBox="1"/>
          <p:nvPr/>
        </p:nvSpPr>
        <p:spPr>
          <a:xfrm>
            <a:off x="563880" y="167640"/>
            <a:ext cx="4327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lang="en-IN" sz="2800" b="1" dirty="0">
                <a:solidFill>
                  <a:srgbClr val="14233C"/>
                </a:solidFill>
              </a:rPr>
              <a:t>Machine Learning approach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937EC-AEA3-788F-5AA3-D7F275C27451}"/>
              </a:ext>
            </a:extLst>
          </p:cNvPr>
          <p:cNvSpPr txBox="1"/>
          <p:nvPr/>
        </p:nvSpPr>
        <p:spPr>
          <a:xfrm>
            <a:off x="822960" y="894080"/>
            <a:ext cx="106984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Instead, we give the computer many examples:</a:t>
            </a:r>
          </a:p>
          <a:p>
            <a:pPr algn="just"/>
            <a:endParaRPr lang="en-IN" sz="2000" dirty="0"/>
          </a:p>
          <a:p>
            <a:pPr algn="just"/>
            <a:r>
              <a:rPr lang="en-US" sz="2000" dirty="0"/>
              <a:t>Email                         			Label</a:t>
            </a:r>
          </a:p>
          <a:p>
            <a:pPr algn="just"/>
            <a:r>
              <a:rPr lang="en-US" sz="2000" dirty="0"/>
              <a:t>--------------------------------------------------</a:t>
            </a:r>
          </a:p>
          <a:p>
            <a:pPr algn="just"/>
            <a:r>
              <a:rPr lang="en-US" sz="2000" dirty="0"/>
              <a:t>"Win $1000 now!"              		Spam</a:t>
            </a:r>
          </a:p>
          <a:p>
            <a:pPr algn="just"/>
            <a:r>
              <a:rPr lang="en-US" sz="2000" dirty="0"/>
              <a:t>"Free lottery prize"          		Spam</a:t>
            </a:r>
          </a:p>
          <a:p>
            <a:pPr algn="just"/>
            <a:r>
              <a:rPr lang="en-US" sz="2000" dirty="0"/>
              <a:t>"Meeting at 3 PM"             		Not Spam</a:t>
            </a:r>
          </a:p>
          <a:p>
            <a:pPr algn="just"/>
            <a:r>
              <a:rPr lang="en-US" sz="2000" dirty="0"/>
              <a:t>"Submit your assignment"    	Not Spam</a:t>
            </a:r>
          </a:p>
          <a:p>
            <a:pPr algn="just"/>
            <a:endParaRPr lang="en-US" sz="2000" dirty="0"/>
          </a:p>
          <a:p>
            <a:r>
              <a:rPr lang="en-IN" sz="2000" dirty="0"/>
              <a:t>The ML algorithm </a:t>
            </a:r>
            <a:r>
              <a:rPr lang="en-IN" sz="2000" dirty="0" err="1"/>
              <a:t>analyzes</a:t>
            </a:r>
            <a:r>
              <a:rPr lang="en-IN" sz="2000" dirty="0"/>
              <a:t> these examples and learns patterns. Then, when a new email arrives:</a:t>
            </a:r>
          </a:p>
          <a:p>
            <a:r>
              <a:rPr lang="en-IN" sz="2000" dirty="0"/>
              <a:t>"Congratulations! You have won a prize."</a:t>
            </a:r>
          </a:p>
          <a:p>
            <a:r>
              <a:rPr lang="en-IN" sz="2000" dirty="0"/>
              <a:t>The model predicts: </a:t>
            </a:r>
            <a:r>
              <a:rPr lang="en-IN" sz="2000" b="1" dirty="0"/>
              <a:t>Spam </a:t>
            </a:r>
          </a:p>
          <a:p>
            <a:endParaRPr lang="en-IN" sz="2000" b="1" dirty="0"/>
          </a:p>
          <a:p>
            <a:r>
              <a:rPr lang="en-IN" sz="2000" b="1" dirty="0"/>
              <a:t>Important idea</a:t>
            </a:r>
          </a:p>
          <a:p>
            <a:r>
              <a:rPr lang="en-IN" sz="2000" dirty="0"/>
              <a:t>The programmer does </a:t>
            </a:r>
            <a:r>
              <a:rPr lang="en-IN" sz="2000" b="1" dirty="0"/>
              <a:t>not necessarily write a rule saying "prize = spam."</a:t>
            </a:r>
            <a:endParaRPr lang="en-IN" sz="2000" dirty="0"/>
          </a:p>
          <a:p>
            <a:r>
              <a:rPr lang="en-IN" sz="2000" dirty="0"/>
              <a:t>Instead </a:t>
            </a:r>
            <a:r>
              <a:rPr lang="en-IN" sz="2000" b="1" dirty="0"/>
              <a:t>Training Data → Learning Algorithm → Trained Model</a:t>
            </a:r>
            <a:endParaRPr lang="en-IN" sz="2000" dirty="0"/>
          </a:p>
          <a:p>
            <a:r>
              <a:rPr lang="en-IN" sz="2000" dirty="0"/>
              <a:t>Then: </a:t>
            </a:r>
            <a:r>
              <a:rPr lang="en-IN" sz="2000" b="1" dirty="0"/>
              <a:t>New Data → Trained Model → Prediction</a:t>
            </a:r>
            <a:endParaRPr lang="en-IN" sz="2000" dirty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2295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D6D5D-0494-5A5F-1A91-47EF4B289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929E24-C6A1-0045-6AE6-DC80C7C29867}"/>
              </a:ext>
            </a:extLst>
          </p:cNvPr>
          <p:cNvSpPr txBox="1"/>
          <p:nvPr/>
        </p:nvSpPr>
        <p:spPr>
          <a:xfrm>
            <a:off x="563880" y="167640"/>
            <a:ext cx="4327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lang="en-IN" sz="2800" b="1" dirty="0">
                <a:solidFill>
                  <a:srgbClr val="14233C"/>
                </a:solidFill>
              </a:rPr>
              <a:t>Machine Learning approach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10762-B24B-328E-645F-FB600D6F5721}"/>
              </a:ext>
            </a:extLst>
          </p:cNvPr>
          <p:cNvSpPr txBox="1"/>
          <p:nvPr/>
        </p:nvSpPr>
        <p:spPr>
          <a:xfrm>
            <a:off x="822960" y="894080"/>
            <a:ext cx="10698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Example: House Price Prediction</a:t>
            </a:r>
          </a:p>
          <a:p>
            <a:r>
              <a:rPr lang="en-IN" sz="2000" dirty="0"/>
              <a:t>Suppose we have historical data:</a:t>
            </a:r>
          </a:p>
          <a:p>
            <a:endParaRPr lang="en-IN" sz="2000" dirty="0"/>
          </a:p>
          <a:p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214FC1-3B10-6DEF-21AF-4C1F3193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991056"/>
              </p:ext>
            </p:extLst>
          </p:nvPr>
        </p:nvGraphicFramePr>
        <p:xfrm>
          <a:off x="822960" y="1699101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90266415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1088463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84423248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38884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Area (</a:t>
                      </a:r>
                      <a:r>
                        <a:rPr lang="en-IN" dirty="0" err="1"/>
                        <a:t>sq.ft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Bedrooms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52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₹50L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848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₹75L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17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₹1Cr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049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₹1.3Cr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920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284FBC-31F9-60B8-8AFA-C348A135CDAC}"/>
              </a:ext>
            </a:extLst>
          </p:cNvPr>
          <p:cNvSpPr txBox="1"/>
          <p:nvPr/>
        </p:nvSpPr>
        <p:spPr>
          <a:xfrm>
            <a:off x="955040" y="3810060"/>
            <a:ext cx="10373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The ML algorithm studies relationships between: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House size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Number of bedrooms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Price </a:t>
            </a:r>
          </a:p>
          <a:p>
            <a:pPr>
              <a:buNone/>
            </a:pPr>
            <a:r>
              <a:rPr lang="en-IN" sz="2000" dirty="0"/>
              <a:t>Now you give it: 1800 </a:t>
            </a:r>
            <a:r>
              <a:rPr lang="en-IN" sz="2000" dirty="0" err="1"/>
              <a:t>sq.ft</a:t>
            </a:r>
            <a:r>
              <a:rPr lang="en-IN" sz="2000" dirty="0"/>
              <a:t>, 3 bedrooms, Hyderabad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The model might predict: </a:t>
            </a:r>
            <a:r>
              <a:rPr lang="en-IN" sz="2000" b="1" dirty="0"/>
              <a:t>Estimated price = ₹90 lakh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This is </a:t>
            </a:r>
            <a:r>
              <a:rPr lang="en-IN" sz="2000" b="1" dirty="0"/>
              <a:t>Machine Learning</a:t>
            </a:r>
            <a:r>
              <a:rPr lang="en-IN" sz="2000" dirty="0"/>
              <a:t> because the model learned from historical examples.</a:t>
            </a:r>
          </a:p>
        </p:txBody>
      </p:sp>
    </p:spTree>
    <p:extLst>
      <p:ext uri="{BB962C8B-B14F-4D97-AF65-F5344CB8AC3E}">
        <p14:creationId xmlns:p14="http://schemas.microsoft.com/office/powerpoint/2010/main" val="723435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38C6-EAE8-6E18-C3B6-53C25EE7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563B3-D60C-500A-C981-A4237CF2209D}"/>
              </a:ext>
            </a:extLst>
          </p:cNvPr>
          <p:cNvSpPr txBox="1"/>
          <p:nvPr/>
        </p:nvSpPr>
        <p:spPr>
          <a:xfrm>
            <a:off x="563880" y="167640"/>
            <a:ext cx="4327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lang="en-IN" sz="2800" b="1" dirty="0">
                <a:solidFill>
                  <a:srgbClr val="14233C"/>
                </a:solidFill>
              </a:rPr>
              <a:t>Machine Learning approach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44292-55BC-F2BF-8288-C2C7E5E08910}"/>
              </a:ext>
            </a:extLst>
          </p:cNvPr>
          <p:cNvSpPr txBox="1"/>
          <p:nvPr/>
        </p:nvSpPr>
        <p:spPr>
          <a:xfrm>
            <a:off x="822960" y="894080"/>
            <a:ext cx="10698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Example: House Price Prediction</a:t>
            </a:r>
          </a:p>
          <a:p>
            <a:r>
              <a:rPr lang="en-IN" sz="2000" dirty="0"/>
              <a:t>Suppose we have historical data:</a:t>
            </a:r>
          </a:p>
          <a:p>
            <a:endParaRPr lang="en-IN" sz="2000" dirty="0"/>
          </a:p>
          <a:p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DAB09A-4E10-1668-629E-5A83A241FA90}"/>
              </a:ext>
            </a:extLst>
          </p:cNvPr>
          <p:cNvGraphicFramePr>
            <a:graphicFrameLocks noGrp="1"/>
          </p:cNvGraphicFramePr>
          <p:nvPr/>
        </p:nvGraphicFramePr>
        <p:xfrm>
          <a:off x="822960" y="1699101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90266415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1088463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84423248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38884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Area (</a:t>
                      </a:r>
                      <a:r>
                        <a:rPr lang="en-IN" dirty="0" err="1"/>
                        <a:t>sq.ft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Bedrooms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52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₹50L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848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₹75L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17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₹1Cr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049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₹1.3Cr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920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16AB962-FD0D-86EA-56D0-A789080CA389}"/>
              </a:ext>
            </a:extLst>
          </p:cNvPr>
          <p:cNvSpPr txBox="1"/>
          <p:nvPr/>
        </p:nvSpPr>
        <p:spPr>
          <a:xfrm>
            <a:off x="955040" y="3810060"/>
            <a:ext cx="10373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The ML algorithm studies relationships between: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House size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Number of bedrooms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Price </a:t>
            </a:r>
          </a:p>
          <a:p>
            <a:pPr>
              <a:buNone/>
            </a:pPr>
            <a:r>
              <a:rPr lang="en-IN" sz="2000" dirty="0"/>
              <a:t>Now you give it: 1800 </a:t>
            </a:r>
            <a:r>
              <a:rPr lang="en-IN" sz="2000" dirty="0" err="1"/>
              <a:t>sq.ft</a:t>
            </a:r>
            <a:r>
              <a:rPr lang="en-IN" sz="2000" dirty="0"/>
              <a:t>, 3 bedrooms, Hyderabad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The model might predict: </a:t>
            </a:r>
            <a:r>
              <a:rPr lang="en-IN" sz="2000" b="1" dirty="0"/>
              <a:t>Estimated price = ₹90 lakh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This is </a:t>
            </a:r>
            <a:r>
              <a:rPr lang="en-IN" sz="2000" b="1" dirty="0"/>
              <a:t>Machine Learning</a:t>
            </a:r>
            <a:r>
              <a:rPr lang="en-IN" sz="2000" dirty="0"/>
              <a:t> because the model learned from historical examples.</a:t>
            </a:r>
          </a:p>
        </p:txBody>
      </p:sp>
    </p:spTree>
    <p:extLst>
      <p:ext uri="{BB962C8B-B14F-4D97-AF65-F5344CB8AC3E}">
        <p14:creationId xmlns:p14="http://schemas.microsoft.com/office/powerpoint/2010/main" val="2346910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Machine Learning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1336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Learning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2744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5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Trained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4151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1463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New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556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2872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Example: past house prices → model → estimate the price of a new house.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358D-439E-5216-02F1-9A7E3CF1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023600" cy="1143000"/>
          </a:xfrm>
        </p:spPr>
        <p:txBody>
          <a:bodyPr/>
          <a:lstStyle/>
          <a:p>
            <a:pPr algn="l"/>
            <a:r>
              <a:rPr lang="en-IN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1A1D9-573E-0867-A5A5-09D49CB4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023600" cy="4525963"/>
          </a:xfrm>
        </p:spPr>
        <p:txBody>
          <a:bodyPr>
            <a:normAutofit/>
          </a:bodyPr>
          <a:lstStyle/>
          <a:p>
            <a:r>
              <a:rPr lang="en-IN" sz="2000" dirty="0"/>
              <a:t>There are three major categories you should know.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Supervised Learning</a:t>
            </a:r>
          </a:p>
          <a:p>
            <a:r>
              <a:rPr lang="en-IN" sz="2000" dirty="0"/>
              <a:t>The computer learns from </a:t>
            </a:r>
            <a:r>
              <a:rPr lang="en-IN" sz="2000" b="1" dirty="0" err="1"/>
              <a:t>labeled</a:t>
            </a:r>
            <a:r>
              <a:rPr lang="en-IN" sz="2000" b="1" dirty="0"/>
              <a:t> data</a:t>
            </a:r>
            <a:r>
              <a:rPr lang="en-IN" sz="2000" dirty="0"/>
              <a:t>.</a:t>
            </a:r>
          </a:p>
          <a:p>
            <a:r>
              <a:rPr lang="en-IN" sz="2000" dirty="0"/>
              <a:t>That means we already know the correct answer for training examples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Example: Student Result Prediction</a:t>
            </a:r>
          </a:p>
          <a:p>
            <a:pPr marL="0" indent="0">
              <a:buNone/>
            </a:pPr>
            <a:r>
              <a:rPr lang="en-IN" sz="2000" dirty="0"/>
              <a:t>Suppose we have:</a:t>
            </a:r>
          </a:p>
          <a:p>
            <a:endParaRPr lang="en-IN" sz="2000" dirty="0"/>
          </a:p>
          <a:p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68C185-7124-6684-0FEE-53CB50B3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86123"/>
              </p:ext>
            </p:extLst>
          </p:nvPr>
        </p:nvGraphicFramePr>
        <p:xfrm>
          <a:off x="457200" y="4769802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7826424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8009388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6198492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82717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Internal 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Study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67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521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52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910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537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62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49FC-D74E-93DB-20B3-8D36A5FB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2C7-56CE-156B-C329-8ABD8A7EF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9120"/>
            <a:ext cx="11023600" cy="5547043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The model learns the relationship between the inputs and result.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For a new student:</a:t>
            </a:r>
          </a:p>
          <a:p>
            <a:r>
              <a:rPr lang="en-IN" sz="2000" dirty="0"/>
              <a:t>Attendance = 80%</a:t>
            </a:r>
          </a:p>
          <a:p>
            <a:r>
              <a:rPr lang="en-IN" sz="2000" dirty="0"/>
              <a:t>Internal marks = 70</a:t>
            </a:r>
          </a:p>
          <a:p>
            <a:r>
              <a:rPr lang="en-IN" sz="2000" dirty="0"/>
              <a:t>Study = 2 hours/day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The model may predict: </a:t>
            </a:r>
            <a:r>
              <a:rPr lang="en-IN" sz="2000" b="1" dirty="0"/>
              <a:t>Pass, </a:t>
            </a:r>
            <a:r>
              <a:rPr lang="en-IN" sz="2000" dirty="0"/>
              <a:t>Because the training data contains the </a:t>
            </a:r>
            <a:r>
              <a:rPr lang="en-IN" sz="2000" b="1" dirty="0"/>
              <a:t>correct labels</a:t>
            </a:r>
            <a:r>
              <a:rPr lang="en-IN" sz="2000" dirty="0"/>
              <a:t>, this is supervised learning.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Other examples</a:t>
            </a:r>
          </a:p>
          <a:p>
            <a:pPr lvl="0"/>
            <a:r>
              <a:rPr lang="en-IN" sz="2000" dirty="0"/>
              <a:t>Spam / not spam </a:t>
            </a:r>
          </a:p>
          <a:p>
            <a:pPr lvl="0"/>
            <a:r>
              <a:rPr lang="en-IN" sz="2000" dirty="0"/>
              <a:t>Disease / no disease </a:t>
            </a:r>
          </a:p>
          <a:p>
            <a:pPr lvl="0"/>
            <a:r>
              <a:rPr lang="en-IN" sz="2000" dirty="0"/>
              <a:t>Fraud / not fraud </a:t>
            </a:r>
          </a:p>
          <a:p>
            <a:pPr lvl="0"/>
            <a:r>
              <a:rPr lang="en-IN" sz="2000" dirty="0"/>
              <a:t>Pass / fail </a:t>
            </a:r>
          </a:p>
          <a:p>
            <a:pPr lvl="0"/>
            <a:r>
              <a:rPr lang="en-IN" sz="2000" dirty="0"/>
              <a:t>House price prediction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20295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5893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5160" y="843260"/>
            <a:ext cx="109982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Here, the computer receives data </a:t>
            </a:r>
            <a:r>
              <a:rPr lang="en-IN" sz="2000" b="1" dirty="0"/>
              <a:t>without predefined labels</a:t>
            </a:r>
            <a:r>
              <a:rPr lang="en-IN" sz="2000" dirty="0"/>
              <a:t>. The algorithm tries to discover patterns or groups by itself.</a:t>
            </a:r>
          </a:p>
          <a:p>
            <a:endParaRPr lang="en-IN" sz="2000" dirty="0"/>
          </a:p>
          <a:p>
            <a:r>
              <a:rPr lang="en-IN" sz="2000" b="1" dirty="0"/>
              <a:t>Example: Customer Segmentation, A</a:t>
            </a:r>
            <a:r>
              <a:rPr lang="en-IN" sz="2000" dirty="0"/>
              <a:t>n online store has information about thousands of customers: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Amount spent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Number of purchases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Frequency of visits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dirty="0"/>
              <a:t>We don't tell the computer which customer belongs to which group. The ML algorithm may discover:</a:t>
            </a:r>
          </a:p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Group 1 → Frequent high-spending customers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Group 2 → Frequent low-spending customers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Group 3 → Occasional high-spending customers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Group 4 → Occasional low-spending customers</a:t>
            </a:r>
          </a:p>
          <a:p>
            <a:endParaRPr lang="en-US" sz="2000" dirty="0"/>
          </a:p>
          <a:p>
            <a:r>
              <a:rPr lang="en-IN" sz="2000" dirty="0"/>
              <a:t>This is called </a:t>
            </a:r>
            <a:r>
              <a:rPr lang="en-IN" sz="2000" b="1" dirty="0"/>
              <a:t>clustering</a:t>
            </a:r>
            <a:r>
              <a:rPr lang="en-IN" sz="2000" dirty="0"/>
              <a:t>. The business can then provide different offers to different customer groups.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54D6-AD66-E909-188F-8D76EBE7E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88E42-767A-C566-C3DF-3A4B28F89C9E}"/>
              </a:ext>
            </a:extLst>
          </p:cNvPr>
          <p:cNvSpPr txBox="1"/>
          <p:nvPr/>
        </p:nvSpPr>
        <p:spPr>
          <a:xfrm>
            <a:off x="401320" y="477500"/>
            <a:ext cx="10998200" cy="219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Other examples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Customer segmentation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Finding unusual patterns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Grouping similar documents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Grouping similar products</a:t>
            </a:r>
          </a:p>
        </p:txBody>
      </p:sp>
    </p:spTree>
    <p:extLst>
      <p:ext uri="{BB962C8B-B14F-4D97-AF65-F5344CB8AC3E}">
        <p14:creationId xmlns:p14="http://schemas.microsoft.com/office/powerpoint/2010/main" val="3703705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ML Type 3: Reinforcement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2450591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Agent observes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184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103120"/>
            <a:ext cx="2450591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Takes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360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2103120"/>
            <a:ext cx="2450591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Gets reward/penalty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536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19" y="2103120"/>
            <a:ext cx="2450591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Learns better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4114800"/>
            <a:ext cx="1056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000">
                <a:solidFill>
                  <a:srgbClr val="282828"/>
                </a:solidFill>
              </a:defRPr>
            </a:pPr>
            <a:r>
              <a:rPr dirty="0"/>
              <a:t>Example: A game-playing AI receives a positive reward for winning and</a:t>
            </a:r>
            <a:r>
              <a:rPr lang="en-US" dirty="0"/>
              <a:t> </a:t>
            </a:r>
            <a:r>
              <a:rPr dirty="0"/>
              <a:t> gradually learns strategies that increase its reward.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D9C7-B6AD-B530-134F-6F338732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7653-042A-E86F-87E3-30C7C91F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pPr algn="l"/>
            <a:r>
              <a:rPr lang="en-IN" dirty="0"/>
              <a:t>Reinforcement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EC066-D3C8-7968-2901-38BF6F665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11094720" cy="4708525"/>
          </a:xfrm>
        </p:spPr>
        <p:txBody>
          <a:bodyPr>
            <a:normAutofit/>
          </a:bodyPr>
          <a:lstStyle/>
          <a:p>
            <a:r>
              <a:rPr lang="en-IN" sz="2200" dirty="0"/>
              <a:t>This is learning through </a:t>
            </a:r>
            <a:r>
              <a:rPr lang="en-IN" sz="2200" b="1" dirty="0"/>
              <a:t>interaction, rewards, and penalties</a:t>
            </a:r>
            <a:r>
              <a:rPr lang="en-IN" sz="2200" dirty="0"/>
              <a:t>.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dirty="0"/>
              <a:t>Think about how a child learns to play a game.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dirty="0"/>
              <a:t>The child:</a:t>
            </a:r>
          </a:p>
          <a:p>
            <a:r>
              <a:rPr lang="en-IN" sz="2200" dirty="0"/>
              <a:t>Takes an action. </a:t>
            </a:r>
          </a:p>
          <a:p>
            <a:r>
              <a:rPr lang="en-IN" sz="2200" dirty="0"/>
              <a:t>Gets a result. </a:t>
            </a:r>
          </a:p>
          <a:p>
            <a:r>
              <a:rPr lang="en-IN" sz="2200" dirty="0"/>
              <a:t>Receives a reward or penalty. </a:t>
            </a:r>
          </a:p>
          <a:p>
            <a:r>
              <a:rPr lang="en-IN" sz="2200" dirty="0"/>
              <a:t>Learns from the experience. </a:t>
            </a:r>
          </a:p>
          <a:p>
            <a:r>
              <a:rPr lang="en-IN" sz="2200" dirty="0"/>
              <a:t>Tries another action. 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2173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75E0-BF54-813C-8EF7-9D98AD0F3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4960"/>
            <a:ext cx="10891520" cy="616712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200" b="1" dirty="0"/>
              <a:t>Example: Game-playing AI</a:t>
            </a:r>
          </a:p>
          <a:p>
            <a:pPr marL="0" indent="0" algn="just">
              <a:buNone/>
            </a:pPr>
            <a:r>
              <a:rPr lang="en-IN" sz="2200" dirty="0"/>
              <a:t>Suppose an AI is learning to play a game.</a:t>
            </a:r>
          </a:p>
          <a:p>
            <a:pPr algn="just"/>
            <a:r>
              <a:rPr lang="en-IN" sz="2200" dirty="0"/>
              <a:t>If it wins:</a:t>
            </a:r>
          </a:p>
          <a:p>
            <a:pPr marL="0" indent="0" algn="just">
              <a:buNone/>
            </a:pPr>
            <a:r>
              <a:rPr lang="en-IN" sz="2200" b="1" dirty="0"/>
              <a:t>	+100 reward</a:t>
            </a:r>
            <a:endParaRPr lang="en-IN" sz="2200" dirty="0"/>
          </a:p>
          <a:p>
            <a:pPr algn="just"/>
            <a:r>
              <a:rPr lang="en-IN" sz="2200" dirty="0"/>
              <a:t>If it loses:</a:t>
            </a:r>
          </a:p>
          <a:p>
            <a:pPr marL="0" indent="0" algn="just">
              <a:buNone/>
            </a:pPr>
            <a:r>
              <a:rPr lang="en-IN" sz="2200" b="1" dirty="0"/>
              <a:t>	−100 reward</a:t>
            </a:r>
            <a:endParaRPr lang="en-IN" sz="2200" dirty="0"/>
          </a:p>
          <a:p>
            <a:pPr algn="just"/>
            <a:r>
              <a:rPr lang="en-IN" sz="2200" dirty="0"/>
              <a:t>The AI plays many times and gradually learns which actions produce better results.</a:t>
            </a:r>
          </a:p>
          <a:p>
            <a:pPr algn="just"/>
            <a:endParaRPr lang="en-IN" sz="2200" dirty="0"/>
          </a:p>
          <a:p>
            <a:pPr marL="0" indent="0" algn="just">
              <a:buNone/>
            </a:pPr>
            <a:r>
              <a:rPr lang="en-IN" sz="2400" b="1" dirty="0"/>
              <a:t>Example: AlphaGo</a:t>
            </a:r>
          </a:p>
          <a:p>
            <a:pPr algn="just"/>
            <a:r>
              <a:rPr lang="en-IN" sz="2400" dirty="0"/>
              <a:t>Google DeepMind's </a:t>
            </a:r>
            <a:r>
              <a:rPr lang="en-IN" sz="2400" b="1" dirty="0"/>
              <a:t>AlphaGo</a:t>
            </a:r>
            <a:r>
              <a:rPr lang="en-IN" sz="2400" dirty="0"/>
              <a:t> learned to play the complex board game Go and famously defeated top human players.</a:t>
            </a:r>
          </a:p>
          <a:p>
            <a:pPr algn="just"/>
            <a:r>
              <a:rPr lang="en-IN" sz="2400" dirty="0"/>
              <a:t>Reinforcement learning was an important part of its development.</a:t>
            </a:r>
          </a:p>
          <a:p>
            <a:pPr algn="just"/>
            <a:endParaRPr lang="en-IN" sz="2400" dirty="0"/>
          </a:p>
          <a:p>
            <a:pPr marL="0" indent="0" algn="just">
              <a:buNone/>
            </a:pPr>
            <a:r>
              <a:rPr lang="en-IN" sz="2400" b="1" dirty="0"/>
              <a:t>Other examples</a:t>
            </a:r>
          </a:p>
          <a:p>
            <a:pPr lvl="0" algn="just"/>
            <a:r>
              <a:rPr lang="en-IN" sz="2400" dirty="0"/>
              <a:t>Robot learning to walk </a:t>
            </a:r>
          </a:p>
          <a:p>
            <a:pPr lvl="0" algn="just"/>
            <a:r>
              <a:rPr lang="en-IN" sz="2400" dirty="0"/>
              <a:t>Game-playing AI </a:t>
            </a:r>
          </a:p>
          <a:p>
            <a:pPr lvl="0" algn="just"/>
            <a:r>
              <a:rPr lang="en-IN" sz="2400" dirty="0"/>
              <a:t>Robot navigation </a:t>
            </a:r>
          </a:p>
          <a:p>
            <a:pPr lvl="0" algn="just"/>
            <a:r>
              <a:rPr lang="en-IN" sz="2400" dirty="0"/>
              <a:t>Resource optimization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266006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is Deep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Deep Learning is a subset of Machine Learning that uses artificial neural networks with many layers.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Each layer transforms information into increasingly useful representations.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The term “deep” refers to multiple hidden layers.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It is especially useful for complex data such as images, audio, video and natural language.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Examples: face recognition, speech recognition, medical-image analysis and modern large language models.</a:t>
            </a:r>
            <a:endParaRPr lang="en-US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lang="en-IN" dirty="0"/>
          </a:p>
          <a:p>
            <a:r>
              <a:rPr lang="en-IN" b="1" dirty="0"/>
              <a:t>Neural Network</a:t>
            </a:r>
          </a:p>
          <a:p>
            <a:r>
              <a:rPr lang="en-IN" dirty="0"/>
              <a:t>A neural network contains:</a:t>
            </a:r>
          </a:p>
          <a:p>
            <a:r>
              <a:rPr lang="en-IN" b="1" dirty="0"/>
              <a:t>Input Layer → Hidden Layers → Output Layer</a:t>
            </a:r>
            <a:endParaRPr lang="en-IN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t>Key takeaway: Deep Learning = learning complex patterns with multi-layer neural networks.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A Simple Neural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Input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1496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Hidden 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2904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5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Hidden Layer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4311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1463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Hidden Layer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572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2872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Example: pixels of a handwritten digit enter the network; the final output predicts 0, 1, 2, … or 9.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Deep Learning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345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Image recognition</a:t>
            </a:r>
            <a:r>
              <a:rPr dirty="0"/>
              <a:t>: identify cats, cars or diseases in medical images.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Face recognition</a:t>
            </a:r>
            <a:r>
              <a:rPr dirty="0"/>
              <a:t>: learn complex facial features.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Speech recognition</a:t>
            </a:r>
            <a:r>
              <a:rPr dirty="0"/>
              <a:t>: convert voice into text.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Language models</a:t>
            </a:r>
            <a:r>
              <a:rPr dirty="0"/>
              <a:t>: understand and generate human language.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Self-driving systems</a:t>
            </a:r>
            <a:r>
              <a:rPr dirty="0"/>
              <a:t>: detect lanes, vehicles, signs and pedestrians.</a:t>
            </a:r>
            <a:endParaRPr lang="en-IN" dirty="0"/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lang="en-US" b="1" dirty="0"/>
              <a:t>Recommendation systems</a:t>
            </a:r>
            <a:r>
              <a:rPr lang="en-US" dirty="0"/>
              <a:t>: learn complex relationships between users and content.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15D546-7003-D3B6-2532-67A78C50EBF5}"/>
              </a:ext>
            </a:extLst>
          </p:cNvPr>
          <p:cNvSpPr txBox="1"/>
          <p:nvPr/>
        </p:nvSpPr>
        <p:spPr>
          <a:xfrm>
            <a:off x="883920" y="447040"/>
            <a:ext cx="10596880" cy="461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dirty="0"/>
              <a:t>A self-driving car has cameras and other sensors.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/>
              <a:t>The AI system needs to identify: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🚗 Cars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🚶 Pedestrians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🚦 Traffic lights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🛑 Stop signs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🛣️ Road lanes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🚲 Bicycles 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/>
              <a:t>Deep learning can process camera images and recognize these objects.</a:t>
            </a:r>
          </a:p>
        </p:txBody>
      </p:sp>
    </p:spTree>
    <p:extLst>
      <p:ext uri="{BB962C8B-B14F-4D97-AF65-F5344CB8AC3E}">
        <p14:creationId xmlns:p14="http://schemas.microsoft.com/office/powerpoint/2010/main" val="2470161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AI vs ML vs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AI: Broad goal of creating intelligent systems. Example: a chess-playing system.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ML: Learns from data. Example: predicting house prices.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Deep Learning: ML using multi-layer neural networks.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Example: image and speech recognition.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Relationship: Deep Learning ⊂ Machine Learning ⊂ Artificial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t>Key takeaway: Think: AI is the umbrella, ML is a learning approach, DL is a powerful ML approach.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is Generative AI (GenAI)?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76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Generative AI creates new content based on patterns learned during training.</a:t>
            </a:r>
          </a:p>
          <a:p>
            <a:r>
              <a:rPr lang="en-IN" dirty="0"/>
              <a:t>It can generate: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📝 Text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🖼️ Images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🎵 Music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🎤 Audio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🎥 Videos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💻 Computer code</a:t>
            </a:r>
          </a:p>
          <a:p>
            <a:pPr lvl="0">
              <a:lnSpc>
                <a:spcPct val="150000"/>
              </a:lnSpc>
            </a:pPr>
            <a:endParaRPr dirty="0"/>
          </a:p>
          <a:p>
            <a:pPr algn="just"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Unlike a classifier that answers “Is this a cat?”, GenAI can answer “Create a picture of a cat on the moon.”</a:t>
            </a:r>
          </a:p>
          <a:p>
            <a:pPr algn="just"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Examples include AI writing assistants, image generators, code assistants and music generators.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09042-DD22-D3A0-45DD-4ED1D1BDF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720" y="1772920"/>
            <a:ext cx="2910840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How an LLM Generates 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User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1176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Understand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2584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5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Predict Next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1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1463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Predict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2872" y="2103120"/>
            <a:ext cx="1920239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Complete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Example: “Artificial Intelligence is …” → the model repeatedly predicts the next token based on the context.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Key GenAI Concepts for 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2000" dirty="0">
                <a:solidFill>
                  <a:srgbClr val="282828"/>
                </a:solidFill>
              </a:rPr>
              <a:t>A Large Language Model (LLM) generates text by predicting one token at a time based on the context it has received.</a:t>
            </a:r>
          </a:p>
          <a:p>
            <a:pPr algn="just"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lang="en-IN" sz="2000" dirty="0">
              <a:solidFill>
                <a:srgbClr val="282828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dirty="0"/>
              <a:t>If you type: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“The sun rises in the ___”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The LLM predicts that the next word is likely </a:t>
            </a:r>
            <a:r>
              <a:rPr lang="en-IN" sz="2000" b="1" dirty="0"/>
              <a:t>“east.”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It then uses that new word as part of the context to predict what comes next.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E2B8-A790-3A73-FDE9-4C31BCBB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040"/>
            <a:ext cx="11115040" cy="6522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Main Steps</a:t>
            </a:r>
          </a:p>
          <a:p>
            <a:pPr marL="0" indent="0">
              <a:buNone/>
            </a:pPr>
            <a:r>
              <a:rPr lang="en-IN" sz="2000" b="1" dirty="0"/>
              <a:t>1. Input Text</a:t>
            </a:r>
            <a:br>
              <a:rPr lang="en-IN" sz="2000" dirty="0"/>
            </a:br>
            <a:r>
              <a:rPr lang="en-IN" sz="2000" dirty="0"/>
              <a:t>You enter a prompt such as: “Explain cloud computing.”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2. Tokenization</a:t>
            </a:r>
            <a:br>
              <a:rPr lang="en-IN" sz="2000" dirty="0"/>
            </a:br>
            <a:r>
              <a:rPr lang="en-IN" sz="2000" dirty="0"/>
              <a:t>The text is divided into small pieces called </a:t>
            </a:r>
            <a:r>
              <a:rPr lang="en-IN" sz="2000" b="1" dirty="0"/>
              <a:t>tokens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For example: Explain cloud computing → Explain | cloud | computing 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3. Convert Tokens into Numbers</a:t>
            </a:r>
            <a:br>
              <a:rPr lang="en-IN" sz="2000" dirty="0"/>
            </a:br>
            <a:r>
              <a:rPr lang="en-IN" sz="2000" dirty="0"/>
              <a:t>Each token is converted into numerical representations called </a:t>
            </a:r>
            <a:r>
              <a:rPr lang="en-IN" sz="2000" b="1" dirty="0"/>
              <a:t>embeddings</a:t>
            </a:r>
            <a:r>
              <a:rPr lang="en-IN" sz="2000" dirty="0"/>
              <a:t>. These numbers help the model understand relationships between words and concepts.</a:t>
            </a:r>
          </a:p>
          <a:p>
            <a:endParaRPr lang="en-IN" sz="1800" b="1" dirty="0"/>
          </a:p>
          <a:p>
            <a:pPr marL="0" indent="0">
              <a:buNone/>
            </a:pPr>
            <a:r>
              <a:rPr lang="en-IN" sz="2000" b="1" dirty="0"/>
              <a:t>4. Transformer Processes the Context</a:t>
            </a:r>
            <a:br>
              <a:rPr lang="en-IN" sz="2000" dirty="0"/>
            </a:br>
            <a:r>
              <a:rPr lang="en-IN" sz="2000" dirty="0"/>
              <a:t>The LLM uses a </a:t>
            </a:r>
            <a:r>
              <a:rPr lang="en-IN" sz="2000" b="1" dirty="0"/>
              <a:t>Transformer neural network</a:t>
            </a:r>
            <a:r>
              <a:rPr lang="en-IN" sz="2000" dirty="0"/>
              <a:t>. Its </a:t>
            </a:r>
            <a:r>
              <a:rPr lang="en-IN" sz="2000" b="1" dirty="0"/>
              <a:t>attention mechanism</a:t>
            </a:r>
            <a:r>
              <a:rPr lang="en-IN" sz="2000" dirty="0"/>
              <a:t> determines which parts of the input are important when predicting the next token.</a:t>
            </a:r>
          </a:p>
          <a:p>
            <a:r>
              <a:rPr lang="en-IN" sz="2000" dirty="0"/>
              <a:t>For example:</a:t>
            </a:r>
          </a:p>
          <a:p>
            <a:r>
              <a:rPr lang="en-IN" sz="2000" dirty="0"/>
              <a:t>“The student opened the book because </a:t>
            </a:r>
            <a:r>
              <a:rPr lang="en-IN" sz="2000" b="1" dirty="0"/>
              <a:t>he</a:t>
            </a:r>
            <a:r>
              <a:rPr lang="en-IN" sz="2000" dirty="0"/>
              <a:t> wanted to study.”</a:t>
            </a:r>
          </a:p>
          <a:p>
            <a:r>
              <a:rPr lang="en-IN" sz="2000" dirty="0"/>
              <a:t>The model uses attention to understand that </a:t>
            </a:r>
            <a:r>
              <a:rPr lang="en-IN" sz="2000" b="1" dirty="0"/>
              <a:t>“he”</a:t>
            </a:r>
            <a:r>
              <a:rPr lang="en-IN" sz="2000" dirty="0"/>
              <a:t> refers to the student.</a:t>
            </a:r>
          </a:p>
        </p:txBody>
      </p:sp>
    </p:spTree>
    <p:extLst>
      <p:ext uri="{BB962C8B-B14F-4D97-AF65-F5344CB8AC3E}">
        <p14:creationId xmlns:p14="http://schemas.microsoft.com/office/powerpoint/2010/main" val="19768488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4EEA-5A4D-956E-F26D-4847B8D7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C21C-EF9A-3040-5915-CBCBDF0F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040"/>
            <a:ext cx="11115040" cy="6329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5. Predict the Next Token</a:t>
            </a:r>
            <a:br>
              <a:rPr lang="en-IN" sz="2000" dirty="0"/>
            </a:br>
            <a:r>
              <a:rPr lang="en-IN" sz="2000" dirty="0"/>
              <a:t>The model calculates probabilities for possible next tokens: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The model selects a token based on these probabilities and its generation settings.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6. Repeat the Process</a:t>
            </a:r>
            <a:br>
              <a:rPr lang="en-IN" sz="2000" dirty="0"/>
            </a:br>
            <a:r>
              <a:rPr lang="en-IN" sz="2000" dirty="0"/>
              <a:t>The newly generated token is added to the context, and the model predicts the next token again.</a:t>
            </a:r>
          </a:p>
          <a:p>
            <a:pPr marL="0" indent="0">
              <a:buNone/>
            </a:pPr>
            <a:r>
              <a:rPr lang="en-IN" sz="2000" dirty="0"/>
              <a:t>Input → Predict token → Add token → Predict next token → Repeat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7. Final Text</a:t>
            </a:r>
            <a:br>
              <a:rPr lang="en-IN" sz="2000" dirty="0"/>
            </a:br>
            <a:r>
              <a:rPr lang="en-IN" sz="2000" dirty="0"/>
              <a:t>The generated tokens are converted back into readable text and displayed as the response.</a:t>
            </a:r>
          </a:p>
          <a:p>
            <a:endParaRPr lang="en-IN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89238A-96F9-904B-476B-5F13DC548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609909"/>
              </p:ext>
            </p:extLst>
          </p:nvPr>
        </p:nvGraphicFramePr>
        <p:xfrm>
          <a:off x="873760" y="1038701"/>
          <a:ext cx="4226560" cy="21945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113280">
                  <a:extLst>
                    <a:ext uri="{9D8B030D-6E8A-4147-A177-3AD203B41FA5}">
                      <a16:colId xmlns:a16="http://schemas.microsoft.com/office/drawing/2014/main" val="1072204153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1441841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Possible 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30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“cloud”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33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“internet”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963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“computer”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765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“technology”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149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895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1395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3ECDF-AC06-5D5C-CAB3-C23FD756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E391E-6A3A-290A-E5AA-286908AC8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040"/>
            <a:ext cx="11115040" cy="63296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/>
              <a:t>In One Line</a:t>
            </a:r>
          </a:p>
          <a:p>
            <a:pPr algn="just"/>
            <a:r>
              <a:rPr lang="en-IN" sz="2000" b="1" dirty="0"/>
              <a:t>Prompt → Tokenization → Embeddings → Transformer + Attention → Next-token prediction → Repeat → Final response</a:t>
            </a:r>
          </a:p>
          <a:p>
            <a:pPr algn="just"/>
            <a:endParaRPr lang="en-IN" sz="2000" dirty="0"/>
          </a:p>
          <a:p>
            <a:pPr marL="0" indent="0" algn="just">
              <a:buNone/>
            </a:pPr>
            <a:r>
              <a:rPr lang="en-IN" sz="2000" b="1" dirty="0"/>
              <a:t>Important Point</a:t>
            </a:r>
          </a:p>
          <a:p>
            <a:pPr algn="just"/>
            <a:r>
              <a:rPr lang="en-IN" sz="2000" dirty="0"/>
              <a:t>An LLM does </a:t>
            </a:r>
            <a:r>
              <a:rPr lang="en-IN" sz="2000" b="1" dirty="0"/>
              <a:t>not simply search a database for a ready-made answer</a:t>
            </a:r>
            <a:r>
              <a:rPr lang="en-IN" sz="2000" dirty="0"/>
              <a:t>. It generates a response by using patterns learned during training and predicting what token should come next given the context.</a:t>
            </a:r>
          </a:p>
          <a:p>
            <a:pPr algn="just"/>
            <a:endParaRPr lang="en-IN" sz="2000" dirty="0"/>
          </a:p>
          <a:p>
            <a:pPr marL="0" indent="0" algn="just">
              <a:buNone/>
            </a:pPr>
            <a:r>
              <a:rPr lang="en-IN" sz="2000" b="1" dirty="0"/>
              <a:t>Example:</a:t>
            </a:r>
            <a:endParaRPr lang="en-IN" sz="2000" dirty="0"/>
          </a:p>
          <a:p>
            <a:pPr algn="just"/>
            <a:r>
              <a:rPr lang="en-IN" sz="2000" dirty="0"/>
              <a:t>User: “Artificial Intelligence is”</a:t>
            </a:r>
          </a:p>
          <a:p>
            <a:pPr algn="just"/>
            <a:r>
              <a:rPr lang="en-IN" sz="2000" dirty="0"/>
              <a:t>LLM might generate:</a:t>
            </a:r>
          </a:p>
          <a:p>
            <a:pPr algn="just"/>
            <a:r>
              <a:rPr lang="en-IN" sz="2000" dirty="0"/>
              <a:t>“Artificial Intelligence is a field of computer science that focuses on creating systems capable of performing tasks that normally require human intelligence.”</a:t>
            </a:r>
          </a:p>
          <a:p>
            <a:pPr algn="just"/>
            <a:r>
              <a:rPr lang="en-IN" sz="2000" dirty="0"/>
              <a:t>It produces this </a:t>
            </a:r>
            <a:r>
              <a:rPr lang="en-IN" sz="2000" b="1" dirty="0"/>
              <a:t>step by step, token by token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2055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Generative AI Examples and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345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Education: notes, explanations, quizzes and study guides.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Software: generate code, explain errors and create documentation.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Business: emails, reports and meeting summaries.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Design: images, product concepts and marketing content.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Customer support: conversational assistants.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Research: summarize and compare information — while checking factual accuracy.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What is Agentic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2000" dirty="0">
                <a:solidFill>
                  <a:srgbClr val="282828"/>
                </a:solidFill>
              </a:rPr>
              <a:t>Agentic AI refers to AI systems that can understand a goal, make decisions, plan steps, use tools, and take actions autonomously to achieve that goal.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2000" dirty="0">
                <a:solidFill>
                  <a:srgbClr val="282828"/>
                </a:solidFill>
              </a:rPr>
              <a:t>Generative AI creates content. Agentic AI takes action to achieve a goal.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lang="en-IN" sz="2000" dirty="0">
              <a:solidFill>
                <a:srgbClr val="282828"/>
              </a:solidFill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Example goal: “Plan a 3-day trip within my budget.”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The agent may search options, compare prices, calculate the budget, revise the plan and present an itinerary.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t>Key takeaway: Agentic AI = goal → plan → act → observe → adapt.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9AEF-F5B4-52F5-A094-0FB9D676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7ACC5-0B15-FCA2-2882-ACDB17B0AC57}"/>
              </a:ext>
            </a:extLst>
          </p:cNvPr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t>Key takeaway: Agentic AI = goal → plan → act → observe → adapt.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38EDB-9AC7-3246-163D-C5C70248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9440"/>
            <a:ext cx="11226800" cy="5628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Simple Example: </a:t>
            </a:r>
            <a:r>
              <a:rPr lang="en-IN" sz="2000" dirty="0"/>
              <a:t>Suppose you tell an AI agent: </a:t>
            </a:r>
            <a:r>
              <a:rPr lang="en-IN" sz="2000" b="1" dirty="0"/>
              <a:t>“Plan a trip to Goa for 3 days within ₹30,000.”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An </a:t>
            </a:r>
            <a:r>
              <a:rPr lang="en-IN" sz="2000" b="1" dirty="0"/>
              <a:t>Agentic AI system</a:t>
            </a:r>
            <a:r>
              <a:rPr lang="en-IN" sz="2000" dirty="0"/>
              <a:t> could:</a:t>
            </a:r>
          </a:p>
          <a:p>
            <a:pPr lvl="0"/>
            <a:r>
              <a:rPr lang="en-IN" sz="2000" dirty="0"/>
              <a:t>Understand your requirements. </a:t>
            </a:r>
          </a:p>
          <a:p>
            <a:pPr lvl="0"/>
            <a:r>
              <a:rPr lang="en-IN" sz="2000" dirty="0"/>
              <a:t>Search for suitable flights/trains. </a:t>
            </a:r>
          </a:p>
          <a:p>
            <a:pPr lvl="0"/>
            <a:r>
              <a:rPr lang="en-IN" sz="2000" dirty="0"/>
              <a:t>Find hotels within the budget. </a:t>
            </a:r>
          </a:p>
          <a:p>
            <a:pPr lvl="0"/>
            <a:r>
              <a:rPr lang="en-IN" sz="2000" dirty="0"/>
              <a:t>Compare prices. </a:t>
            </a:r>
          </a:p>
          <a:p>
            <a:pPr lvl="0"/>
            <a:r>
              <a:rPr lang="en-IN" sz="2000" dirty="0"/>
              <a:t>Create an itinerary. </a:t>
            </a:r>
          </a:p>
          <a:p>
            <a:pPr lvl="0"/>
            <a:r>
              <a:rPr lang="en-IN" sz="2000" dirty="0"/>
              <a:t>Calculate the total cost. </a:t>
            </a:r>
          </a:p>
          <a:p>
            <a:pPr lvl="0"/>
            <a:r>
              <a:rPr lang="en-IN" sz="2000" dirty="0"/>
              <a:t>Ask for your approval before making bookings. </a:t>
            </a:r>
          </a:p>
          <a:p>
            <a:pPr lvl="0"/>
            <a:r>
              <a:rPr lang="en-IN" sz="2000" dirty="0"/>
              <a:t>Make the booking if authorized. </a:t>
            </a:r>
          </a:p>
          <a:p>
            <a:pPr lvl="0"/>
            <a:r>
              <a:rPr lang="en-IN" sz="2000" dirty="0"/>
              <a:t>Send the final itinerary to you.</a:t>
            </a:r>
          </a:p>
          <a:p>
            <a:pPr lvl="0"/>
            <a:endParaRPr lang="en-IN" sz="2000" dirty="0"/>
          </a:p>
          <a:p>
            <a:pPr marL="0" lvl="0" indent="0">
              <a:buNone/>
            </a:pP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774094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Core Components of an AI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808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508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592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376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160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60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944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Observation/Feedback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Tools may include search, calendars, databases, code execution, email and document systems.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Example: AI Agent for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User goal: “Create a student management application.”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Step 1: Understand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Step 2: Plan the project structure.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Step 3: Create files and generate code.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Step 4: Build and run the application.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Step 5: Observe errors and test results.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Step 6: Fix problems and repeat until the task is 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t>Key takeaway: A normal GenAI system mainly generates the code; an agentic system can work through the broader workflow.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Generative AI vs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Generative AI</a:t>
            </a:r>
            <a:r>
              <a:rPr dirty="0"/>
              <a:t>: primarily generates content in response to a prompt.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Agentic AI</a:t>
            </a:r>
            <a:r>
              <a:rPr dirty="0"/>
              <a:t>: focuses on completing an objective through a sequence of decisions and actions.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GenAI example</a:t>
            </a:r>
            <a:r>
              <a:rPr dirty="0"/>
              <a:t>: “Write an email to students.”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Agentic example: </a:t>
            </a:r>
            <a:r>
              <a:rPr dirty="0"/>
              <a:t>“Organize the workshop” → check schedule, prepare announcement, create reminders and track progress.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Agentic systems often use Generative AI or LLMs as the reasoning/language component.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How GenAI and Agentic AI Work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760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508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LLM understands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44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Agent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Uses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1127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60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Observes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8968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96D2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2103120"/>
            <a:ext cx="1566672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26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33C"/>
                </a:solidFill>
              </a:defRPr>
            </a:pPr>
            <a:r>
              <a:t>Final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GenAI can provide language and reasoning capabilities; the agent layer adds workflows, tools, actions and feedback.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One Complete Example: Exam Preparation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GenAI request: </a:t>
            </a:r>
            <a:r>
              <a:rPr dirty="0"/>
              <a:t>“Create notes on Deep Learning.” → generates the requested notes.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Agentic goal: </a:t>
            </a:r>
            <a:r>
              <a:rPr dirty="0"/>
              <a:t>“Help me prepare for my AI exam.”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Agent workflow: </a:t>
            </a:r>
            <a:r>
              <a:rPr dirty="0" err="1"/>
              <a:t>analyse</a:t>
            </a:r>
            <a:r>
              <a:rPr dirty="0"/>
              <a:t> syllabus → create study plan → generate notes → create quizzes → evaluate answers → identify weak topics → give additional practice.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This demonstrates the shift from generating one answer to working toward a broader objective.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Complete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635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AI</a:t>
            </a:r>
            <a:r>
              <a:rPr dirty="0"/>
              <a:t>: Make machines perform intelligent tasks.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Machine Learning</a:t>
            </a:r>
            <a:r>
              <a:rPr dirty="0"/>
              <a:t>: Learn patterns from data.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Supervised Learning</a:t>
            </a:r>
            <a:r>
              <a:rPr dirty="0"/>
              <a:t>: Learn from labelled examples.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Unsupervised Learning</a:t>
            </a:r>
            <a:r>
              <a:rPr dirty="0"/>
              <a:t>: Discover hidden patterns in </a:t>
            </a:r>
            <a:r>
              <a:rPr dirty="0" err="1"/>
              <a:t>unlabelled</a:t>
            </a:r>
            <a:r>
              <a:rPr dirty="0"/>
              <a:t> data.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Reinforcement Learning</a:t>
            </a:r>
            <a:r>
              <a:rPr dirty="0"/>
              <a:t>: Learn through rewards and penalties.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Deep Learning</a:t>
            </a:r>
            <a:r>
              <a:rPr dirty="0"/>
              <a:t>: Learn complex patterns using multi-layer neural networks.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Generative AI</a:t>
            </a:r>
            <a:r>
              <a:rPr dirty="0"/>
              <a:t>: Create new text, images, code, audio and more.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rPr b="1" dirty="0"/>
              <a:t>Agentic AI</a:t>
            </a:r>
            <a:r>
              <a:rPr dirty="0"/>
              <a:t>: Plan and act across multiple steps to achieve a goal.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Quick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1. Which is broader: AI, ML or Deep Learning?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2. Give one classification and one regression example.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3. Why is image recognition commonly associated with Deep Learning?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4. What is the difference between supervised and unsupervised learning?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5. What is the main purpose of Generative AI?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6. Give one example where Agentic AI is more suitable than simple GenAI.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2B4"/>
                </a:solidFill>
              </a:defRPr>
            </a:pPr>
            <a:r>
              <a:t>Key takeaway: Discussion activity: Ask students to classify real applications as AI, ML, Deep Learning, GenAI or Agentic AI.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From Data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4DCFF"/>
                </a:solidFill>
              </a:defRPr>
            </a:pPr>
            <a:r>
              <a:t>AI → ML → Deep Learning → Generative AI → Agentic AI</a:t>
            </a:r>
          </a:p>
          <a:p>
            <a:pPr algn="ctr">
              <a:defRPr sz="1900">
                <a:solidFill>
                  <a:srgbClr val="FFFFFF"/>
                </a:solidFill>
              </a:defRPr>
            </a:pPr>
            <a:r>
              <a:t>Understand the problem. Choose the right AI approach. Evaluate the output responsibly.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3891</Words>
  <Application>Microsoft Office PowerPoint</Application>
  <PresentationFormat>Widescreen</PresentationFormat>
  <Paragraphs>649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Machine Learning</vt:lpstr>
      <vt:lpstr>PowerPoint Presentation</vt:lpstr>
      <vt:lpstr>PowerPoint Presentation</vt:lpstr>
      <vt:lpstr>PowerPoint Presentation</vt:lpstr>
      <vt:lpstr>PowerPoint Presentation</vt:lpstr>
      <vt:lpstr>Reinforcement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kiran</cp:lastModifiedBy>
  <cp:revision>70</cp:revision>
  <dcterms:created xsi:type="dcterms:W3CDTF">2013-01-27T09:14:16Z</dcterms:created>
  <dcterms:modified xsi:type="dcterms:W3CDTF">2026-09-07T05:19:35Z</dcterms:modified>
  <cp:category/>
</cp:coreProperties>
</file>