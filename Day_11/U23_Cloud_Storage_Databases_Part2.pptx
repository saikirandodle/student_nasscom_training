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1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clou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PHASE F — DATA ENGINEERING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Cloud Storage &amp; Databases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41248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Scaling, speed, reliability &amp; security  (Part 2 — finish)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415137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· caching · query tuning · multi-region · encryption · cost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U23  ·  Phase F  ·  25 slides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gau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'it works' to 'it works at scale'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of Part 1: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chose storage types and database models. </a:t>
            </a:r>
            <a:pPr algn="l" indent="0" marL="0">
              <a:lnSpc>
                <a:spcPct val="104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makes them fast, reliable, secure and affordable under real load.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25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sync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32369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58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vertical, horizontal, sharding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834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rocke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3236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2944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&amp; query tuning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120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97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23697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230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DR, multi-region, consistency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406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3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lo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2369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52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98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7516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IAM, governance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9692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69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tag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323697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38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784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9802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tiering &amp; right-sizing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548640" y="53218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levers — scale, speed, reliability, security — plus cost are what separate a prototype from a production data platform.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 (finish)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syn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MORE LOAD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Scaling databases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up, grow out, and split the data across machines.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&amp; Databases · Part 2 · Phase F  ·  03 / 25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gau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GROW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Vertical vs horizontal scaling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91440" cy="28346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UP (vertical)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machine: more CPU/RAM/disk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— no app changes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 a hardware ceiling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 remains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828800"/>
            <a:ext cx="91440" cy="28346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OUT (horizontal)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machines / nodes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near-limitless capacity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replication or sharding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moving parts to manage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by scaling up (cheap &amp; easy); scale out when you hit the ceiling or need fault tolerance.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 (finish)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exchan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THE READ LOAD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Read replicas &amp; read/write splitting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all writes to the primary; route the many read queries to replicas. Most apps read far more than they write.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3416808" cy="1828800"/>
          </a:xfrm>
          <a:prstGeom prst="roundRect">
            <a:avLst>
              <a:gd name="adj" fmla="val 4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946148" y="289864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0" name="Image 1" descr="ic_monito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596" y="305409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3611880"/>
            <a:ext cx="3233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58368" y="3941064"/>
            <a:ext cx="319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→ primary, reads → replicas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983736" y="2697480"/>
            <a:ext cx="3840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0"/>
          <p:cNvSpPr/>
          <p:nvPr/>
        </p:nvSpPr>
        <p:spPr>
          <a:xfrm>
            <a:off x="4386072" y="2697480"/>
            <a:ext cx="3416808" cy="1828800"/>
          </a:xfrm>
          <a:prstGeom prst="roundRect">
            <a:avLst>
              <a:gd name="adj" fmla="val 4000"/>
            </a:avLst>
          </a:prstGeom>
          <a:solidFill>
            <a:srgbClr val="2D6A9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83580" y="289864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6" name="Image 2" descr="ic_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028" y="305409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77512" y="3611880"/>
            <a:ext cx="3233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495800" y="3941064"/>
            <a:ext cx="319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writer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7821168" y="2697480"/>
            <a:ext cx="3840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5"/>
          <p:cNvSpPr/>
          <p:nvPr/>
        </p:nvSpPr>
        <p:spPr>
          <a:xfrm>
            <a:off x="8223504" y="2697480"/>
            <a:ext cx="3416808" cy="1828800"/>
          </a:xfrm>
          <a:prstGeom prst="roundRect">
            <a:avLst>
              <a:gd name="adj" fmla="val 4000"/>
            </a:avLst>
          </a:prstGeom>
          <a:solidFill>
            <a:srgbClr val="3AAFA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621012" y="289864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2" name="Image 3" descr="ic_lay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6460" y="3054096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14944" y="3611880"/>
            <a:ext cx="3233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333232" y="3941064"/>
            <a:ext cx="319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reads horizontally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replicas lag the primary slightly — a read just after a write may be stale (eventual consistency).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 (finish)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has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DATA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Sharding strategies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1672" cy="841248"/>
          </a:xfrm>
          <a:prstGeom prst="roundRect">
            <a:avLst>
              <a:gd name="adj" fmla="val 7609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69164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200400" y="1691640"/>
            <a:ext cx="8257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Contiguous key ranges per shard — great for range scans, risks hotspots on sequential keys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1109167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60604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200400" y="2606040"/>
            <a:ext cx="8257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the key to a shard — even spread, but range queries must hit every shard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520440"/>
            <a:ext cx="11091672" cy="841248"/>
          </a:xfrm>
          <a:prstGeom prst="roundRect">
            <a:avLst>
              <a:gd name="adj" fmla="val 7609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52044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/ entity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200400" y="3520440"/>
            <a:ext cx="8257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by region or tenant — keeps related data together, can skew by size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4434840"/>
            <a:ext cx="1109167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443484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200400" y="4434840"/>
            <a:ext cx="8257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lookup service maps keys → shards — flexible, but the directory is a dependency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48640" y="4709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shard key is the most important decision — it sets your spread, your range-query cost, and how painful re-sharding will be.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 (finish)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plu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EXHAUST THE DB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Connection pooling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 DB connection is expensive, and databases cap concurrent connections. Thousands of clients can overwhelm one.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97480"/>
            <a:ext cx="91440" cy="23774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connection pool…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 set of warm, reusable connections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them out and recycles them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total load on the database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PgBouncer, HikariCP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99632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697480"/>
            <a:ext cx="91440" cy="23774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0528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connection-storm outages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latency (no per-request handshake)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database load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serverless / many workers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 (finish)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rock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IT FAST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Performance &amp; caching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hot data from memory and make every query count.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&amp; Databases · Part 2 · Phase F  ·  08 / 25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trea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HOT DATA CLOSE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Caching patterns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frequently-read results in fast memory so most reads never touch the slow database.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615184" cy="2240280"/>
          </a:xfrm>
          <a:prstGeom prst="roundRect">
            <a:avLst>
              <a:gd name="adj" fmla="val 3673"/>
            </a:avLst>
          </a:prstGeom>
          <a:solidFill>
            <a:srgbClr val="F2F5F9"/>
          </a:solidFill>
          <a:ln/>
        </p:spPr>
      </p:sp>
      <p:sp>
        <p:nvSpPr>
          <p:cNvPr id="9" name="Shape 6"/>
          <p:cNvSpPr/>
          <p:nvPr/>
        </p:nvSpPr>
        <p:spPr>
          <a:xfrm>
            <a:off x="1472184" y="29809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exchang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318211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" y="38587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Cache-aside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94944" y="4169664"/>
            <a:ext cx="23225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checks cache, falls back to DB, then fills cache</a:t>
            </a:r>
            <a:endParaRPr lang="en-US" sz="1030" dirty="0"/>
          </a:p>
        </p:txBody>
      </p:sp>
      <p:sp>
        <p:nvSpPr>
          <p:cNvPr id="13" name="Shape 9"/>
          <p:cNvSpPr/>
          <p:nvPr/>
        </p:nvSpPr>
        <p:spPr>
          <a:xfrm>
            <a:off x="3346704" y="2743200"/>
            <a:ext cx="2615184" cy="2240280"/>
          </a:xfrm>
          <a:prstGeom prst="roundRect">
            <a:avLst>
              <a:gd name="adj" fmla="val 3673"/>
            </a:avLst>
          </a:prstGeom>
          <a:solidFill>
            <a:srgbClr val="F2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4270248" y="29809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5" name="Image 2" descr="ic_sync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318211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56432" y="38587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Write-through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3493008" y="4169664"/>
            <a:ext cx="23225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go to cache and DB together — always fresh</a:t>
            </a:r>
            <a:endParaRPr lang="en-US" sz="1030" dirty="0"/>
          </a:p>
        </p:txBody>
      </p:sp>
      <p:sp>
        <p:nvSpPr>
          <p:cNvPr id="18" name="Shape 13"/>
          <p:cNvSpPr/>
          <p:nvPr/>
        </p:nvSpPr>
        <p:spPr>
          <a:xfrm>
            <a:off x="6144768" y="2743200"/>
            <a:ext cx="2615184" cy="2240280"/>
          </a:xfrm>
          <a:prstGeom prst="roundRect">
            <a:avLst>
              <a:gd name="adj" fmla="val 3673"/>
            </a:avLst>
          </a:prstGeom>
          <a:solidFill>
            <a:srgbClr val="F2F5F9"/>
          </a:solidFill>
          <a:ln/>
        </p:spPr>
      </p:sp>
      <p:sp>
        <p:nvSpPr>
          <p:cNvPr id="19" name="Shape 14"/>
          <p:cNvSpPr/>
          <p:nvPr/>
        </p:nvSpPr>
        <p:spPr>
          <a:xfrm>
            <a:off x="7068312" y="29809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0" name="Image 3" descr="ic_history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3182112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54496" y="38587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Write-back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291072" y="4169664"/>
            <a:ext cx="23225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cache first, flush to DB later — fast but riskier</a:t>
            </a:r>
            <a:endParaRPr lang="en-US" sz="1030" dirty="0"/>
          </a:p>
        </p:txBody>
      </p:sp>
      <p:sp>
        <p:nvSpPr>
          <p:cNvPr id="23" name="Text 17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parts of caching are invalidation (when is cached data stale?) and the 'thundering herd' on a cache miss.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 (finish)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gau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CACHE TIER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In-memory stores (Redis)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91440" cy="28346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are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stores kept in RAM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sub-millisecond reads/writes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TTLs auto-expire stale entries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Redis, Memcached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828800"/>
            <a:ext cx="91440" cy="28346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/ page result caches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&amp; token storage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&amp; counters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leaderboards, queues, pub/sub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is volatile and limited — cache what's hot, set sensible TTLs, and never treat a cache as your source of truth.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 (finish)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QUERIES CHEAP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Query optimization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4708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7373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plan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use EXPLAIN to see scans vs index searches before guessing.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" y="24505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40864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what you filter &amp; join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right index turns an O(n) scan into an O(log n) lookup.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305409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9443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only needed columns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avoid SELECT * — less data moved, covering indexes possible.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" y="365760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5478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the N+1 query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join beats 1000 little look-ups in a loop.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66928" y="426110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4151376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 large results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LIMIT/OFFSET or keyset pagination instead of fetching everything.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 (finish)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ab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 THE ANSWER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Materialized views &amp; denormalization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storage and freshness for speed — precompute an expensive query and read the stored result.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97480"/>
            <a:ext cx="91440" cy="23774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Materialized view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result saved as a table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refreshed on a schedule or trigger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reads for dashboards/reports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as fresh as the last refresh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99632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697480"/>
            <a:ext cx="91440" cy="23774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Denormalization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0528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data to avoid joins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reads, more write work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update anomalies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NoSQL &amp; analytics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 (finish)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layergro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TABLE, MANY PIECES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partitioning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one big table into segments (often by date) on the SAME server — distinct from sharding across servers.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97480"/>
            <a:ext cx="91440" cy="23774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pruning: scan only relevant segments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old data by dropping a partition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maintenance (vacuum/index per part)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time-series data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99632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697480"/>
            <a:ext cx="91440" cy="23774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Sharding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0528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 = within one machine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 = across many machines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used together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by the column you filter on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 (finish)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glob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AT THE EDGE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CDNs &amp; edge caching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of edge servers that cache objects close to users, so static content loads fast and origin storage is offloaded.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3416808" cy="1828800"/>
          </a:xfrm>
          <a:prstGeom prst="roundRect">
            <a:avLst>
              <a:gd name="adj" fmla="val 4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946148" y="289864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0" name="Image 1" descr="ic_warehou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596" y="305409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3611880"/>
            <a:ext cx="3233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58368" y="3941064"/>
            <a:ext cx="319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(S3-style)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983736" y="2697480"/>
            <a:ext cx="3840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0"/>
          <p:cNvSpPr/>
          <p:nvPr/>
        </p:nvSpPr>
        <p:spPr>
          <a:xfrm>
            <a:off x="4386072" y="2697480"/>
            <a:ext cx="3416808" cy="1828800"/>
          </a:xfrm>
          <a:prstGeom prst="roundRect">
            <a:avLst>
              <a:gd name="adj" fmla="val 4000"/>
            </a:avLst>
          </a:prstGeom>
          <a:solidFill>
            <a:srgbClr val="2D6A9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83580" y="289864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6" name="Image 2" descr="ic_glob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028" y="305409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77512" y="3611880"/>
            <a:ext cx="3233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cache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495800" y="3941064"/>
            <a:ext cx="319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near users worldwide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7821168" y="2697480"/>
            <a:ext cx="3840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5"/>
          <p:cNvSpPr/>
          <p:nvPr/>
        </p:nvSpPr>
        <p:spPr>
          <a:xfrm>
            <a:off x="8223504" y="2697480"/>
            <a:ext cx="3416808" cy="1828800"/>
          </a:xfrm>
          <a:prstGeom prst="roundRect">
            <a:avLst>
              <a:gd name="adj" fmla="val 4000"/>
            </a:avLst>
          </a:prstGeom>
          <a:solidFill>
            <a:srgbClr val="3AAFA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621012" y="2898648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2" name="Image 3" descr="ic_monito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6460" y="3054096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14944" y="3611880"/>
            <a:ext cx="3233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333232" y="3941064"/>
            <a:ext cx="319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download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static, cacheable content (images, video, JS/CSS). Mind cache TTLs and invalidation on updates.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 (finish)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UP &amp; CORRECT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Reliability &amp; consistency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 failures across regions — and know what 'consistent' means.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&amp; Databases · Part 2 · Phase F  ·  15 / 25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histo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FAILURE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Backups &amp; disaster recovery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91440" cy="28346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toolkit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snapshots + point-in-time recovery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cross-region copies for disaster recovery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encrypted, with retention policies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restores regularly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828800"/>
            <a:ext cx="91440" cy="28346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with two numbers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 — how much data you can lose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— how fast you must be back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targets cost more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&amp; rehearse the runbook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protects against hardware failure; backups protect against mistakes &amp; corruption. You need both.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 (finish)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glob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 A REGION OUTAGE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Multi-region &amp; failover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 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more than one region so a single data-centre failure doesn't take you down — automatically failing over to a healthy region.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97480"/>
            <a:ext cx="91440" cy="23774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active-passive: standby region on hot reserve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active-active: serve from multiple regions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load balancing &amp; health checks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replicated across regions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99632" y="269748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697480"/>
            <a:ext cx="91440" cy="23774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862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10528" y="3300984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cross-region latency for writes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duplicated infrastructure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consistency guarantees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failover testing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 (finish)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READ SEE?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Consistency models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2194560"/>
            <a:ext cx="2615184" cy="246888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43230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check2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63347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331012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621024"/>
            <a:ext cx="23225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 sees the latest write — simplest to reason about, costs latency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2194560"/>
            <a:ext cx="2615184" cy="246888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43230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sync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63347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331012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621024"/>
            <a:ext cx="23225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 converge over time — fast &amp; available, reads may be stale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2194560"/>
            <a:ext cx="2615184" cy="246888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43230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sitema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63347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331012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621024"/>
            <a:ext cx="23225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operations seen in order — a useful middle ground</a:t>
            </a:r>
            <a:endParaRPr lang="en-US" sz="1030" dirty="0"/>
          </a:p>
        </p:txBody>
      </p:sp>
      <p:sp>
        <p:nvSpPr>
          <p:cNvPr id="21" name="Text 15"/>
          <p:cNvSpPr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CAP: under a partition you trade consistency for availability. Pick the weakest model your use case can tolerate.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 (finish)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914400"/>
            <a:ext cx="4297680" cy="457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19</a:t>
            </a:r>
            <a:endParaRPr lang="en-US" sz="19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IT DOWN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Security &amp; governance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data at rest and in motion, and control who can touch it.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&amp; Databases · Part 2 · Phase F  ·  19 / 25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DATA ITSELF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Encryption at rest &amp; in transit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91440" cy="28346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rest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on disk is encrypted (AES-256)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keys (KMS) or your own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stolen disks / snapshots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on by default in the cloud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828800"/>
            <a:ext cx="91440" cy="28346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transit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on every network hop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plaintext over the wire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certs; enforce HTTPS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between services too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is necessary but not sufficient — most breaches are bad access control, not broken crypto.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 (finish)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user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DO WHAT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Access control &amp; least privilege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4708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7373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grant the minimum permissions needed — nothing more, by default.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" y="24505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40864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over users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attach policies to roles/groups; assign roles to identities.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305409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9443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credentials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prefer temporary tokens to long-lived keys; rotate secrets.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" y="365760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5478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everything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log access; review who touched sensitive data and when.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66928" y="426110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4151376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environments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dev/stage/prod isolation so a mistake can't cascade.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 (finish)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gave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DATA HANDLING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Governance, PII &amp; compliance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828800"/>
            <a:ext cx="91440" cy="283464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data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sensitivity (PII, financial, health)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&amp; track lineage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/ tokenize sensitive fields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retention &amp; deletion policies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6199632" y="182880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2F5F9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99632" y="1828800"/>
            <a:ext cx="91440" cy="283464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99339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obligations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0528" y="2432304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regulations: GDPR, HIPAA, India DPDP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 / sovereignty rules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access &amp; be forgotten</a:t>
            </a:r>
            <a:endParaRPr lang="en-US" sz="1180" dirty="0"/>
          </a:p>
          <a:p>
            <a:pPr algn="l" marL="342900" indent="-3429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controls &amp; reporting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a shared responsibility: the cloud secures the infrastructure; you secure your data and access.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 (finish)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a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OVERPAY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Cost optimization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4708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7373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cold data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lifecycle rules move rarely-read data to cheaper storage classes.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" y="24505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40864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compute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match instance/DB size to real load; scale down off-peak.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305409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9443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egress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cross-region &amp; internet data transfer is a sneaky, large bill.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" y="365760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54787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to cut reads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fewer database/API hits = lower compute and I/O cost.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66928" y="426110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4151376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budgets &amp; alerts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tag resources and alarm on spend before the invoice surprises you.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 (finish)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THESE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Common pitfalls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80136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916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without invalidation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serving stale data because nothing expires or refreshes it.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66928" y="236829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25856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 too early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adding distributed complexity before a single node is actually maxed out.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" y="29352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825496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replicas are backups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bad write replicates instantly; keep real, tested backups.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35021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392424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egress &amp; idle cost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bill is dominated by transfer and over-provisioned, idle resources.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406908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395935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Over-permissive access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wildcard IAM policies and long-lived keys are the top breach cause.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66928" y="463600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" y="45262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consistency everywhere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paying latency for guarantees the use case never needed.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 (finish)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up first, out when you must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hot data; invalidate carefully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&amp; read the query plan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for DR; mind consistency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+ least-privilege + tier costs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/ SELF-PACED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read replica and route reads to it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 Redis cache in front of a hot query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 slow query; add an index; re-measure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lifecycle rule to archive old objects</a:t>
            </a:r>
            <a:endParaRPr lang="en-US" sz="1100" dirty="0"/>
          </a:p>
          <a:p>
            <a:pPr algn="l"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an IAM policy for least privilege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33172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39419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979408" y="22860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AI Pipelines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94192" y="3410712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8394192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979408" y="336499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models from notebook to production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1" descr="ic_clou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5586984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algn="l"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data systems are about trade-offs — scale, speed, consistency, durability, security and cost are dials you tune for the workload, not absolutes.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 · Cloud Storage &amp; Databases (finish)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2026-06-12T10:39:12Z</dcterms:created>
  <dcterms:modified xsi:type="dcterms:W3CDTF">2026-06-12T10:39:12Z</dcterms:modified>
</cp:coreProperties>
</file>