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solidFill>
              <a:srgbClr val="2D6A9F"/>
            </a:solidFill>
            <a:ln w="38100" cap="flat">
              <a:solidFill>
                <a:srgbClr val="2D6A9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108</c:v>
                </c:pt>
                <c:pt idx="1">
                  <c:v>58</c:v>
                </c:pt>
                <c:pt idx="2">
                  <c:v>41.333333333333336</c:v>
                </c:pt>
                <c:pt idx="3">
                  <c:v>33</c:v>
                </c:pt>
                <c:pt idx="4">
                  <c:v>28</c:v>
                </c:pt>
                <c:pt idx="5">
                  <c:v>24.666666666666668</c:v>
                </c:pt>
                <c:pt idx="6">
                  <c:v>22.285714285714285</c:v>
                </c:pt>
                <c:pt idx="7">
                  <c:v>20.5</c:v>
                </c:pt>
                <c:pt idx="8">
                  <c:v>19.11111111111111</c:v>
                </c:pt>
                <c:pt idx="9">
                  <c:v>18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</c:v>
                </c:pt>
              </c:strCache>
            </c:strRef>
          </c:tx>
          <c:spPr>
            <a:solidFill>
              <a:srgbClr val="3AAF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0.41</c:v>
                </c:pt>
                <c:pt idx="1">
                  <c:v>0.62</c:v>
                </c:pt>
                <c:pt idx="2">
                  <c:v>0.55</c:v>
                </c:pt>
                <c:pt idx="3">
                  <c:v>0.48</c:v>
                </c:pt>
                <c:pt idx="4">
                  <c:v>0.4</c:v>
                </c:pt>
                <c:pt idx="5">
                  <c:v>0.36</c:v>
                </c:pt>
                <c:pt idx="6">
                  <c:v>0.33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3.png"/><Relationship Id="rId6" Type="http://schemas.openxmlformats.org/officeDocument/2006/relationships/image" Target="../media/image-6-6.png"/><Relationship Id="rId7" Type="http://schemas.openxmlformats.org/officeDocument/2006/relationships/image" Target="../media/image-6-3.png"/><Relationship Id="rId8" Type="http://schemas.openxmlformats.org/officeDocument/2006/relationships/image" Target="../media/image-6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2.png"/><Relationship Id="rId4" Type="http://schemas.openxmlformats.org/officeDocument/2006/relationships/image" Target="../media/image-18-2.png"/><Relationship Id="rId5" Type="http://schemas.openxmlformats.org/officeDocument/2006/relationships/image" Target="../media/image-1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brail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9  ·  PHASE E — UNSUPERVISED LEARNING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Clustering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1 — </a:t>
            </a:r>
            <a:pPr algn="l" indent="0" marL="0">
              <a:buNone/>
            </a:pPr>
            <a:r>
              <a:rPr lang="en-US" sz="22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k-means, choosing k, and evaluating clusters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· inertia · the elbow &amp; silhouette · assumptions · alternatives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U18  ·  Phase E  ·  22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rail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Finding natural groups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data into groups of similar items with no labels. We focus on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most widely used algorithm — then how to choose k and judge the result.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brail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crosshai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&amp; k-means++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sear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&amp; silhouette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shape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alternatives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objgroup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the clusters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U17: clustering is the flagship unsupervised task, and it lives or dies by scaling.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(Part 1)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brail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k-means clustering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points to the nearest centre, move the centres, repeat.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Part 1 · Phase E  ·  01 / 22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obj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SIMILARITY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clustering?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algn="l"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data so points in a group are similar to each other and different from other groups.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1472184" y="28437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objgro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0449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7216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94944" y="403250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market groups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3346704" y="260604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0248" y="28437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searchlo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04495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7216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493008" y="403250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or far-off clusters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6144768" y="260604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8312" y="28437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vecto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304495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37216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91072" y="403250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points by their centre</a:t>
            </a:r>
            <a:endParaRPr lang="en-US" sz="1030" dirty="0"/>
          </a:p>
        </p:txBody>
      </p:sp>
      <p:sp>
        <p:nvSpPr>
          <p:cNvPr id="23" name="Shape 17"/>
          <p:cNvSpPr/>
          <p:nvPr/>
        </p:nvSpPr>
        <p:spPr>
          <a:xfrm>
            <a:off x="8942832" y="260604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9866376" y="28437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bulb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304495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37216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089136" y="403250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hidden structure</a:t>
            </a:r>
            <a:endParaRPr lang="en-US" sz="1030" dirty="0"/>
          </a:p>
        </p:txBody>
      </p:sp>
      <p:sp>
        <p:nvSpPr>
          <p:cNvPr id="28" name="Text 21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answers: 'what natural groups exist here?' — without anyone labelling them first.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(Part 1)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rosshai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k-means: centres &amp; assignments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k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decide how many clusters you want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cluster has a centre point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point joins its nearest centroid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points close to their own centre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5422392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7066832" y="2532308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6" name="Shape 13"/>
          <p:cNvSpPr/>
          <p:nvPr/>
        </p:nvSpPr>
        <p:spPr>
          <a:xfrm>
            <a:off x="6884681" y="2318679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7" name="Shape 14"/>
          <p:cNvSpPr/>
          <p:nvPr/>
        </p:nvSpPr>
        <p:spPr>
          <a:xfrm>
            <a:off x="7567166" y="2339953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8" name="Shape 15"/>
          <p:cNvSpPr/>
          <p:nvPr/>
        </p:nvSpPr>
        <p:spPr>
          <a:xfrm>
            <a:off x="7235814" y="2720308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9" name="Shape 16"/>
          <p:cNvSpPr/>
          <p:nvPr/>
        </p:nvSpPr>
        <p:spPr>
          <a:xfrm>
            <a:off x="7402209" y="2652588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0" name="Shape 17"/>
          <p:cNvSpPr/>
          <p:nvPr/>
        </p:nvSpPr>
        <p:spPr>
          <a:xfrm>
            <a:off x="7156465" y="2857024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1" name="Shape 18"/>
          <p:cNvSpPr/>
          <p:nvPr/>
        </p:nvSpPr>
        <p:spPr>
          <a:xfrm>
            <a:off x="7657951" y="2675475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2" name="Shape 19"/>
          <p:cNvSpPr/>
          <p:nvPr/>
        </p:nvSpPr>
        <p:spPr>
          <a:xfrm>
            <a:off x="7908729" y="2865423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3" name="Shape 20"/>
          <p:cNvSpPr/>
          <p:nvPr/>
        </p:nvSpPr>
        <p:spPr>
          <a:xfrm>
            <a:off x="7263076" y="3029502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4" name="Shape 21"/>
          <p:cNvSpPr/>
          <p:nvPr/>
        </p:nvSpPr>
        <p:spPr>
          <a:xfrm>
            <a:off x="7540760" y="2733088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5" name="Shape 22"/>
          <p:cNvSpPr/>
          <p:nvPr/>
        </p:nvSpPr>
        <p:spPr>
          <a:xfrm>
            <a:off x="7611763" y="2286626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6" name="Shape 23"/>
          <p:cNvSpPr/>
          <p:nvPr/>
        </p:nvSpPr>
        <p:spPr>
          <a:xfrm>
            <a:off x="7094521" y="2186826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7" name="Shape 24"/>
          <p:cNvSpPr/>
          <p:nvPr/>
        </p:nvSpPr>
        <p:spPr>
          <a:xfrm>
            <a:off x="7280483" y="2222588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8" name="Shape 25"/>
          <p:cNvSpPr/>
          <p:nvPr/>
        </p:nvSpPr>
        <p:spPr>
          <a:xfrm>
            <a:off x="6907551" y="2257314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9" name="Text 26"/>
          <p:cNvSpPr/>
          <p:nvPr/>
        </p:nvSpPr>
        <p:spPr>
          <a:xfrm>
            <a:off x="7150608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900" dirty="0"/>
          </a:p>
        </p:txBody>
      </p:sp>
      <p:sp>
        <p:nvSpPr>
          <p:cNvPr id="30" name="Shape 27"/>
          <p:cNvSpPr/>
          <p:nvPr/>
        </p:nvSpPr>
        <p:spPr>
          <a:xfrm>
            <a:off x="9515920" y="2675957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Shape 28"/>
          <p:cNvSpPr/>
          <p:nvPr/>
        </p:nvSpPr>
        <p:spPr>
          <a:xfrm>
            <a:off x="9742239" y="248509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Shape 29"/>
          <p:cNvSpPr/>
          <p:nvPr/>
        </p:nvSpPr>
        <p:spPr>
          <a:xfrm>
            <a:off x="9849931" y="311277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Shape 30"/>
          <p:cNvSpPr/>
          <p:nvPr/>
        </p:nvSpPr>
        <p:spPr>
          <a:xfrm>
            <a:off x="9985752" y="2820495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Shape 31"/>
          <p:cNvSpPr/>
          <p:nvPr/>
        </p:nvSpPr>
        <p:spPr>
          <a:xfrm>
            <a:off x="9195789" y="285004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Shape 32"/>
          <p:cNvSpPr/>
          <p:nvPr/>
        </p:nvSpPr>
        <p:spPr>
          <a:xfrm>
            <a:off x="9519945" y="2170752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6" name="Shape 33"/>
          <p:cNvSpPr/>
          <p:nvPr/>
        </p:nvSpPr>
        <p:spPr>
          <a:xfrm>
            <a:off x="10180417" y="295572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7" name="Shape 34"/>
          <p:cNvSpPr/>
          <p:nvPr/>
        </p:nvSpPr>
        <p:spPr>
          <a:xfrm>
            <a:off x="9694972" y="264688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8" name="Shape 35"/>
          <p:cNvSpPr/>
          <p:nvPr/>
        </p:nvSpPr>
        <p:spPr>
          <a:xfrm>
            <a:off x="9971433" y="2784061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9" name="Shape 36"/>
          <p:cNvSpPr/>
          <p:nvPr/>
        </p:nvSpPr>
        <p:spPr>
          <a:xfrm>
            <a:off x="9307435" y="2411071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0" name="Shape 37"/>
          <p:cNvSpPr/>
          <p:nvPr/>
        </p:nvSpPr>
        <p:spPr>
          <a:xfrm>
            <a:off x="9258588" y="221089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1" name="Shape 38"/>
          <p:cNvSpPr/>
          <p:nvPr/>
        </p:nvSpPr>
        <p:spPr>
          <a:xfrm>
            <a:off x="9223194" y="2270457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2" name="Shape 39"/>
          <p:cNvSpPr/>
          <p:nvPr/>
        </p:nvSpPr>
        <p:spPr>
          <a:xfrm>
            <a:off x="10140487" y="252766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3" name="Shape 40"/>
          <p:cNvSpPr/>
          <p:nvPr/>
        </p:nvSpPr>
        <p:spPr>
          <a:xfrm>
            <a:off x="9471598" y="288318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4" name="Text 41"/>
          <p:cNvSpPr/>
          <p:nvPr/>
        </p:nvSpPr>
        <p:spPr>
          <a:xfrm>
            <a:off x="9619488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900" dirty="0"/>
          </a:p>
        </p:txBody>
      </p:sp>
      <p:sp>
        <p:nvSpPr>
          <p:cNvPr id="45" name="Shape 42"/>
          <p:cNvSpPr/>
          <p:nvPr/>
        </p:nvSpPr>
        <p:spPr>
          <a:xfrm>
            <a:off x="8860188" y="4257059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6" name="Shape 43"/>
          <p:cNvSpPr/>
          <p:nvPr/>
        </p:nvSpPr>
        <p:spPr>
          <a:xfrm>
            <a:off x="8320932" y="3915113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7" name="Shape 44"/>
          <p:cNvSpPr/>
          <p:nvPr/>
        </p:nvSpPr>
        <p:spPr>
          <a:xfrm>
            <a:off x="8352801" y="4267528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8" name="Shape 45"/>
          <p:cNvSpPr/>
          <p:nvPr/>
        </p:nvSpPr>
        <p:spPr>
          <a:xfrm>
            <a:off x="8089935" y="3501308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9" name="Shape 46"/>
          <p:cNvSpPr/>
          <p:nvPr/>
        </p:nvSpPr>
        <p:spPr>
          <a:xfrm>
            <a:off x="8999891" y="4348364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0" name="Shape 47"/>
          <p:cNvSpPr/>
          <p:nvPr/>
        </p:nvSpPr>
        <p:spPr>
          <a:xfrm>
            <a:off x="8675877" y="4138874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1" name="Shape 48"/>
          <p:cNvSpPr/>
          <p:nvPr/>
        </p:nvSpPr>
        <p:spPr>
          <a:xfrm>
            <a:off x="8497396" y="3630323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2" name="Shape 49"/>
          <p:cNvSpPr/>
          <p:nvPr/>
        </p:nvSpPr>
        <p:spPr>
          <a:xfrm>
            <a:off x="9007442" y="3431182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3" name="Shape 50"/>
          <p:cNvSpPr/>
          <p:nvPr/>
        </p:nvSpPr>
        <p:spPr>
          <a:xfrm>
            <a:off x="8459626" y="4112668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4" name="Shape 51"/>
          <p:cNvSpPr/>
          <p:nvPr/>
        </p:nvSpPr>
        <p:spPr>
          <a:xfrm>
            <a:off x="8101370" y="3973545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5" name="Shape 52"/>
          <p:cNvSpPr/>
          <p:nvPr/>
        </p:nvSpPr>
        <p:spPr>
          <a:xfrm>
            <a:off x="8739828" y="3510526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6" name="Shape 53"/>
          <p:cNvSpPr/>
          <p:nvPr/>
        </p:nvSpPr>
        <p:spPr>
          <a:xfrm>
            <a:off x="8100289" y="3518348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7" name="Shape 54"/>
          <p:cNvSpPr/>
          <p:nvPr/>
        </p:nvSpPr>
        <p:spPr>
          <a:xfrm>
            <a:off x="8486817" y="3860414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8" name="Shape 55"/>
          <p:cNvSpPr/>
          <p:nvPr/>
        </p:nvSpPr>
        <p:spPr>
          <a:xfrm>
            <a:off x="8593286" y="3915837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9" name="Text 56"/>
          <p:cNvSpPr/>
          <p:nvPr/>
        </p:nvSpPr>
        <p:spPr>
          <a:xfrm>
            <a:off x="843076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900" dirty="0"/>
          </a:p>
        </p:txBody>
      </p:sp>
      <p:sp>
        <p:nvSpPr>
          <p:cNvPr id="60" name="Text 57"/>
          <p:cNvSpPr/>
          <p:nvPr/>
        </p:nvSpPr>
        <p:spPr>
          <a:xfrm>
            <a:off x="6217920" y="461772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= centroid (cluster centre)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(Part 1)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ircnot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k-means algorithm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90472" y="2066544"/>
            <a:ext cx="731520" cy="73152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crosshai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08" y="2249424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92608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INITIALISE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94944" y="329184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k centroids</a:t>
            </a:r>
            <a:endParaRPr lang="en-US" sz="1050" dirty="0"/>
          </a:p>
        </p:txBody>
      </p:sp>
      <p:pic>
        <p:nvPicPr>
          <p:cNvPr id="11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843784"/>
            <a:ext cx="146304" cy="14630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346704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3" name="Shape 8"/>
          <p:cNvSpPr/>
          <p:nvPr/>
        </p:nvSpPr>
        <p:spPr>
          <a:xfrm>
            <a:off x="4288536" y="2066544"/>
            <a:ext cx="731520" cy="73152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4" name="Image 3" descr="ic_objgrou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249424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438144" y="292608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ASSIGN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3493008" y="329184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→ nearest centroid</a:t>
            </a:r>
            <a:endParaRPr lang="en-US" sz="1050" dirty="0"/>
          </a:p>
        </p:txBody>
      </p:sp>
      <p:pic>
        <p:nvPicPr>
          <p:cNvPr id="17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2843784"/>
            <a:ext cx="146304" cy="14630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144768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9" name="Shape 12"/>
          <p:cNvSpPr/>
          <p:nvPr/>
        </p:nvSpPr>
        <p:spPr>
          <a:xfrm>
            <a:off x="7086600" y="2066544"/>
            <a:ext cx="731520" cy="73152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5" descr="ic_magne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0336" y="2249424"/>
            <a:ext cx="384048" cy="3840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236208" y="292608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UPDATE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6291072" y="329184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centroid to its points' mean</a:t>
            </a:r>
            <a:endParaRPr lang="en-US" sz="1050" dirty="0"/>
          </a:p>
        </p:txBody>
      </p:sp>
      <p:pic>
        <p:nvPicPr>
          <p:cNvPr id="23" name="Image 6" descr="ic_arrow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2843784"/>
            <a:ext cx="146304" cy="146304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8942832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25" name="Shape 16"/>
          <p:cNvSpPr/>
          <p:nvPr/>
        </p:nvSpPr>
        <p:spPr>
          <a:xfrm>
            <a:off x="9884664" y="2066544"/>
            <a:ext cx="731520" cy="73152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6" name="Image 7" descr="ic_circnotch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2249424"/>
            <a:ext cx="384048" cy="38404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034272" y="292608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REPEAT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9089136" y="329184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assignments stop changing</a:t>
            </a:r>
            <a:endParaRPr lang="en-US" sz="1050" dirty="0"/>
          </a:p>
        </p:txBody>
      </p:sp>
      <p:sp>
        <p:nvSpPr>
          <p:cNvPr id="29" name="Shape 19"/>
          <p:cNvSpPr/>
          <p:nvPr/>
        </p:nvSpPr>
        <p:spPr>
          <a:xfrm>
            <a:off x="548640" y="429768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6263F"/>
          </a:solidFill>
          <a:ln/>
        </p:spPr>
      </p:sp>
      <p:sp>
        <p:nvSpPr>
          <p:cNvPr id="30" name="Text 20"/>
          <p:cNvSpPr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2–3 alternate:  </a:t>
            </a:r>
            <a:pPr algn="l" indent="0" marL="0">
              <a:buNone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assign, then update, then assign again — each pass lowers the total within-cluster distance.</a:t>
            </a:r>
            <a:endParaRPr lang="en-US" sz="1250" dirty="0"/>
          </a:p>
        </p:txBody>
      </p:sp>
      <p:sp>
        <p:nvSpPr>
          <p:cNvPr id="31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(Part 1)</a:t>
            </a:r>
            <a:endParaRPr lang="en-US" sz="950" dirty="0"/>
          </a:p>
        </p:txBody>
      </p:sp>
      <p:sp>
        <p:nvSpPr>
          <p:cNvPr id="32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rosshai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k-MEANS MINIMISES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Inertia (within-cluster sum of squares)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837944"/>
            <a:ext cx="10725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Inertia = Σ Σ ‖ xᵢ − μ_c ‖²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368296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squared distance from every point to its own cluster centre μ_c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31729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3063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tighter, more compact clusters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38313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37216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assign + update can only reduce it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66928" y="448970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437997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minima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result depends on initialisation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66928" y="514807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503834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always falls as k rises — don't just minimise it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(Part 1)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rosshai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START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Initialisation with k-means++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random starts can give poor clusters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spread initial centroids far apart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faster, more reliable convergence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 several times (n_init), keep the best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828800"/>
            <a:ext cx="5422392" cy="1234440"/>
          </a:xfrm>
          <a:prstGeom prst="roundRect">
            <a:avLst>
              <a:gd name="adj" fmla="val 7407"/>
            </a:avLst>
          </a:prstGeom>
          <a:solidFill>
            <a:srgbClr val="FBEA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5080" y="19385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init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355080" y="2377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can clump → bad local minimum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17920" y="3246120"/>
            <a:ext cx="542239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2E6B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33558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355080" y="3794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spread → reliable clusters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217920" y="466344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uses k-means++ by default.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(Part 1)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&amp; EVALUATING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many clusters?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is a choice you must make — here's how to make it well.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Part 1 · Phase E  ·  02 / 22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k, METHOD 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elbow method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inertia vs k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fast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then flattens out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elbow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bend = diminishing returns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 at the elbow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vs k — look for the bend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7635240" y="3063240"/>
            <a:ext cx="457200" cy="457200"/>
          </a:xfrm>
          <a:prstGeom prst="ellipse">
            <a:avLst/>
          </a:prstGeom>
          <a:ln w="31750">
            <a:solidFill>
              <a:srgbClr val="C0392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31520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≈ k=3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(Part 1)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ul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k, METHOD 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silhouette method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point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well it fits its cluster vs the next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−1 (wrong) to +1 (perfect)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mean silhouette across all points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 with the highest average silhouette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silhouette vs k — pick the peak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6217920" y="464515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at k=3 → best-separated clusters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(Part 1)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ul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CLUSTERS (NO LABELS)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Internal evaluation metrics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615184" cy="2103120"/>
          </a:xfrm>
          <a:prstGeom prst="roundRect">
            <a:avLst>
              <a:gd name="adj" fmla="val 391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2615184" cy="512064"/>
          </a:xfrm>
          <a:prstGeom prst="roundRect">
            <a:avLst>
              <a:gd name="adj" fmla="val 16071"/>
            </a:avLst>
          </a:prstGeom>
          <a:solidFill>
            <a:srgbClr val="16263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737360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4944" y="235915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… +1, higher better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" y="2852928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2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 vs separation per point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3346704" y="1737360"/>
            <a:ext cx="2615184" cy="2103120"/>
          </a:xfrm>
          <a:prstGeom prst="roundRect">
            <a:avLst>
              <a:gd name="adj" fmla="val 3913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3346704" y="1737360"/>
            <a:ext cx="2615184" cy="512064"/>
          </a:xfrm>
          <a:prstGeom prst="roundRect">
            <a:avLst>
              <a:gd name="adj" fmla="val 16071"/>
            </a:avLst>
          </a:prstGeom>
          <a:solidFill>
            <a:srgbClr val="16263F"/>
          </a:solidFill>
          <a:ln/>
        </p:spPr>
      </p:sp>
      <p:sp>
        <p:nvSpPr>
          <p:cNvPr id="13" name="Text 10"/>
          <p:cNvSpPr/>
          <p:nvPr/>
        </p:nvSpPr>
        <p:spPr>
          <a:xfrm>
            <a:off x="3346704" y="1737360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Davies–Bouldin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493008" y="235915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93008" y="2852928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2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similarity to the closest cluster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6144768" y="1737360"/>
            <a:ext cx="2615184" cy="2103120"/>
          </a:xfrm>
          <a:prstGeom prst="roundRect">
            <a:avLst>
              <a:gd name="adj" fmla="val 3913"/>
            </a:avLst>
          </a:prstGeom>
          <a:solidFill>
            <a:srgbClr val="F2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6144768" y="1737360"/>
            <a:ext cx="2615184" cy="512064"/>
          </a:xfrm>
          <a:prstGeom prst="roundRect">
            <a:avLst>
              <a:gd name="adj" fmla="val 16071"/>
            </a:avLst>
          </a:prstGeom>
          <a:solidFill>
            <a:srgbClr val="16263F"/>
          </a:solidFill>
          <a:ln/>
        </p:spPr>
      </p:sp>
      <p:sp>
        <p:nvSpPr>
          <p:cNvPr id="18" name="Text 15"/>
          <p:cNvSpPr/>
          <p:nvPr/>
        </p:nvSpPr>
        <p:spPr>
          <a:xfrm>
            <a:off x="6144768" y="1737360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Calinski–Harabasz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291072" y="235915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91072" y="2852928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2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between- vs within-cluster spread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8942832" y="1737360"/>
            <a:ext cx="2615184" cy="2103120"/>
          </a:xfrm>
          <a:prstGeom prst="roundRect">
            <a:avLst>
              <a:gd name="adj" fmla="val 3913"/>
            </a:avLst>
          </a:prstGeom>
          <a:solidFill>
            <a:srgbClr val="F2F5F9"/>
          </a:solidFill>
          <a:ln/>
        </p:spPr>
      </p:sp>
      <p:sp>
        <p:nvSpPr>
          <p:cNvPr id="22" name="Shape 19"/>
          <p:cNvSpPr/>
          <p:nvPr/>
        </p:nvSpPr>
        <p:spPr>
          <a:xfrm>
            <a:off x="8942832" y="1737360"/>
            <a:ext cx="2615184" cy="512064"/>
          </a:xfrm>
          <a:prstGeom prst="roundRect">
            <a:avLst>
              <a:gd name="adj" fmla="val 16071"/>
            </a:avLst>
          </a:prstGeom>
          <a:solidFill>
            <a:srgbClr val="16263F"/>
          </a:solidFill>
          <a:ln/>
        </p:spPr>
      </p:sp>
      <p:sp>
        <p:nvSpPr>
          <p:cNvPr id="23" name="Text 20"/>
          <p:cNvSpPr/>
          <p:nvPr/>
        </p:nvSpPr>
        <p:spPr>
          <a:xfrm>
            <a:off x="8942832" y="1737360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089136" y="235915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only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089136" y="2852928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2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the elbow, not absolute quality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need no labels — they score geometry. Pair them with a sanity check that the clusters mean something.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(Part 1)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hap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&amp; ALTERNATIVES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When k-means struggles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fast and simple — but it makes strong assumptions. Know them.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Part 1 · Phase E  ·  03 / 22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k-means assumptions &amp; failures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shap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157984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79806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94944" y="3145536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round, blob-like clusters</a:t>
            </a:r>
            <a:endParaRPr lang="en-US" sz="980" dirty="0"/>
          </a:p>
        </p:txBody>
      </p:sp>
      <p:sp>
        <p:nvSpPr>
          <p:cNvPr id="11" name="Shape 7"/>
          <p:cNvSpPr/>
          <p:nvPr/>
        </p:nvSpPr>
        <p:spPr>
          <a:xfrm>
            <a:off x="3346704" y="173736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objgrou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157984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38144" y="279806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size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3493008" y="3145536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very uneven clusters</a:t>
            </a:r>
            <a:endParaRPr lang="en-US" sz="980" dirty="0"/>
          </a:p>
        </p:txBody>
      </p:sp>
      <p:sp>
        <p:nvSpPr>
          <p:cNvPr id="16" name="Shape 11"/>
          <p:cNvSpPr/>
          <p:nvPr/>
        </p:nvSpPr>
        <p:spPr>
          <a:xfrm>
            <a:off x="6144768" y="173736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sear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157984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36208" y="279806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pick k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291072" y="3145536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number up front</a:t>
            </a:r>
            <a:endParaRPr lang="en-US" sz="980" dirty="0"/>
          </a:p>
        </p:txBody>
      </p:sp>
      <p:sp>
        <p:nvSpPr>
          <p:cNvPr id="21" name="Shape 15"/>
          <p:cNvSpPr/>
          <p:nvPr/>
        </p:nvSpPr>
        <p:spPr>
          <a:xfrm>
            <a:off x="8942832" y="173736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war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157984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34272" y="279806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Outlier-sensitive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9089136" y="3145536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points drag centroids</a:t>
            </a:r>
            <a:endParaRPr lang="en-US" sz="980" dirty="0"/>
          </a:p>
        </p:txBody>
      </p:sp>
      <p:sp>
        <p:nvSpPr>
          <p:cNvPr id="26" name="Shape 19"/>
          <p:cNvSpPr/>
          <p:nvPr/>
        </p:nvSpPr>
        <p:spPr>
          <a:xfrm>
            <a:off x="548640" y="40690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069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Tell-tale sign: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clusters are crescents, rings or chains, k-means will cut them wrongly — reach for DBSCAN or hierarchical instead.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(Part 1)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mparrow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SKIP THIS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 scaling for clustering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k-means uses Euclidean distance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big-range feature dominates the clusters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StandardScaler before fitting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feature gets a fair say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5422392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192024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scaling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00800" y="2423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Unscaled:  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(₹) decides every cluster; age ignored.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0" y="32918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Scaled:  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tenure &amp; salary all contribute → meaningful segments.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(Part 1)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rojdi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Hierarchical clustering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merge nearest groups step by step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dendrogram (tree of merges)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cut the tree at a height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need to pre-pick k; shows hierarchy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5422392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766560" y="4434840"/>
            <a:ext cx="0" cy="-320040"/>
          </a:xfrm>
          <a:prstGeom prst="line">
            <a:avLst/>
          </a:prstGeom>
          <a:noFill/>
          <a:ln w="25400">
            <a:solidFill>
              <a:srgbClr val="2D6A9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0" y="4434840"/>
            <a:ext cx="0" cy="-320040"/>
          </a:xfrm>
          <a:prstGeom prst="line">
            <a:avLst/>
          </a:prstGeom>
          <a:noFill/>
          <a:ln w="25400">
            <a:solidFill>
              <a:srgbClr val="2D6A9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0" y="4434840"/>
            <a:ext cx="0" cy="-320040"/>
          </a:xfrm>
          <a:prstGeom prst="line">
            <a:avLst/>
          </a:prstGeom>
          <a:noFill/>
          <a:ln w="25400">
            <a:solidFill>
              <a:srgbClr val="2D6A9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61120" y="4434840"/>
            <a:ext cx="0" cy="-320040"/>
          </a:xfrm>
          <a:prstGeom prst="line">
            <a:avLst/>
          </a:prstGeom>
          <a:noFill/>
          <a:ln w="25400">
            <a:solidFill>
              <a:srgbClr val="2D6A9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92640" y="4434840"/>
            <a:ext cx="0" cy="-320040"/>
          </a:xfrm>
          <a:prstGeom prst="line">
            <a:avLst/>
          </a:prstGeom>
          <a:noFill/>
          <a:ln w="25400">
            <a:solidFill>
              <a:srgbClr val="2D6A9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424160" y="4434840"/>
            <a:ext cx="0" cy="-320040"/>
          </a:xfrm>
          <a:prstGeom prst="line">
            <a:avLst/>
          </a:prstGeom>
          <a:noFill/>
          <a:ln w="25400">
            <a:solidFill>
              <a:srgbClr val="2D6A9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155680" y="4434840"/>
            <a:ext cx="0" cy="-320040"/>
          </a:xfrm>
          <a:prstGeom prst="line">
            <a:avLst/>
          </a:prstGeom>
          <a:noFill/>
          <a:ln w="25400">
            <a:solidFill>
              <a:srgbClr val="2D6A9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66560" y="4114800"/>
            <a:ext cx="0" cy="-27432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98080" y="4114800"/>
            <a:ext cx="0" cy="-27432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66560" y="3840480"/>
            <a:ext cx="731520" cy="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29600" y="4114800"/>
            <a:ext cx="0" cy="-22860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61120" y="4114800"/>
            <a:ext cx="0" cy="-22860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0" y="3886200"/>
            <a:ext cx="731520" cy="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692640" y="4114800"/>
            <a:ext cx="0" cy="-27432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424160" y="4114800"/>
            <a:ext cx="0" cy="-27432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692640" y="3840480"/>
            <a:ext cx="731520" cy="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595360" y="3886200"/>
            <a:ext cx="0" cy="-27432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595360" y="4114800"/>
            <a:ext cx="0" cy="-73152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1155680" y="4114800"/>
            <a:ext cx="0" cy="-73152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595360" y="3383280"/>
            <a:ext cx="2560320" cy="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132320" y="3840480"/>
            <a:ext cx="0" cy="-54864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32320" y="4114800"/>
            <a:ext cx="0" cy="-96012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058400" y="4114800"/>
            <a:ext cx="0" cy="-96012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132320" y="3154680"/>
            <a:ext cx="2926080" cy="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17920" y="45720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dendrogram: cut to choose clusters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(Part 1)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dot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DBSCAN — density-based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grow clusters through dense regions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arbitrary shapes (crescents, rings)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labels sparse points as noise / outliers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set density (eps, min_samples) instead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5422392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10332720" y="2743200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6" name="Shape 13"/>
          <p:cNvSpPr/>
          <p:nvPr/>
        </p:nvSpPr>
        <p:spPr>
          <a:xfrm>
            <a:off x="10320462" y="2857805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7" name="Shape 14"/>
          <p:cNvSpPr/>
          <p:nvPr/>
        </p:nvSpPr>
        <p:spPr>
          <a:xfrm>
            <a:off x="10283883" y="2970602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8" name="Shape 15"/>
          <p:cNvSpPr/>
          <p:nvPr/>
        </p:nvSpPr>
        <p:spPr>
          <a:xfrm>
            <a:off x="10223559" y="3079813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9" name="Shape 16"/>
          <p:cNvSpPr/>
          <p:nvPr/>
        </p:nvSpPr>
        <p:spPr>
          <a:xfrm>
            <a:off x="10140441" y="3183716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0" name="Shape 17"/>
          <p:cNvSpPr/>
          <p:nvPr/>
        </p:nvSpPr>
        <p:spPr>
          <a:xfrm>
            <a:off x="10035841" y="3280671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1" name="Shape 18"/>
          <p:cNvSpPr/>
          <p:nvPr/>
        </p:nvSpPr>
        <p:spPr>
          <a:xfrm>
            <a:off x="9911407" y="3369150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2" name="Shape 19"/>
          <p:cNvSpPr/>
          <p:nvPr/>
        </p:nvSpPr>
        <p:spPr>
          <a:xfrm>
            <a:off x="9769103" y="3447757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3" name="Shape 20"/>
          <p:cNvSpPr/>
          <p:nvPr/>
        </p:nvSpPr>
        <p:spPr>
          <a:xfrm>
            <a:off x="9611172" y="3515253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4" name="Shape 21"/>
          <p:cNvSpPr/>
          <p:nvPr/>
        </p:nvSpPr>
        <p:spPr>
          <a:xfrm>
            <a:off x="9440105" y="3570574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5" name="Shape 22"/>
          <p:cNvSpPr/>
          <p:nvPr/>
        </p:nvSpPr>
        <p:spPr>
          <a:xfrm>
            <a:off x="9258601" y="3612846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6" name="Shape 23"/>
          <p:cNvSpPr/>
          <p:nvPr/>
        </p:nvSpPr>
        <p:spPr>
          <a:xfrm>
            <a:off x="9069521" y="3641403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7" name="Shape 24"/>
          <p:cNvSpPr/>
          <p:nvPr/>
        </p:nvSpPr>
        <p:spPr>
          <a:xfrm>
            <a:off x="8875847" y="3655796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8" name="Shape 25"/>
          <p:cNvSpPr/>
          <p:nvPr/>
        </p:nvSpPr>
        <p:spPr>
          <a:xfrm>
            <a:off x="8680633" y="3655796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9" name="Shape 26"/>
          <p:cNvSpPr/>
          <p:nvPr/>
        </p:nvSpPr>
        <p:spPr>
          <a:xfrm>
            <a:off x="8486959" y="3641403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0" name="Shape 27"/>
          <p:cNvSpPr/>
          <p:nvPr/>
        </p:nvSpPr>
        <p:spPr>
          <a:xfrm>
            <a:off x="8297879" y="3612846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1" name="Shape 28"/>
          <p:cNvSpPr/>
          <p:nvPr/>
        </p:nvSpPr>
        <p:spPr>
          <a:xfrm>
            <a:off x="8116375" y="3570574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2" name="Shape 29"/>
          <p:cNvSpPr/>
          <p:nvPr/>
        </p:nvSpPr>
        <p:spPr>
          <a:xfrm>
            <a:off x="7945308" y="3515253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3" name="Shape 30"/>
          <p:cNvSpPr/>
          <p:nvPr/>
        </p:nvSpPr>
        <p:spPr>
          <a:xfrm>
            <a:off x="7787377" y="3447757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4" name="Shape 31"/>
          <p:cNvSpPr/>
          <p:nvPr/>
        </p:nvSpPr>
        <p:spPr>
          <a:xfrm>
            <a:off x="7645073" y="3369150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5" name="Shape 32"/>
          <p:cNvSpPr/>
          <p:nvPr/>
        </p:nvSpPr>
        <p:spPr>
          <a:xfrm>
            <a:off x="7520639" y="3280671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6" name="Shape 33"/>
          <p:cNvSpPr/>
          <p:nvPr/>
        </p:nvSpPr>
        <p:spPr>
          <a:xfrm>
            <a:off x="7416039" y="3183716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7" name="Shape 34"/>
          <p:cNvSpPr/>
          <p:nvPr/>
        </p:nvSpPr>
        <p:spPr>
          <a:xfrm>
            <a:off x="7332921" y="3079813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8" name="Shape 35"/>
          <p:cNvSpPr/>
          <p:nvPr/>
        </p:nvSpPr>
        <p:spPr>
          <a:xfrm>
            <a:off x="7272597" y="2970602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9" name="Shape 36"/>
          <p:cNvSpPr/>
          <p:nvPr/>
        </p:nvSpPr>
        <p:spPr>
          <a:xfrm>
            <a:off x="7236018" y="2857805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40" name="Shape 37"/>
          <p:cNvSpPr/>
          <p:nvPr/>
        </p:nvSpPr>
        <p:spPr>
          <a:xfrm>
            <a:off x="7223760" y="2743200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41" name="Shape 38"/>
          <p:cNvSpPr/>
          <p:nvPr/>
        </p:nvSpPr>
        <p:spPr>
          <a:xfrm>
            <a:off x="7498080" y="393192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2" name="Shape 39"/>
          <p:cNvSpPr/>
          <p:nvPr/>
        </p:nvSpPr>
        <p:spPr>
          <a:xfrm>
            <a:off x="7510338" y="3817315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3" name="Shape 40"/>
          <p:cNvSpPr/>
          <p:nvPr/>
        </p:nvSpPr>
        <p:spPr>
          <a:xfrm>
            <a:off x="7546917" y="370451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4" name="Shape 41"/>
          <p:cNvSpPr/>
          <p:nvPr/>
        </p:nvSpPr>
        <p:spPr>
          <a:xfrm>
            <a:off x="7607241" y="3595307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Shape 42"/>
          <p:cNvSpPr/>
          <p:nvPr/>
        </p:nvSpPr>
        <p:spPr>
          <a:xfrm>
            <a:off x="7690359" y="349140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6" name="Shape 43"/>
          <p:cNvSpPr/>
          <p:nvPr/>
        </p:nvSpPr>
        <p:spPr>
          <a:xfrm>
            <a:off x="7794959" y="3394449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7" name="Shape 44"/>
          <p:cNvSpPr/>
          <p:nvPr/>
        </p:nvSpPr>
        <p:spPr>
          <a:xfrm>
            <a:off x="7919393" y="330597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8" name="Shape 45"/>
          <p:cNvSpPr/>
          <p:nvPr/>
        </p:nvSpPr>
        <p:spPr>
          <a:xfrm>
            <a:off x="8061697" y="3227363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9" name="Shape 46"/>
          <p:cNvSpPr/>
          <p:nvPr/>
        </p:nvSpPr>
        <p:spPr>
          <a:xfrm>
            <a:off x="8219628" y="3159867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0" name="Shape 47"/>
          <p:cNvSpPr/>
          <p:nvPr/>
        </p:nvSpPr>
        <p:spPr>
          <a:xfrm>
            <a:off x="8390695" y="310454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1" name="Shape 48"/>
          <p:cNvSpPr/>
          <p:nvPr/>
        </p:nvSpPr>
        <p:spPr>
          <a:xfrm>
            <a:off x="8572199" y="306227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2" name="Shape 49"/>
          <p:cNvSpPr/>
          <p:nvPr/>
        </p:nvSpPr>
        <p:spPr>
          <a:xfrm>
            <a:off x="8761279" y="3033717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3" name="Shape 50"/>
          <p:cNvSpPr/>
          <p:nvPr/>
        </p:nvSpPr>
        <p:spPr>
          <a:xfrm>
            <a:off x="8954953" y="301932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4" name="Shape 51"/>
          <p:cNvSpPr/>
          <p:nvPr/>
        </p:nvSpPr>
        <p:spPr>
          <a:xfrm>
            <a:off x="9150167" y="301932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5" name="Shape 52"/>
          <p:cNvSpPr/>
          <p:nvPr/>
        </p:nvSpPr>
        <p:spPr>
          <a:xfrm>
            <a:off x="9343841" y="3033717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6" name="Shape 53"/>
          <p:cNvSpPr/>
          <p:nvPr/>
        </p:nvSpPr>
        <p:spPr>
          <a:xfrm>
            <a:off x="9532921" y="306227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7" name="Shape 54"/>
          <p:cNvSpPr/>
          <p:nvPr/>
        </p:nvSpPr>
        <p:spPr>
          <a:xfrm>
            <a:off x="9714425" y="310454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8" name="Shape 55"/>
          <p:cNvSpPr/>
          <p:nvPr/>
        </p:nvSpPr>
        <p:spPr>
          <a:xfrm>
            <a:off x="9885492" y="3159867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9" name="Shape 56"/>
          <p:cNvSpPr/>
          <p:nvPr/>
        </p:nvSpPr>
        <p:spPr>
          <a:xfrm>
            <a:off x="10043423" y="3227363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0" name="Shape 57"/>
          <p:cNvSpPr/>
          <p:nvPr/>
        </p:nvSpPr>
        <p:spPr>
          <a:xfrm>
            <a:off x="10185727" y="330597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1" name="Shape 58"/>
          <p:cNvSpPr/>
          <p:nvPr/>
        </p:nvSpPr>
        <p:spPr>
          <a:xfrm>
            <a:off x="10310161" y="3394449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2" name="Shape 59"/>
          <p:cNvSpPr/>
          <p:nvPr/>
        </p:nvSpPr>
        <p:spPr>
          <a:xfrm>
            <a:off x="10414761" y="349140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3" name="Shape 60"/>
          <p:cNvSpPr/>
          <p:nvPr/>
        </p:nvSpPr>
        <p:spPr>
          <a:xfrm>
            <a:off x="10497879" y="3595307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4" name="Shape 61"/>
          <p:cNvSpPr/>
          <p:nvPr/>
        </p:nvSpPr>
        <p:spPr>
          <a:xfrm>
            <a:off x="10558203" y="370451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5" name="Shape 62"/>
          <p:cNvSpPr/>
          <p:nvPr/>
        </p:nvSpPr>
        <p:spPr>
          <a:xfrm>
            <a:off x="10594782" y="3817315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6" name="Shape 63"/>
          <p:cNvSpPr/>
          <p:nvPr/>
        </p:nvSpPr>
        <p:spPr>
          <a:xfrm>
            <a:off x="10607040" y="393192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7" name="Text 64"/>
          <p:cNvSpPr/>
          <p:nvPr/>
        </p:nvSpPr>
        <p:spPr>
          <a:xfrm>
            <a:off x="6217920" y="461772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interleaved crescents — DBSCAN nails it, k-means can't</a:t>
            </a:r>
            <a:endParaRPr lang="en-US" sz="920" dirty="0"/>
          </a:p>
        </p:txBody>
      </p:sp>
      <p:sp>
        <p:nvSpPr>
          <p:cNvPr id="68" name="Text 6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(Part 1)</a:t>
            </a:r>
            <a:endParaRPr lang="en-US" sz="950" dirty="0"/>
          </a:p>
        </p:txBody>
      </p:sp>
      <p:sp>
        <p:nvSpPr>
          <p:cNvPr id="69" name="Text 6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CLUSTERER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k-means vs alternatives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78308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data, round clusters, fast</a:t>
            </a:r>
            <a:endParaRPr lang="en-US" sz="1250" dirty="0"/>
          </a:p>
        </p:txBody>
      </p:sp>
      <p:pic>
        <p:nvPicPr>
          <p:cNvPr id="8" name="Image 1" descr="ic_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039112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0956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51460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251460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 k; want a hierarchy</a:t>
            </a:r>
            <a:endParaRPr lang="en-US" sz="1250" dirty="0"/>
          </a:p>
        </p:txBody>
      </p:sp>
      <p:pic>
        <p:nvPicPr>
          <p:cNvPr id="12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770632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09560" y="251460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24612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22960" y="324612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shapes + noise / outliers</a:t>
            </a:r>
            <a:endParaRPr lang="en-US" sz="1250" dirty="0"/>
          </a:p>
        </p:txBody>
      </p:sp>
      <p:pic>
        <p:nvPicPr>
          <p:cNvPr id="16" name="Image 3" descr="ic_arrow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502152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09560" y="32461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48640" y="397764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22960" y="397764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of very different density</a:t>
            </a:r>
            <a:endParaRPr lang="en-US" sz="1250" dirty="0"/>
          </a:p>
        </p:txBody>
      </p:sp>
      <p:pic>
        <p:nvPicPr>
          <p:cNvPr id="20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4233672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909560" y="39776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/ GMM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the right first try on most tabular data — switch when its assumptions clearly break.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(Part 1)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obj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Profile &amp; use the clusters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are only useful once you can describe and act on them.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Part 1 · Phase E  ·  04 / 22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CLUSTERS MEAN SOMETHING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Profiling &amp; the workflow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compare feature means per cluster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them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'budget seekers', 'power users'…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target, alert, or feed a downstream model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 the segments make business sense?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3017520"/>
          </a:xfrm>
          <a:prstGeom prst="roundRect">
            <a:avLst>
              <a:gd name="adj" fmla="val 1818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kmeans.py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27648" y="2048256"/>
            <a:ext cx="511149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= StandardScaler().fit_transform(X)   # scale!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= KMeans(n_clusters=3, n_init=10,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random_state=0).fit(Xs)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df['cluster'] = km.labels_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profile: mean of each feature per cluster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df.groupby('cluster').mean()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1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run k-means with the k you chose, then profile clusters with groupby().mean().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(Part 1)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Pitfalls &amp; best practices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comparrow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scale first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one feature owns the clusters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guess k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elbow + silhouette together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shape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shape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assumes round blobs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bulb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Interpret, then trust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must be useful, not just exist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 few times: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can land in different local minima — use n_init &gt; 1 and keep the lowest-inertia result.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(Part 1)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assign → update → repeat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minimises within-cluster inertia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 with elbow + silhouette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assumes round, similar-size blobs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first; profile to make it useful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 dataset, run k-means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elbow curve; pick k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silhouette score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clusters with groupby().mean()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DBSCAN on crescent-shaped data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(Part 2) — hierarchical, DBSCAN &amp; GMM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into shapes, density &amp; soft clustering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brail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the fast, simple default for round clusters — scale your data, choose k deliberately, and profile the groups to make them useful.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(Part 1)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2026-06-11T15:30:22Z</dcterms:created>
  <dcterms:modified xsi:type="dcterms:W3CDTF">2026-06-11T15:30:22Z</dcterms:modified>
</cp:coreProperties>
</file>