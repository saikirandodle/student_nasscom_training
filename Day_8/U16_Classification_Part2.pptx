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0.655</c:v>
                </c:pt>
                <c:pt idx="1">
                  <c:v>0.69</c:v>
                </c:pt>
                <c:pt idx="2">
                  <c:v>0.725</c:v>
                </c:pt>
                <c:pt idx="3">
                  <c:v>0.76</c:v>
                </c:pt>
                <c:pt idx="4">
                  <c:v>0.795</c:v>
                </c:pt>
                <c:pt idx="5">
                  <c:v>0.8300000000000001</c:v>
                </c:pt>
                <c:pt idx="6">
                  <c:v>0.865</c:v>
                </c:pt>
                <c:pt idx="7">
                  <c:v>0.9</c:v>
                </c:pt>
                <c:pt idx="8">
                  <c:v>0.935</c:v>
                </c:pt>
                <c:pt idx="9">
                  <c:v>0.97</c:v>
                </c:pt>
                <c:pt idx="10">
                  <c:v>1.005</c:v>
                </c:pt>
                <c:pt idx="11">
                  <c:v>1.04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0.664</c:v>
                </c:pt>
                <c:pt idx="1">
                  <c:v>0.696</c:v>
                </c:pt>
                <c:pt idx="2">
                  <c:v>0.716</c:v>
                </c:pt>
                <c:pt idx="3">
                  <c:v>0.7240000000000001</c:v>
                </c:pt>
                <c:pt idx="4">
                  <c:v>0.72</c:v>
                </c:pt>
                <c:pt idx="5">
                  <c:v>0.704</c:v>
                </c:pt>
                <c:pt idx="6">
                  <c:v>0.6759999999999999</c:v>
                </c:pt>
                <c:pt idx="7">
                  <c:v>0.636</c:v>
                </c:pt>
                <c:pt idx="8">
                  <c:v>0.5840000000000001</c:v>
                </c:pt>
                <c:pt idx="9">
                  <c:v>0.5200000000000001</c:v>
                </c:pt>
                <c:pt idx="10">
                  <c:v>0.44399999999999995</c:v>
                </c:pt>
                <c:pt idx="11">
                  <c:v>0.3560000000000001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</c:v>
                </c:pt>
              </c:strCache>
            </c:strRef>
          </c:tx>
          <c:spPr>
            <a:solidFill>
              <a:srgbClr val="3AA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joint gap</c:v>
                  </c:pt>
                  <c:pt idx="1">
                    <c:v>heat input</c:v>
                  </c:pt>
                  <c:pt idx="2">
                    <c:v>travel speed</c:v>
                  </c:pt>
                  <c:pt idx="3">
                    <c:v>gas flow</c:v>
                  </c:pt>
                  <c:pt idx="4">
                    <c:v>material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</c:v>
                </c:pt>
                <c:pt idx="1">
                  <c:v>0.27</c:v>
                </c:pt>
                <c:pt idx="2">
                  <c:v>0.16</c:v>
                </c:pt>
                <c:pt idx="3">
                  <c:v>0.13</c:v>
                </c:pt>
                <c:pt idx="4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0.08</c:v>
                </c:pt>
                <c:pt idx="1">
                  <c:v>0.15800000000000003</c:v>
                </c:pt>
                <c:pt idx="2">
                  <c:v>0.23600000000000004</c:v>
                </c:pt>
                <c:pt idx="3">
                  <c:v>0.314</c:v>
                </c:pt>
                <c:pt idx="4">
                  <c:v>0.39200000000000007</c:v>
                </c:pt>
                <c:pt idx="5">
                  <c:v>0.47000000000000003</c:v>
                </c:pt>
                <c:pt idx="6">
                  <c:v>0.5479999999999999</c:v>
                </c:pt>
                <c:pt idx="7">
                  <c:v>0.6259999999999999</c:v>
                </c:pt>
                <c:pt idx="8">
                  <c:v>0.7040000000000001</c:v>
                </c:pt>
                <c:pt idx="9">
                  <c:v>0.782</c:v>
                </c:pt>
                <c:pt idx="10">
                  <c:v>0.86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perfect</c:v>
                </c:pt>
              </c:strCache>
            </c:strRef>
          </c:tx>
          <c:spPr>
            <a:solidFill>
              <a:srgbClr val="5C6B7A"/>
            </a:solidFill>
            <a:ln w="38100" cap="flat">
              <a:solidFill>
                <a:srgbClr val="5C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6B7A"/>
              </a:solidFill>
              <a:ln w="9525" cap="flat">
                <a:solidFill>
                  <a:srgbClr val="5C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image" Target="../media/image-1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tre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8  ·  PHASE D — MODELLING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Classification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2 (finish) — </a:t>
            </a:r>
            <a:pPr algn="l" indent="0" marL="0">
              <a:buNone/>
            </a:pPr>
            <a:r>
              <a:rPr lang="en-US" sz="22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Trees, Ensembles, Tuning &amp; Multiclass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· random forests · gradient boosting · SVM · calibration · tuning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U16 (finish)  ·  Phase D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Beyond logistic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logistic regression and the evaluation toolkit. Part 2 adds the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usually win on tabular data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trees, forests and gradient boosting — plus tuning, calibration and multiclass.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tre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&amp; boundaries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cub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&amp; boosting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polyg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kNN, NB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ta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calibration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ear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&amp; deploy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imbalance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evaluation discipline as Part 1 — now applied to far more powerful models.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 trees &amp; ensembles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splits, then the ensembles that make them state-of-the-art.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2 · Phase D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PART 1 LEFT OFF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classification toolkit so far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func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of w·x+b → probability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hlis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FP / FN / TN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rul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ROC-AUC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rosshai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choice, not a default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draw flexible, nonlinear boundaries — and usually top the leaderboard on tabular data.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RULES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decision tree classifier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split on the feature that best separates classes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measured by Gini impurity or entropy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majority class in each leaf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interpretable; no scaling needed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1929384"/>
            <a:ext cx="5056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 = 1 − Σ pₖ²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00800" y="2642616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impurity = a cleaner split (each split maximises the drop)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3337560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595360" y="34747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6263F"/>
          </a:solidFill>
          <a:ln/>
        </p:spPr>
      </p:sp>
      <p:sp>
        <p:nvSpPr>
          <p:cNvPr id="19" name="Text 16"/>
          <p:cNvSpPr/>
          <p:nvPr/>
        </p:nvSpPr>
        <p:spPr>
          <a:xfrm>
            <a:off x="8595360" y="3474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&gt; 2?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281160" y="3858768"/>
            <a:ext cx="-173736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40880" y="4224528"/>
            <a:ext cx="1005840" cy="38404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0" y="4224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281160" y="3858768"/>
            <a:ext cx="100584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784080" y="4224528"/>
            <a:ext cx="1005840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5" name="Text 22"/>
          <p:cNvSpPr/>
          <p:nvPr/>
        </p:nvSpPr>
        <p:spPr>
          <a:xfrm>
            <a:off x="9784080" y="4224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olyg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vs STAIRCASE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Linear vs tree decision boundaries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2F5F9"/>
          </a:solidFill>
          <a:ln/>
        </p:spPr>
      </p:sp>
      <p:sp>
        <p:nvSpPr>
          <p:cNvPr id="8" name="Shape 5"/>
          <p:cNvSpPr/>
          <p:nvPr/>
        </p:nvSpPr>
        <p:spPr>
          <a:xfrm>
            <a:off x="1611050" y="250625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9" name="Shape 6"/>
          <p:cNvSpPr/>
          <p:nvPr/>
        </p:nvSpPr>
        <p:spPr>
          <a:xfrm>
            <a:off x="4998767" y="287211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Shape 7"/>
          <p:cNvSpPr/>
          <p:nvPr/>
        </p:nvSpPr>
        <p:spPr>
          <a:xfrm>
            <a:off x="2209580" y="256571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1" name="Shape 8"/>
          <p:cNvSpPr/>
          <p:nvPr/>
        </p:nvSpPr>
        <p:spPr>
          <a:xfrm>
            <a:off x="5051668" y="294851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9"/>
          <p:cNvSpPr/>
          <p:nvPr/>
        </p:nvSpPr>
        <p:spPr>
          <a:xfrm>
            <a:off x="1694274" y="294352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310" y="342453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Shape 11"/>
          <p:cNvSpPr/>
          <p:nvPr/>
        </p:nvSpPr>
        <p:spPr>
          <a:xfrm>
            <a:off x="1668153" y="319264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0448" y="226818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Shape 13"/>
          <p:cNvSpPr/>
          <p:nvPr/>
        </p:nvSpPr>
        <p:spPr>
          <a:xfrm>
            <a:off x="2650506" y="3353710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7" name="Shape 14"/>
          <p:cNvSpPr/>
          <p:nvPr/>
        </p:nvSpPr>
        <p:spPr>
          <a:xfrm>
            <a:off x="4871704" y="250714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Shape 15"/>
          <p:cNvSpPr/>
          <p:nvPr/>
        </p:nvSpPr>
        <p:spPr>
          <a:xfrm>
            <a:off x="1435288" y="2674881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9" name="Shape 16"/>
          <p:cNvSpPr/>
          <p:nvPr/>
        </p:nvSpPr>
        <p:spPr>
          <a:xfrm>
            <a:off x="4826768" y="326764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Shape 17"/>
          <p:cNvSpPr/>
          <p:nvPr/>
        </p:nvSpPr>
        <p:spPr>
          <a:xfrm>
            <a:off x="2470322" y="2720799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1" name="Shape 18"/>
          <p:cNvSpPr/>
          <p:nvPr/>
        </p:nvSpPr>
        <p:spPr>
          <a:xfrm>
            <a:off x="3871195" y="343209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Shape 19"/>
          <p:cNvSpPr/>
          <p:nvPr/>
        </p:nvSpPr>
        <p:spPr>
          <a:xfrm>
            <a:off x="1194898" y="334922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3" name="Shape 20"/>
          <p:cNvSpPr/>
          <p:nvPr/>
        </p:nvSpPr>
        <p:spPr>
          <a:xfrm>
            <a:off x="4217607" y="310209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Shape 21"/>
          <p:cNvSpPr/>
          <p:nvPr/>
        </p:nvSpPr>
        <p:spPr>
          <a:xfrm>
            <a:off x="1514969" y="307679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5" name="Shape 22"/>
          <p:cNvSpPr/>
          <p:nvPr/>
        </p:nvSpPr>
        <p:spPr>
          <a:xfrm>
            <a:off x="3337293" y="2866919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Shape 23"/>
          <p:cNvSpPr/>
          <p:nvPr/>
        </p:nvSpPr>
        <p:spPr>
          <a:xfrm>
            <a:off x="1579159" y="2187991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7" name="Shape 24"/>
          <p:cNvSpPr/>
          <p:nvPr/>
        </p:nvSpPr>
        <p:spPr>
          <a:xfrm>
            <a:off x="4120209" y="252337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Shape 25"/>
          <p:cNvSpPr/>
          <p:nvPr/>
        </p:nvSpPr>
        <p:spPr>
          <a:xfrm>
            <a:off x="2719556" y="3649535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9" name="Shape 26"/>
          <p:cNvSpPr/>
          <p:nvPr/>
        </p:nvSpPr>
        <p:spPr>
          <a:xfrm>
            <a:off x="4308577" y="253880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Shape 27"/>
          <p:cNvSpPr/>
          <p:nvPr/>
        </p:nvSpPr>
        <p:spPr>
          <a:xfrm>
            <a:off x="1323716" y="360062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1" name="Shape 28"/>
          <p:cNvSpPr/>
          <p:nvPr/>
        </p:nvSpPr>
        <p:spPr>
          <a:xfrm>
            <a:off x="3608885" y="331963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Shape 29"/>
          <p:cNvSpPr/>
          <p:nvPr/>
        </p:nvSpPr>
        <p:spPr>
          <a:xfrm>
            <a:off x="2042662" y="269150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3" name="Shape 30"/>
          <p:cNvSpPr/>
          <p:nvPr/>
        </p:nvSpPr>
        <p:spPr>
          <a:xfrm>
            <a:off x="4707890" y="2285203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8481" y="370600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5" name="Shape 32"/>
          <p:cNvSpPr/>
          <p:nvPr/>
        </p:nvSpPr>
        <p:spPr>
          <a:xfrm>
            <a:off x="4535013" y="356048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Shape 33"/>
          <p:cNvSpPr/>
          <p:nvPr/>
        </p:nvSpPr>
        <p:spPr>
          <a:xfrm>
            <a:off x="2080730" y="3697739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7" name="Shape 34"/>
          <p:cNvSpPr/>
          <p:nvPr/>
        </p:nvSpPr>
        <p:spPr>
          <a:xfrm>
            <a:off x="5031944" y="243122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Shape 35"/>
          <p:cNvSpPr/>
          <p:nvPr/>
        </p:nvSpPr>
        <p:spPr>
          <a:xfrm>
            <a:off x="1422431" y="3682697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9" name="Shape 36"/>
          <p:cNvSpPr/>
          <p:nvPr/>
        </p:nvSpPr>
        <p:spPr>
          <a:xfrm>
            <a:off x="5024637" y="381487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Shape 37"/>
          <p:cNvSpPr/>
          <p:nvPr/>
        </p:nvSpPr>
        <p:spPr>
          <a:xfrm>
            <a:off x="1298473" y="2970001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1" name="Shape 38"/>
          <p:cNvSpPr/>
          <p:nvPr/>
        </p:nvSpPr>
        <p:spPr>
          <a:xfrm>
            <a:off x="4287316" y="2326633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Shape 39"/>
          <p:cNvSpPr/>
          <p:nvPr/>
        </p:nvSpPr>
        <p:spPr>
          <a:xfrm>
            <a:off x="1347611" y="2819492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3" name="Shape 40"/>
          <p:cNvSpPr/>
          <p:nvPr/>
        </p:nvSpPr>
        <p:spPr>
          <a:xfrm>
            <a:off x="3339269" y="294489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4" name="Shape 41"/>
          <p:cNvSpPr/>
          <p:nvPr/>
        </p:nvSpPr>
        <p:spPr>
          <a:xfrm>
            <a:off x="2766468" y="2967009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5" name="Shape 42"/>
          <p:cNvSpPr/>
          <p:nvPr/>
        </p:nvSpPr>
        <p:spPr>
          <a:xfrm>
            <a:off x="4460851" y="327190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Shape 43"/>
          <p:cNvSpPr/>
          <p:nvPr/>
        </p:nvSpPr>
        <p:spPr>
          <a:xfrm>
            <a:off x="2619932" y="253879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7" name="Shape 44"/>
          <p:cNvSpPr/>
          <p:nvPr/>
        </p:nvSpPr>
        <p:spPr>
          <a:xfrm>
            <a:off x="4784686" y="322638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8" name="Shape 45"/>
          <p:cNvSpPr/>
          <p:nvPr/>
        </p:nvSpPr>
        <p:spPr>
          <a:xfrm>
            <a:off x="2172359" y="370908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9" name="Shape 46"/>
          <p:cNvSpPr/>
          <p:nvPr/>
        </p:nvSpPr>
        <p:spPr>
          <a:xfrm>
            <a:off x="3407661" y="266609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0" name="Shape 47"/>
          <p:cNvSpPr/>
          <p:nvPr/>
        </p:nvSpPr>
        <p:spPr>
          <a:xfrm>
            <a:off x="1807571" y="3287642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51" name="Shape 48"/>
          <p:cNvSpPr/>
          <p:nvPr/>
        </p:nvSpPr>
        <p:spPr>
          <a:xfrm>
            <a:off x="4235732" y="3399501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hape 49"/>
          <p:cNvSpPr/>
          <p:nvPr/>
        </p:nvSpPr>
        <p:spPr>
          <a:xfrm>
            <a:off x="3200400" y="2011680"/>
            <a:ext cx="-457200" cy="201168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8640" y="428853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straight boundary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199632" y="15727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6199632" y="178308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2F5F9"/>
          </a:solidFill>
          <a:ln/>
        </p:spPr>
      </p:sp>
      <p:sp>
        <p:nvSpPr>
          <p:cNvPr id="56" name="Shape 53"/>
          <p:cNvSpPr/>
          <p:nvPr/>
        </p:nvSpPr>
        <p:spPr>
          <a:xfrm>
            <a:off x="7334957" y="223617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57" name="Shape 54"/>
          <p:cNvSpPr/>
          <p:nvPr/>
        </p:nvSpPr>
        <p:spPr>
          <a:xfrm>
            <a:off x="10275822" y="322602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8" name="Shape 55"/>
          <p:cNvSpPr/>
          <p:nvPr/>
        </p:nvSpPr>
        <p:spPr>
          <a:xfrm>
            <a:off x="7762273" y="2669865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59" name="Shape 56"/>
          <p:cNvSpPr/>
          <p:nvPr/>
        </p:nvSpPr>
        <p:spPr>
          <a:xfrm>
            <a:off x="9841420" y="272161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0" name="Shape 57"/>
          <p:cNvSpPr/>
          <p:nvPr/>
        </p:nvSpPr>
        <p:spPr>
          <a:xfrm>
            <a:off x="6985441" y="2913902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61" name="Shape 58"/>
          <p:cNvSpPr/>
          <p:nvPr/>
        </p:nvSpPr>
        <p:spPr>
          <a:xfrm>
            <a:off x="9918780" y="3449941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2" name="Shape 59"/>
          <p:cNvSpPr/>
          <p:nvPr/>
        </p:nvSpPr>
        <p:spPr>
          <a:xfrm>
            <a:off x="8368549" y="3374686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63" name="Shape 60"/>
          <p:cNvSpPr/>
          <p:nvPr/>
        </p:nvSpPr>
        <p:spPr>
          <a:xfrm>
            <a:off x="9672525" y="276941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4" name="Shape 61"/>
          <p:cNvSpPr/>
          <p:nvPr/>
        </p:nvSpPr>
        <p:spPr>
          <a:xfrm>
            <a:off x="7283154" y="3117497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65" name="Shape 62"/>
          <p:cNvSpPr/>
          <p:nvPr/>
        </p:nvSpPr>
        <p:spPr>
          <a:xfrm>
            <a:off x="9012345" y="3463883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6" name="Shape 63"/>
          <p:cNvSpPr/>
          <p:nvPr/>
        </p:nvSpPr>
        <p:spPr>
          <a:xfrm>
            <a:off x="7973877" y="2975455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67" name="Shape 64"/>
          <p:cNvSpPr/>
          <p:nvPr/>
        </p:nvSpPr>
        <p:spPr>
          <a:xfrm>
            <a:off x="9608994" y="258693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8" name="Shape 65"/>
          <p:cNvSpPr/>
          <p:nvPr/>
        </p:nvSpPr>
        <p:spPr>
          <a:xfrm>
            <a:off x="6896007" y="3172079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69" name="Shape 66"/>
          <p:cNvSpPr/>
          <p:nvPr/>
        </p:nvSpPr>
        <p:spPr>
          <a:xfrm>
            <a:off x="9814295" y="2800491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0" name="Shape 67"/>
          <p:cNvSpPr/>
          <p:nvPr/>
        </p:nvSpPr>
        <p:spPr>
          <a:xfrm>
            <a:off x="8361901" y="3687050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71" name="Shape 68"/>
          <p:cNvSpPr/>
          <p:nvPr/>
        </p:nvSpPr>
        <p:spPr>
          <a:xfrm>
            <a:off x="9944337" y="3413675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2" name="Shape 69"/>
          <p:cNvSpPr/>
          <p:nvPr/>
        </p:nvSpPr>
        <p:spPr>
          <a:xfrm>
            <a:off x="6659380" y="2427407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73" name="Shape 70"/>
          <p:cNvSpPr/>
          <p:nvPr/>
        </p:nvSpPr>
        <p:spPr>
          <a:xfrm>
            <a:off x="9637875" y="239448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4" name="Shape 71"/>
          <p:cNvSpPr/>
          <p:nvPr/>
        </p:nvSpPr>
        <p:spPr>
          <a:xfrm>
            <a:off x="7794133" y="2725632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75" name="Shape 72"/>
          <p:cNvSpPr/>
          <p:nvPr/>
        </p:nvSpPr>
        <p:spPr>
          <a:xfrm>
            <a:off x="10091531" y="27706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6" name="Shape 73"/>
          <p:cNvSpPr/>
          <p:nvPr/>
        </p:nvSpPr>
        <p:spPr>
          <a:xfrm>
            <a:off x="6731315" y="218396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77" name="Shape 74"/>
          <p:cNvSpPr/>
          <p:nvPr/>
        </p:nvSpPr>
        <p:spPr>
          <a:xfrm>
            <a:off x="10198995" y="366826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8" name="Shape 75"/>
          <p:cNvSpPr/>
          <p:nvPr/>
        </p:nvSpPr>
        <p:spPr>
          <a:xfrm>
            <a:off x="7918749" y="2367040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79" name="Shape 76"/>
          <p:cNvSpPr/>
          <p:nvPr/>
        </p:nvSpPr>
        <p:spPr>
          <a:xfrm>
            <a:off x="9395822" y="2323959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0" name="Shape 77"/>
          <p:cNvSpPr/>
          <p:nvPr/>
        </p:nvSpPr>
        <p:spPr>
          <a:xfrm>
            <a:off x="6795725" y="3132624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81" name="Shape 78"/>
          <p:cNvSpPr/>
          <p:nvPr/>
        </p:nvSpPr>
        <p:spPr>
          <a:xfrm>
            <a:off x="9894634" y="377703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2" name="Shape 79"/>
          <p:cNvSpPr/>
          <p:nvPr/>
        </p:nvSpPr>
        <p:spPr>
          <a:xfrm>
            <a:off x="7268196" y="2997355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83" name="Shape 80"/>
          <p:cNvSpPr/>
          <p:nvPr/>
        </p:nvSpPr>
        <p:spPr>
          <a:xfrm>
            <a:off x="9166720" y="3679021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4" name="Shape 81"/>
          <p:cNvSpPr/>
          <p:nvPr/>
        </p:nvSpPr>
        <p:spPr>
          <a:xfrm>
            <a:off x="7484786" y="2245713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85" name="Shape 82"/>
          <p:cNvSpPr/>
          <p:nvPr/>
        </p:nvSpPr>
        <p:spPr>
          <a:xfrm>
            <a:off x="10102036" y="347263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6" name="Shape 83"/>
          <p:cNvSpPr/>
          <p:nvPr/>
        </p:nvSpPr>
        <p:spPr>
          <a:xfrm>
            <a:off x="6948783" y="2198497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87" name="Shape 84"/>
          <p:cNvSpPr/>
          <p:nvPr/>
        </p:nvSpPr>
        <p:spPr>
          <a:xfrm>
            <a:off x="10442804" y="3625229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8" name="Shape 85"/>
          <p:cNvSpPr/>
          <p:nvPr/>
        </p:nvSpPr>
        <p:spPr>
          <a:xfrm>
            <a:off x="7534143" y="228674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89" name="Shape 86"/>
          <p:cNvSpPr/>
          <p:nvPr/>
        </p:nvSpPr>
        <p:spPr>
          <a:xfrm>
            <a:off x="9895512" y="2897293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0" name="Shape 87"/>
          <p:cNvSpPr/>
          <p:nvPr/>
        </p:nvSpPr>
        <p:spPr>
          <a:xfrm>
            <a:off x="8405489" y="3160705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91" name="Shape 88"/>
          <p:cNvSpPr/>
          <p:nvPr/>
        </p:nvSpPr>
        <p:spPr>
          <a:xfrm>
            <a:off x="9318117" y="364594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2" name="Shape 89"/>
          <p:cNvSpPr/>
          <p:nvPr/>
        </p:nvSpPr>
        <p:spPr>
          <a:xfrm>
            <a:off x="7643708" y="2666450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93" name="Shape 90"/>
          <p:cNvSpPr/>
          <p:nvPr/>
        </p:nvSpPr>
        <p:spPr>
          <a:xfrm>
            <a:off x="9297640" y="341246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4" name="Shape 91"/>
          <p:cNvSpPr/>
          <p:nvPr/>
        </p:nvSpPr>
        <p:spPr>
          <a:xfrm>
            <a:off x="6919557" y="2795341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95" name="Shape 92"/>
          <p:cNvSpPr/>
          <p:nvPr/>
        </p:nvSpPr>
        <p:spPr>
          <a:xfrm>
            <a:off x="9946971" y="242036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6" name="Shape 93"/>
          <p:cNvSpPr/>
          <p:nvPr/>
        </p:nvSpPr>
        <p:spPr>
          <a:xfrm>
            <a:off x="8242458" y="2917458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97" name="Shape 94"/>
          <p:cNvSpPr/>
          <p:nvPr/>
        </p:nvSpPr>
        <p:spPr>
          <a:xfrm>
            <a:off x="10092064" y="2295257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8" name="Shape 95"/>
          <p:cNvSpPr/>
          <p:nvPr/>
        </p:nvSpPr>
        <p:spPr>
          <a:xfrm>
            <a:off x="8270900" y="2341922"/>
            <a:ext cx="109728" cy="1097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99" name="Shape 96"/>
          <p:cNvSpPr/>
          <p:nvPr/>
        </p:nvSpPr>
        <p:spPr>
          <a:xfrm>
            <a:off x="9507143" y="259009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0" name="Shape 97"/>
          <p:cNvSpPr/>
          <p:nvPr/>
        </p:nvSpPr>
        <p:spPr>
          <a:xfrm>
            <a:off x="8668512" y="2011680"/>
            <a:ext cx="0" cy="96012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8668512" y="2971800"/>
            <a:ext cx="640080" cy="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9308592" y="2971800"/>
            <a:ext cx="0" cy="82296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9308592" y="3794760"/>
            <a:ext cx="548640" cy="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857232" y="3794760"/>
            <a:ext cx="0" cy="22860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6199632" y="428853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axis-aligned 'staircase'</a:t>
            </a:r>
            <a:endParaRPr lang="en-US" sz="1000" dirty="0"/>
          </a:p>
        </p:txBody>
      </p:sp>
      <p:sp>
        <p:nvSpPr>
          <p:cNvPr id="106" name="Text 10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107" name="Text 10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TREES HONEST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Overfitting &amp; pruning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deep tree memorises the training data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limit how deep the tree can grow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require enough points per leaf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ccp_alpha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cost-complexity pruning of weak splits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 ↑, test F1 peaks then falls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= overfitting; prune to close it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OF THE CROWD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Random forests (bagging)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and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trees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 a random sample of rows &amp; features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heckdb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trees' predictions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variance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smooths single-tree overfitting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heck2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with little tuning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many decorrelated trees and average them. The forest is far more stable than any single tree.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MISTAKES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Gradient boosting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tree fixes the previous trees' errors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often the top performer on tabular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XGBoost · LightGBM · CatBoost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hyperparameters; can overfit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192024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Boosting: errors shrink round by round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233172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3AAFA9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0" y="2386584"/>
            <a:ext cx="3108960" cy="292608"/>
          </a:xfrm>
          <a:prstGeom prst="rect">
            <a:avLst/>
          </a:prstGeom>
          <a:solidFill>
            <a:srgbClr val="C0392B">
              <a:alpha val="9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23682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92240" y="288036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3AAFA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Tree 2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0" y="2935224"/>
            <a:ext cx="2331720" cy="292608"/>
          </a:xfrm>
          <a:prstGeom prst="rect">
            <a:avLst/>
          </a:prstGeom>
          <a:solidFill>
            <a:srgbClr val="C0392B">
              <a:alpha val="72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321040" y="29169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92240" y="34290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3AAFA9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Tree 3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29600" y="3483864"/>
            <a:ext cx="1554480" cy="292608"/>
          </a:xfrm>
          <a:prstGeom prst="rect">
            <a:avLst/>
          </a:prstGeom>
          <a:solidFill>
            <a:srgbClr val="C0392B">
              <a:alpha val="5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8321040" y="34655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492240" y="397764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3AAFA9"/>
          </a:solidFill>
          <a:ln/>
        </p:spPr>
      </p:sp>
      <p:sp>
        <p:nvSpPr>
          <p:cNvPr id="29" name="Text 26"/>
          <p:cNvSpPr/>
          <p:nvPr/>
        </p:nvSpPr>
        <p:spPr>
          <a:xfrm>
            <a:off x="649224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Tree 4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229600" y="4032504"/>
            <a:ext cx="777240" cy="292608"/>
          </a:xfrm>
          <a:prstGeom prst="rect">
            <a:avLst/>
          </a:prstGeom>
          <a:solidFill>
            <a:srgbClr val="C0392B">
              <a:alpha val="36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8321040" y="40142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polyg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STRONG MODELS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SVM, k-NN &amp; Naive Bayes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classifiers worth knowing — and when each shines.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2 · Phase D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olyg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THE MARGIN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Support vector machines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boundary with the widest margin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few points that define it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bend the boundary (RBF, polynomial)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clear margins, small/medium data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949440" y="4297680"/>
            <a:ext cx="3840480" cy="-210312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4160520"/>
            <a:ext cx="3840480" cy="-2103120"/>
          </a:xfrm>
          <a:prstGeom prst="line">
            <a:avLst/>
          </a:prstGeom>
          <a:noFill/>
          <a:ln w="19050">
            <a:solidFill>
              <a:srgbClr val="5C6B7A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7223760" y="4434840"/>
            <a:ext cx="3840480" cy="-2103120"/>
          </a:xfrm>
          <a:prstGeom prst="line">
            <a:avLst/>
          </a:prstGeom>
          <a:noFill/>
          <a:ln w="19050">
            <a:solidFill>
              <a:srgbClr val="5C6B7A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7169996" y="2492337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9" name="Shape 16"/>
          <p:cNvSpPr/>
          <p:nvPr/>
        </p:nvSpPr>
        <p:spPr>
          <a:xfrm>
            <a:off x="9892430" y="378894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Shape 17"/>
          <p:cNvSpPr/>
          <p:nvPr/>
        </p:nvSpPr>
        <p:spPr>
          <a:xfrm>
            <a:off x="6891303" y="3004818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1" name="Shape 18"/>
          <p:cNvSpPr/>
          <p:nvPr/>
        </p:nvSpPr>
        <p:spPr>
          <a:xfrm>
            <a:off x="9215051" y="369822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Shape 19"/>
          <p:cNvSpPr/>
          <p:nvPr/>
        </p:nvSpPr>
        <p:spPr>
          <a:xfrm>
            <a:off x="6725123" y="2674395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3" name="Shape 20"/>
          <p:cNvSpPr/>
          <p:nvPr/>
        </p:nvSpPr>
        <p:spPr>
          <a:xfrm>
            <a:off x="9589420" y="3965733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Shape 21"/>
          <p:cNvSpPr/>
          <p:nvPr/>
        </p:nvSpPr>
        <p:spPr>
          <a:xfrm>
            <a:off x="7449259" y="2575771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5" name="Shape 22"/>
          <p:cNvSpPr/>
          <p:nvPr/>
        </p:nvSpPr>
        <p:spPr>
          <a:xfrm>
            <a:off x="10120329" y="4006714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Shape 23"/>
          <p:cNvSpPr/>
          <p:nvPr/>
        </p:nvSpPr>
        <p:spPr>
          <a:xfrm>
            <a:off x="7155891" y="3309514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7" name="Shape 24"/>
          <p:cNvSpPr/>
          <p:nvPr/>
        </p:nvSpPr>
        <p:spPr>
          <a:xfrm>
            <a:off x="10132701" y="3757948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Shape 25"/>
          <p:cNvSpPr/>
          <p:nvPr/>
        </p:nvSpPr>
        <p:spPr>
          <a:xfrm>
            <a:off x="6666849" y="2726220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9" name="Shape 26"/>
          <p:cNvSpPr/>
          <p:nvPr/>
        </p:nvSpPr>
        <p:spPr>
          <a:xfrm>
            <a:off x="10228235" y="310880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Shape 27"/>
          <p:cNvSpPr/>
          <p:nvPr/>
        </p:nvSpPr>
        <p:spPr>
          <a:xfrm>
            <a:off x="7420336" y="346523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1" name="Shape 28"/>
          <p:cNvSpPr/>
          <p:nvPr/>
        </p:nvSpPr>
        <p:spPr>
          <a:xfrm>
            <a:off x="9379641" y="3465873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Shape 29"/>
          <p:cNvSpPr/>
          <p:nvPr/>
        </p:nvSpPr>
        <p:spPr>
          <a:xfrm>
            <a:off x="6583972" y="3424557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3" name="Shape 30"/>
          <p:cNvSpPr/>
          <p:nvPr/>
        </p:nvSpPr>
        <p:spPr>
          <a:xfrm>
            <a:off x="9949685" y="377026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Shape 31"/>
          <p:cNvSpPr/>
          <p:nvPr/>
        </p:nvSpPr>
        <p:spPr>
          <a:xfrm>
            <a:off x="7224948" y="244615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5" name="Shape 32"/>
          <p:cNvSpPr/>
          <p:nvPr/>
        </p:nvSpPr>
        <p:spPr>
          <a:xfrm>
            <a:off x="9238063" y="3769099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Shape 33"/>
          <p:cNvSpPr/>
          <p:nvPr/>
        </p:nvSpPr>
        <p:spPr>
          <a:xfrm>
            <a:off x="6686987" y="345383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7" name="Shape 34"/>
          <p:cNvSpPr/>
          <p:nvPr/>
        </p:nvSpPr>
        <p:spPr>
          <a:xfrm>
            <a:off x="9651567" y="3019859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Shape 35"/>
          <p:cNvSpPr/>
          <p:nvPr/>
        </p:nvSpPr>
        <p:spPr>
          <a:xfrm>
            <a:off x="7156747" y="2923227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9" name="Shape 36"/>
          <p:cNvSpPr/>
          <p:nvPr/>
        </p:nvSpPr>
        <p:spPr>
          <a:xfrm>
            <a:off x="9458482" y="3308443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Shape 37"/>
          <p:cNvSpPr/>
          <p:nvPr/>
        </p:nvSpPr>
        <p:spPr>
          <a:xfrm>
            <a:off x="6814460" y="2687631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1" name="Shape 38"/>
          <p:cNvSpPr/>
          <p:nvPr/>
        </p:nvSpPr>
        <p:spPr>
          <a:xfrm>
            <a:off x="9788824" y="295958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Shape 39"/>
          <p:cNvSpPr/>
          <p:nvPr/>
        </p:nvSpPr>
        <p:spPr>
          <a:xfrm>
            <a:off x="7230410" y="3395034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3" name="Shape 40"/>
          <p:cNvSpPr/>
          <p:nvPr/>
        </p:nvSpPr>
        <p:spPr>
          <a:xfrm>
            <a:off x="9351146" y="3522111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4" name="Shape 41"/>
          <p:cNvSpPr/>
          <p:nvPr/>
        </p:nvSpPr>
        <p:spPr>
          <a:xfrm>
            <a:off x="7289255" y="2658964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5" name="Shape 42"/>
          <p:cNvSpPr/>
          <p:nvPr/>
        </p:nvSpPr>
        <p:spPr>
          <a:xfrm>
            <a:off x="9451572" y="3225931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Text 43"/>
          <p:cNvSpPr/>
          <p:nvPr/>
        </p:nvSpPr>
        <p:spPr>
          <a:xfrm>
            <a:off x="6217920" y="45720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boundary · dashed = margin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QUICK CLASSICS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k-NN &amp; Naive Bayes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43230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by the majority vote of the k closest points.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3101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— 'lazy'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scaling; slow at predict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classes cluster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7373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73952" y="243230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Bayes' rule assuming features are independent.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19672" y="33101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fast; tiny data OK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with text / counts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independence assumption is 'naive'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 REACH FOR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Choosing a classifier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3736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interpretable baseline</a:t>
            </a:r>
            <a:endParaRPr lang="en-US" sz="1250" dirty="0"/>
          </a:p>
        </p:txBody>
      </p:sp>
      <p:pic>
        <p:nvPicPr>
          <p:cNvPr id="8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65960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7373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41401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241401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data, top accuracy</a:t>
            </a:r>
            <a:endParaRPr lang="en-US" sz="12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4261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241401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(XGBoost/LightGBM)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09067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" y="30906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low-tuning strong model</a:t>
            </a:r>
            <a:endParaRPr lang="en-US" sz="1250" dirty="0"/>
          </a:p>
        </p:txBody>
      </p:sp>
      <p:pic>
        <p:nvPicPr>
          <p:cNvPr id="16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31927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60920" y="30906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376732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2960" y="376732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margins, small data</a:t>
            </a:r>
            <a:endParaRPr lang="en-US" sz="1250" dirty="0"/>
          </a:p>
        </p:txBody>
      </p:sp>
      <p:pic>
        <p:nvPicPr>
          <p:cNvPr id="20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995928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60920" y="376732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444398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22960" y="444398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counts, very fast</a:t>
            </a:r>
            <a:endParaRPr lang="en-US" sz="1250" dirty="0"/>
          </a:p>
        </p:txBody>
      </p:sp>
      <p:pic>
        <p:nvPicPr>
          <p:cNvPr id="24" name="Image 5" descr="ic_arrow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672584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60920" y="444398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simple, then try a gradient-boosting model — and always compare with the same metric.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&amp; PROBABILITIES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More classes, better probabilities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to many classes, and trusting the probabilities a model reports.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2 · Phase D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TWO CLASSES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Multiclass strategies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allef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 model per class; pick the highest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One-vs-One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for each pair; majority vote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func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logistic — all classes at once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tre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&amp; forests handle multiclass directly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extend too: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macro-F1 (treat classes equally) or weighted-F1 (weight by class size) for multiclass reports.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ort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DECISION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importance &amp; explainability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built-in feature_importances_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standardised coefficients / odds-ratios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permutation importance, SHAP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trust, debugging, regulatory explanation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importances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PROBABILITIES HONEST?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calibration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 events scored 0.7, ~70% actually happen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plot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predicted vs observed frequency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Platt scaling, isotonic regression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when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act on the probability, not just rank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curve (vs perfect)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&amp; DEPLOY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Make it production-ready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hyperparameters, handle imbalance, and avoid the classic traps.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2 · Phase D  ·  04 / 22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SETTINGS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Hyperparameter tuning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combo, scored by CV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faster over large spaces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wisely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tune on F1 / AUC, not accuracy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tune preprocessing + model together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926080"/>
          </a:xfrm>
          <a:prstGeom prst="roundRect">
            <a:avLst>
              <a:gd name="adj" fmla="val 187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{'max_depth':[4,8,None],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'n_estimators':[200,400]}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 = GridSearchCV(RandomForestClassifier(),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grid, cv=5, scoring='f1')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gs.fit(X_train, y_train)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print(gs.best_params_, gs.best_score_)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a gradient-boosting classifier on F1; compare the tuned model with the default.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POSITIVE CLASS IS RARE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Handling imbalance, deeper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e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minority errors more heavily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ub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oversample / undersample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rosshai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recall or F1, not 0.5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rul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metric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&amp; recall, never accuracy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or resampling to learn the minority, then a tuned threshold and PR-AUC to evaluate.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validation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grid-search against the test set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re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tree depth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unpruned trees memorise the data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imbalance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lies when classes are skewed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ca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for SVM/kNN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models need it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needs discipline: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can top the leaderboard or overfit badly — cross-validate, tune carefully, and check on held-out data.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draw staircase boundaries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bag; boosting corrects errors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SVM/kNN/NB each have a sweet spot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Multiclass: OvR, OvO, softmax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the right metric; calibrate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tree, forest &amp; boosting model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F1 &amp; ROC-AUC across them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the best model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feature importance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SMOTE / class_weight on imbalance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Foundations — learning without labels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finding natural groups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tre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and ensembles are the tabular workhorses — powerful, but only as trustworthy as your tuning, metric choice and validation.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(finish)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2026-06-11T15:22:28Z</dcterms:created>
  <dcterms:modified xsi:type="dcterms:W3CDTF">2026-06-11T15:22:28Z</dcterms:modified>
</cp:coreProperties>
</file>