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age</c:v>
                  </c:pt>
                  <c:pt idx="1">
                    <c:v>tenure</c:v>
                  </c:pt>
                  <c:pt idx="2">
                    <c:v>visits</c:v>
                  </c:pt>
                  <c:pt idx="3">
                    <c:v>salary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25</c:v>
                </c:pt>
                <c:pt idx="2">
                  <c:v>400</c:v>
                </c:pt>
                <c:pt idx="3">
                  <c:v>95000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3.png"/><Relationship Id="rId6" Type="http://schemas.openxmlformats.org/officeDocument/2006/relationships/image" Target="../media/image-19-6.png"/><Relationship Id="rId7" Type="http://schemas.openxmlformats.org/officeDocument/2006/relationships/image" Target="../media/image-19-3.png"/><Relationship Id="rId8" Type="http://schemas.openxmlformats.org/officeDocument/2006/relationships/image" Target="../media/image-19-8.png"/><Relationship Id="rId9" Type="http://schemas.openxmlformats.org/officeDocument/2006/relationships/image" Target="../media/image-19-3.png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objgrou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9  ·  PHASE E — UNSUPERVISED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Unsupervised Foundations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Finding structure in data that has no labels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similarity &amp; distance · scaling · the curse of dimensionality · the toolbox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U17  ·  Phase E  ·  22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obj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without an answer key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— no y. The model finds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structure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its own: groups, patterns, lower-dimensional shape, and outliers.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obj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without labels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magn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comparrow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dimensionality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shape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· reduce · detect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rul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ground truth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real-world data is unlabelled — unsupervised learning is how we make sense of it.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obj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unsupervised learning?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labels, no targets — just data and the structure waiting inside it.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Foundations · Phase E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obj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NOT ANSWERS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unsupervised learning?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 from inputs X alone — there is no label y to predict or to learn from.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obj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0449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natural clusters of similar items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comparrow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0449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dimensions, same information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searchlo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04495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points that don't fit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projdia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04495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items that co-occur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rewarded for structure it discovers — not for matching a known answer.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LEARN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Supervised vs unsupervised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6263F"/>
          </a:solidFill>
          <a:ln/>
        </p:spPr>
      </p:sp>
      <p:sp>
        <p:nvSpPr>
          <p:cNvPr id="7" name="Text 4"/>
          <p:cNvSpPr/>
          <p:nvPr/>
        </p:nvSpPr>
        <p:spPr>
          <a:xfrm>
            <a:off x="420624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55280" y="1783080"/>
            <a:ext cx="356616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20624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(X, y)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2423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(X only)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449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0449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206240" y="3044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label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30449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structure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6667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6667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06240" y="36667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regress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55280" y="36667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cluster, reduce, detect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2885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288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206240" y="42885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true 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955280" y="42885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— no ground truth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ap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TASK FAMILIES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unsupervised learning does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2697480"/>
          </a:xfrm>
          <a:prstGeom prst="roundRect">
            <a:avLst>
              <a:gd name="adj" fmla="val 3147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9339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obj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9456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871216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76656" y="340156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items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31520" y="3886200"/>
            <a:ext cx="2249424" cy="411480"/>
          </a:xfrm>
          <a:prstGeom prst="roundRect">
            <a:avLst>
              <a:gd name="adj" fmla="val 13333"/>
            </a:avLst>
          </a:prstGeom>
          <a:solidFill>
            <a:srgbClr val="EAF0F6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38862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hierarchical, DBSCAN</a:t>
            </a:r>
            <a:endParaRPr lang="en-US" sz="880" dirty="0"/>
          </a:p>
        </p:txBody>
      </p:sp>
      <p:sp>
        <p:nvSpPr>
          <p:cNvPr id="13" name="Shape 9"/>
          <p:cNvSpPr/>
          <p:nvPr/>
        </p:nvSpPr>
        <p:spPr>
          <a:xfrm>
            <a:off x="3346704" y="1737360"/>
            <a:ext cx="2615184" cy="2697480"/>
          </a:xfrm>
          <a:prstGeom prst="roundRect">
            <a:avLst>
              <a:gd name="adj" fmla="val 3147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199339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comparrow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9456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38144" y="2871216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474720" y="340156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features, kept info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529584" y="3886200"/>
            <a:ext cx="2249424" cy="411480"/>
          </a:xfrm>
          <a:prstGeom prst="roundRect">
            <a:avLst>
              <a:gd name="adj" fmla="val 13333"/>
            </a:avLst>
          </a:prstGeom>
          <a:solidFill>
            <a:srgbClr val="EAF0F6"/>
          </a:solidFill>
          <a:ln/>
        </p:spPr>
      </p:sp>
      <p:sp>
        <p:nvSpPr>
          <p:cNvPr id="19" name="Text 14"/>
          <p:cNvSpPr/>
          <p:nvPr/>
        </p:nvSpPr>
        <p:spPr>
          <a:xfrm>
            <a:off x="3529584" y="38862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t-SNE, UMAP</a:t>
            </a:r>
            <a:endParaRPr lang="en-US" sz="880" dirty="0"/>
          </a:p>
        </p:txBody>
      </p:sp>
      <p:sp>
        <p:nvSpPr>
          <p:cNvPr id="20" name="Shape 15"/>
          <p:cNvSpPr/>
          <p:nvPr/>
        </p:nvSpPr>
        <p:spPr>
          <a:xfrm>
            <a:off x="6144768" y="1737360"/>
            <a:ext cx="2615184" cy="2697480"/>
          </a:xfrm>
          <a:prstGeom prst="roundRect">
            <a:avLst>
              <a:gd name="adj" fmla="val 3147"/>
            </a:avLst>
          </a:prstGeom>
          <a:solidFill>
            <a:srgbClr val="F2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068312" y="199339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searchlo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94560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36208" y="2871216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272784" y="340156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odd ones out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327648" y="3886200"/>
            <a:ext cx="2249424" cy="411480"/>
          </a:xfrm>
          <a:prstGeom prst="roundRect">
            <a:avLst>
              <a:gd name="adj" fmla="val 13333"/>
            </a:avLst>
          </a:prstGeom>
          <a:solidFill>
            <a:srgbClr val="EAF0F6"/>
          </a:solidFill>
          <a:ln/>
        </p:spPr>
      </p:sp>
      <p:sp>
        <p:nvSpPr>
          <p:cNvPr id="26" name="Text 20"/>
          <p:cNvSpPr/>
          <p:nvPr/>
        </p:nvSpPr>
        <p:spPr>
          <a:xfrm>
            <a:off x="6327648" y="38862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one-class SVM</a:t>
            </a:r>
            <a:endParaRPr lang="en-US" sz="880" dirty="0"/>
          </a:p>
        </p:txBody>
      </p:sp>
      <p:sp>
        <p:nvSpPr>
          <p:cNvPr id="27" name="Shape 21"/>
          <p:cNvSpPr/>
          <p:nvPr/>
        </p:nvSpPr>
        <p:spPr>
          <a:xfrm>
            <a:off x="8942832" y="1737360"/>
            <a:ext cx="2615184" cy="2697480"/>
          </a:xfrm>
          <a:prstGeom prst="roundRect">
            <a:avLst>
              <a:gd name="adj" fmla="val 3147"/>
            </a:avLst>
          </a:prstGeom>
          <a:solidFill>
            <a:srgbClr val="F2F5F9"/>
          </a:solidFill>
          <a:ln/>
        </p:spPr>
      </p:sp>
      <p:sp>
        <p:nvSpPr>
          <p:cNvPr id="28" name="Shape 22"/>
          <p:cNvSpPr/>
          <p:nvPr/>
        </p:nvSpPr>
        <p:spPr>
          <a:xfrm>
            <a:off x="9866376" y="199339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9" name="Image 4" descr="ic_projdia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94560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34272" y="2871216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9070848" y="340156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that go together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9125712" y="3886200"/>
            <a:ext cx="2249424" cy="411480"/>
          </a:xfrm>
          <a:prstGeom prst="roundRect">
            <a:avLst>
              <a:gd name="adj" fmla="val 13333"/>
            </a:avLst>
          </a:prstGeom>
          <a:solidFill>
            <a:srgbClr val="EAF0F6"/>
          </a:solidFill>
          <a:ln/>
        </p:spPr>
      </p:sp>
      <p:sp>
        <p:nvSpPr>
          <p:cNvPr id="33" name="Text 26"/>
          <p:cNvSpPr/>
          <p:nvPr/>
        </p:nvSpPr>
        <p:spPr>
          <a:xfrm>
            <a:off x="9125712" y="38862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market-basket / Apriori</a:t>
            </a:r>
            <a:endParaRPr lang="en-US" sz="880" dirty="0"/>
          </a:p>
        </p:txBody>
      </p:sp>
      <p:sp>
        <p:nvSpPr>
          <p:cNvPr id="34" name="Text 2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unsupervised learning pays off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373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120640" y="173736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users by behaviour for targeting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1401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1401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&amp; visualisation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20640" y="241401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100s of features to 2-3 to see them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09067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09067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/ fault detection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120640" y="3090672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fraud, defects, intrusions with no labels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6732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76732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for ML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120640" y="376732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from clusters / components feed models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44398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44398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20640" y="444398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 new dataset before modelling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scarce and expensive — most data in the wild is unlabelled.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magn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MATHEMATICS OF SIMILARITY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Distance, similarity &amp; scale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methods rest on one question: how close are two points?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Foundations · Phase E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agn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IS CLOSE?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Distance &amp; similarity metrics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84448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30428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distance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3035808" cy="548640"/>
          </a:xfrm>
          <a:prstGeom prst="roundRect">
            <a:avLst>
              <a:gd name="adj" fmla="val 10000"/>
            </a:avLst>
          </a:prstGeom>
          <a:solidFill>
            <a:srgbClr val="16263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74320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√Σ(aᵢ−bᵢ)²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most clustering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15968" y="1737360"/>
            <a:ext cx="3584448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4590288" y="192024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90288" y="230428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/ city-block distance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90288" y="2743200"/>
            <a:ext cx="3035808" cy="548640"/>
          </a:xfrm>
          <a:prstGeom prst="roundRect">
            <a:avLst>
              <a:gd name="adj" fmla="val 10000"/>
            </a:avLst>
          </a:prstGeom>
          <a:solidFill>
            <a:srgbClr val="1626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90288" y="274320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Σ|aᵢ−bᵢ|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90288" y="3429000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83296" y="1737360"/>
            <a:ext cx="3584448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</p:sp>
      <p:sp>
        <p:nvSpPr>
          <p:cNvPr id="19" name="Text 16"/>
          <p:cNvSpPr/>
          <p:nvPr/>
        </p:nvSpPr>
        <p:spPr>
          <a:xfrm>
            <a:off x="8357616" y="192024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57616" y="230428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between vectors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357616" y="2743200"/>
            <a:ext cx="3035808" cy="548640"/>
          </a:xfrm>
          <a:prstGeom prst="roundRect">
            <a:avLst>
              <a:gd name="adj" fmla="val 10000"/>
            </a:avLst>
          </a:prstGeom>
          <a:solidFill>
            <a:srgbClr val="16263F"/>
          </a:solidFill>
          <a:ln/>
        </p:spPr>
      </p:sp>
      <p:sp>
        <p:nvSpPr>
          <p:cNvPr id="22" name="Text 19"/>
          <p:cNvSpPr/>
          <p:nvPr/>
        </p:nvSpPr>
        <p:spPr>
          <a:xfrm>
            <a:off x="8357616" y="274320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cos θ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57616" y="3429000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high-dimensional data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defines what 'similar' means — choose it to match your data and goal.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arrow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GOTCHA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scaling is critical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distance is dominated by large-range features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salary (10⁵) drowns out age (10¹)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standardise so each feature contributes fairly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scale before any distance-based method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62763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ranges before scaling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salary's range dwarfs the rest → it alone decides 'distance'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arrow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 ARE TOO MANY FEATURES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curse of dimensionality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vecto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blur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looks equally far apart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brail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gets sparse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spread thin in high-D space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war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weaken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kNN degrade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omparrow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remedy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dimensions first (PCA)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very high dimensions, the notion of 'nearest' loses meaning — so reduce dimensions before clustering.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hap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tour of the methods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families you'll use — clustering, reduction, detection, association.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Foundations · Phase E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obj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POINTS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Clustering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partition data into natural groups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round clusters around centres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tree of nested groups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density-based, finds odd shapes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7241248" y="2161342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6" name="Shape 13"/>
          <p:cNvSpPr/>
          <p:nvPr/>
        </p:nvSpPr>
        <p:spPr>
          <a:xfrm>
            <a:off x="7699653" y="2760284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7" name="Shape 14"/>
          <p:cNvSpPr/>
          <p:nvPr/>
        </p:nvSpPr>
        <p:spPr>
          <a:xfrm>
            <a:off x="7540369" y="2450470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8" name="Shape 15"/>
          <p:cNvSpPr/>
          <p:nvPr/>
        </p:nvSpPr>
        <p:spPr>
          <a:xfrm>
            <a:off x="7395571" y="2424007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9" name="Shape 16"/>
          <p:cNvSpPr/>
          <p:nvPr/>
        </p:nvSpPr>
        <p:spPr>
          <a:xfrm>
            <a:off x="6996586" y="2613161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0" name="Shape 17"/>
          <p:cNvSpPr/>
          <p:nvPr/>
        </p:nvSpPr>
        <p:spPr>
          <a:xfrm>
            <a:off x="7449724" y="2909561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1" name="Shape 18"/>
          <p:cNvSpPr/>
          <p:nvPr/>
        </p:nvSpPr>
        <p:spPr>
          <a:xfrm>
            <a:off x="7964762" y="2920351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2" name="Shape 19"/>
          <p:cNvSpPr/>
          <p:nvPr/>
        </p:nvSpPr>
        <p:spPr>
          <a:xfrm>
            <a:off x="7277345" y="245587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3" name="Shape 20"/>
          <p:cNvSpPr/>
          <p:nvPr/>
        </p:nvSpPr>
        <p:spPr>
          <a:xfrm>
            <a:off x="7204985" y="2748891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4" name="Shape 21"/>
          <p:cNvSpPr/>
          <p:nvPr/>
        </p:nvSpPr>
        <p:spPr>
          <a:xfrm>
            <a:off x="6815219" y="2918855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5" name="Shape 22"/>
          <p:cNvSpPr/>
          <p:nvPr/>
        </p:nvSpPr>
        <p:spPr>
          <a:xfrm>
            <a:off x="7688491" y="2654197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6" name="Shape 23"/>
          <p:cNvSpPr/>
          <p:nvPr/>
        </p:nvSpPr>
        <p:spPr>
          <a:xfrm>
            <a:off x="7232873" y="2334222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7" name="Shape 24"/>
          <p:cNvSpPr/>
          <p:nvPr/>
        </p:nvSpPr>
        <p:spPr>
          <a:xfrm>
            <a:off x="6933983" y="278527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8" name="Shape 25"/>
          <p:cNvSpPr/>
          <p:nvPr/>
        </p:nvSpPr>
        <p:spPr>
          <a:xfrm>
            <a:off x="7376584" y="2476594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9" name="Shape 26"/>
          <p:cNvSpPr/>
          <p:nvPr/>
        </p:nvSpPr>
        <p:spPr>
          <a:xfrm>
            <a:off x="7960108" y="3128593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0" name="Shape 27"/>
          <p:cNvSpPr/>
          <p:nvPr/>
        </p:nvSpPr>
        <p:spPr>
          <a:xfrm>
            <a:off x="7467613" y="2885384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1" name="Shape 28"/>
          <p:cNvSpPr/>
          <p:nvPr/>
        </p:nvSpPr>
        <p:spPr>
          <a:xfrm>
            <a:off x="9054343" y="238027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Shape 29"/>
          <p:cNvSpPr/>
          <p:nvPr/>
        </p:nvSpPr>
        <p:spPr>
          <a:xfrm>
            <a:off x="9539090" y="2297364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Shape 30"/>
          <p:cNvSpPr/>
          <p:nvPr/>
        </p:nvSpPr>
        <p:spPr>
          <a:xfrm>
            <a:off x="9848670" y="2579088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Shape 31"/>
          <p:cNvSpPr/>
          <p:nvPr/>
        </p:nvSpPr>
        <p:spPr>
          <a:xfrm>
            <a:off x="9856650" y="2548109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Shape 32"/>
          <p:cNvSpPr/>
          <p:nvPr/>
        </p:nvSpPr>
        <p:spPr>
          <a:xfrm>
            <a:off x="9104698" y="2217975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Shape 33"/>
          <p:cNvSpPr/>
          <p:nvPr/>
        </p:nvSpPr>
        <p:spPr>
          <a:xfrm>
            <a:off x="9931874" y="314655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7" name="Shape 34"/>
          <p:cNvSpPr/>
          <p:nvPr/>
        </p:nvSpPr>
        <p:spPr>
          <a:xfrm>
            <a:off x="9935902" y="2340027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Shape 35"/>
          <p:cNvSpPr/>
          <p:nvPr/>
        </p:nvSpPr>
        <p:spPr>
          <a:xfrm>
            <a:off x="9369653" y="2250346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9" name="Shape 36"/>
          <p:cNvSpPr/>
          <p:nvPr/>
        </p:nvSpPr>
        <p:spPr>
          <a:xfrm>
            <a:off x="9149785" y="2850416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Shape 37"/>
          <p:cNvSpPr/>
          <p:nvPr/>
        </p:nvSpPr>
        <p:spPr>
          <a:xfrm>
            <a:off x="9718822" y="3219064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1" name="Shape 38"/>
          <p:cNvSpPr/>
          <p:nvPr/>
        </p:nvSpPr>
        <p:spPr>
          <a:xfrm>
            <a:off x="9480515" y="2760237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Shape 39"/>
          <p:cNvSpPr/>
          <p:nvPr/>
        </p:nvSpPr>
        <p:spPr>
          <a:xfrm>
            <a:off x="9209282" y="315372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3" name="Shape 40"/>
          <p:cNvSpPr/>
          <p:nvPr/>
        </p:nvSpPr>
        <p:spPr>
          <a:xfrm>
            <a:off x="9632128" y="225914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4" name="Shape 41"/>
          <p:cNvSpPr/>
          <p:nvPr/>
        </p:nvSpPr>
        <p:spPr>
          <a:xfrm>
            <a:off x="9864003" y="3016128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hape 42"/>
          <p:cNvSpPr/>
          <p:nvPr/>
        </p:nvSpPr>
        <p:spPr>
          <a:xfrm>
            <a:off x="9256926" y="2227665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Shape 43"/>
          <p:cNvSpPr/>
          <p:nvPr/>
        </p:nvSpPr>
        <p:spPr>
          <a:xfrm>
            <a:off x="10102540" y="3117859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7" name="Shape 44"/>
          <p:cNvSpPr/>
          <p:nvPr/>
        </p:nvSpPr>
        <p:spPr>
          <a:xfrm>
            <a:off x="8569398" y="3566659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8" name="Shape 45"/>
          <p:cNvSpPr/>
          <p:nvPr/>
        </p:nvSpPr>
        <p:spPr>
          <a:xfrm>
            <a:off x="8622156" y="3912729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9" name="Shape 46"/>
          <p:cNvSpPr/>
          <p:nvPr/>
        </p:nvSpPr>
        <p:spPr>
          <a:xfrm>
            <a:off x="9179340" y="4149297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0" name="Shape 47"/>
          <p:cNvSpPr/>
          <p:nvPr/>
        </p:nvSpPr>
        <p:spPr>
          <a:xfrm>
            <a:off x="8217980" y="4411829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1" name="Shape 48"/>
          <p:cNvSpPr/>
          <p:nvPr/>
        </p:nvSpPr>
        <p:spPr>
          <a:xfrm>
            <a:off x="8646093" y="3819793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2" name="Shape 49"/>
          <p:cNvSpPr/>
          <p:nvPr/>
        </p:nvSpPr>
        <p:spPr>
          <a:xfrm>
            <a:off x="8203646" y="4256175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3" name="Shape 50"/>
          <p:cNvSpPr/>
          <p:nvPr/>
        </p:nvSpPr>
        <p:spPr>
          <a:xfrm>
            <a:off x="8139188" y="3905720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4" name="Shape 51"/>
          <p:cNvSpPr/>
          <p:nvPr/>
        </p:nvSpPr>
        <p:spPr>
          <a:xfrm>
            <a:off x="8658177" y="3594777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5" name="Shape 52"/>
          <p:cNvSpPr/>
          <p:nvPr/>
        </p:nvSpPr>
        <p:spPr>
          <a:xfrm>
            <a:off x="9065218" y="3987132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6" name="Shape 53"/>
          <p:cNvSpPr/>
          <p:nvPr/>
        </p:nvSpPr>
        <p:spPr>
          <a:xfrm>
            <a:off x="8759743" y="3511371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7" name="Shape 54"/>
          <p:cNvSpPr/>
          <p:nvPr/>
        </p:nvSpPr>
        <p:spPr>
          <a:xfrm>
            <a:off x="9085128" y="3603442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8" name="Shape 55"/>
          <p:cNvSpPr/>
          <p:nvPr/>
        </p:nvSpPr>
        <p:spPr>
          <a:xfrm>
            <a:off x="8350298" y="3707930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9" name="Shape 56"/>
          <p:cNvSpPr/>
          <p:nvPr/>
        </p:nvSpPr>
        <p:spPr>
          <a:xfrm>
            <a:off x="9226204" y="3594542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0" name="Shape 57"/>
          <p:cNvSpPr/>
          <p:nvPr/>
        </p:nvSpPr>
        <p:spPr>
          <a:xfrm>
            <a:off x="9073505" y="4211546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1" name="Shape 58"/>
          <p:cNvSpPr/>
          <p:nvPr/>
        </p:nvSpPr>
        <p:spPr>
          <a:xfrm>
            <a:off x="9045924" y="3784327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2" name="Shape 59"/>
          <p:cNvSpPr/>
          <p:nvPr/>
        </p:nvSpPr>
        <p:spPr>
          <a:xfrm>
            <a:off x="8685133" y="4520993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3" name="Text 60"/>
          <p:cNvSpPr/>
          <p:nvPr/>
        </p:nvSpPr>
        <p:spPr>
          <a:xfrm>
            <a:off x="6217920" y="461772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natural groups, no labels needed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arrow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FEATURES, SAME 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Dimensionality reduction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compress many features into a few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new axes capturing most variance (U11)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/ UMAP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2-D maps for visualising clusters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speed, denoising, visualisation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features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2468880"/>
            <a:ext cx="292608" cy="292608"/>
          </a:xfrm>
          <a:prstGeom prst="rect">
            <a:avLst/>
          </a:prstGeom>
          <a:solidFill>
            <a:srgbClr val="2D6A9F">
              <a:alpha val="8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784848" y="2468880"/>
            <a:ext cx="292608" cy="292608"/>
          </a:xfrm>
          <a:prstGeom prst="rect">
            <a:avLst/>
          </a:prstGeom>
          <a:solidFill>
            <a:srgbClr val="2D6A9F">
              <a:alpha val="8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168896" y="2468880"/>
            <a:ext cx="292608" cy="292608"/>
          </a:xfrm>
          <a:prstGeom prst="rect">
            <a:avLst/>
          </a:prstGeom>
          <a:solidFill>
            <a:srgbClr val="2D6A9F">
              <a:alpha val="8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552944" y="2468880"/>
            <a:ext cx="292608" cy="292608"/>
          </a:xfrm>
          <a:prstGeom prst="rect">
            <a:avLst/>
          </a:prstGeom>
          <a:solidFill>
            <a:srgbClr val="2D6A9F">
              <a:alpha val="8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936992" y="2468880"/>
            <a:ext cx="292608" cy="292608"/>
          </a:xfrm>
          <a:prstGeom prst="rect">
            <a:avLst/>
          </a:prstGeom>
          <a:solidFill>
            <a:srgbClr val="2D6A9F">
              <a:alpha val="8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400800" y="2852928"/>
            <a:ext cx="292608" cy="292608"/>
          </a:xfrm>
          <a:prstGeom prst="rect">
            <a:avLst/>
          </a:prstGeom>
          <a:solidFill>
            <a:srgbClr val="2D6A9F">
              <a:alpha val="8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784848" y="2852928"/>
            <a:ext cx="292608" cy="292608"/>
          </a:xfrm>
          <a:prstGeom prst="rect">
            <a:avLst/>
          </a:prstGeom>
          <a:solidFill>
            <a:srgbClr val="2D6A9F">
              <a:alpha val="8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168896" y="2852928"/>
            <a:ext cx="292608" cy="292608"/>
          </a:xfrm>
          <a:prstGeom prst="rect">
            <a:avLst/>
          </a:prstGeom>
          <a:solidFill>
            <a:srgbClr val="2D6A9F">
              <a:alpha val="8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552944" y="2852928"/>
            <a:ext cx="292608" cy="292608"/>
          </a:xfrm>
          <a:prstGeom prst="rect">
            <a:avLst/>
          </a:prstGeom>
          <a:solidFill>
            <a:srgbClr val="2D6A9F">
              <a:alpha val="8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936992" y="2852928"/>
            <a:ext cx="292608" cy="292608"/>
          </a:xfrm>
          <a:prstGeom prst="rect">
            <a:avLst/>
          </a:prstGeom>
          <a:solidFill>
            <a:srgbClr val="2D6A9F">
              <a:alpha val="80000"/>
            </a:srgbClr>
          </a:solidFill>
          <a:ln/>
        </p:spPr>
      </p:sp>
      <p:pic>
        <p:nvPicPr>
          <p:cNvPr id="26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743200"/>
            <a:ext cx="457200" cy="457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3268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components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692640" y="2514600"/>
            <a:ext cx="365760" cy="36576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29" name="Shape 25"/>
          <p:cNvSpPr/>
          <p:nvPr/>
        </p:nvSpPr>
        <p:spPr>
          <a:xfrm>
            <a:off x="10149840" y="2514600"/>
            <a:ext cx="365760" cy="36576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30" name="Shape 26"/>
          <p:cNvSpPr/>
          <p:nvPr/>
        </p:nvSpPr>
        <p:spPr>
          <a:xfrm>
            <a:off x="10607040" y="2514600"/>
            <a:ext cx="365760" cy="36576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31" name="Text 27"/>
          <p:cNvSpPr/>
          <p:nvPr/>
        </p:nvSpPr>
        <p:spPr>
          <a:xfrm>
            <a:off x="6217920" y="420624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variance that matters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lo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ODD ONES OUT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Anomaly &amp; novelty detection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flag points unlike the rest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isolation forest, one-class SVM, LOF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fraud, fault, intrusion, defect detection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works when anomalies are unlabelled &amp; rare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7844558" y="3106458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6" name="Shape 13"/>
          <p:cNvSpPr/>
          <p:nvPr/>
        </p:nvSpPr>
        <p:spPr>
          <a:xfrm>
            <a:off x="7090299" y="2642948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7" name="Shape 14"/>
          <p:cNvSpPr/>
          <p:nvPr/>
        </p:nvSpPr>
        <p:spPr>
          <a:xfrm>
            <a:off x="7749596" y="3026858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8" name="Shape 15"/>
          <p:cNvSpPr/>
          <p:nvPr/>
        </p:nvSpPr>
        <p:spPr>
          <a:xfrm>
            <a:off x="7016033" y="3571823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9" name="Shape 16"/>
          <p:cNvSpPr/>
          <p:nvPr/>
        </p:nvSpPr>
        <p:spPr>
          <a:xfrm>
            <a:off x="8043725" y="2887052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0" name="Shape 17"/>
          <p:cNvSpPr/>
          <p:nvPr/>
        </p:nvSpPr>
        <p:spPr>
          <a:xfrm>
            <a:off x="7430201" y="3429006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1" name="Shape 18"/>
          <p:cNvSpPr/>
          <p:nvPr/>
        </p:nvSpPr>
        <p:spPr>
          <a:xfrm>
            <a:off x="8180562" y="2398042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0925" y="262992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3" name="Shape 20"/>
          <p:cNvSpPr/>
          <p:nvPr/>
        </p:nvSpPr>
        <p:spPr>
          <a:xfrm>
            <a:off x="8209779" y="2517127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4" name="Shape 21"/>
          <p:cNvSpPr/>
          <p:nvPr/>
        </p:nvSpPr>
        <p:spPr>
          <a:xfrm>
            <a:off x="7985345" y="2998875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5" name="Shape 22"/>
          <p:cNvSpPr/>
          <p:nvPr/>
        </p:nvSpPr>
        <p:spPr>
          <a:xfrm>
            <a:off x="7212459" y="235925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6" name="Shape 23"/>
          <p:cNvSpPr/>
          <p:nvPr/>
        </p:nvSpPr>
        <p:spPr>
          <a:xfrm>
            <a:off x="8747210" y="3704982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7" name="Shape 24"/>
          <p:cNvSpPr/>
          <p:nvPr/>
        </p:nvSpPr>
        <p:spPr>
          <a:xfrm>
            <a:off x="7100940" y="2935920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8" name="Shape 25"/>
          <p:cNvSpPr/>
          <p:nvPr/>
        </p:nvSpPr>
        <p:spPr>
          <a:xfrm>
            <a:off x="8780565" y="2562722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9" name="Shape 26"/>
          <p:cNvSpPr/>
          <p:nvPr/>
        </p:nvSpPr>
        <p:spPr>
          <a:xfrm>
            <a:off x="7701374" y="3091130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0" name="Shape 27"/>
          <p:cNvSpPr/>
          <p:nvPr/>
        </p:nvSpPr>
        <p:spPr>
          <a:xfrm>
            <a:off x="8209589" y="269685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1" name="Shape 28"/>
          <p:cNvSpPr/>
          <p:nvPr/>
        </p:nvSpPr>
        <p:spPr>
          <a:xfrm>
            <a:off x="7200765" y="372799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2" name="Shape 29"/>
          <p:cNvSpPr/>
          <p:nvPr/>
        </p:nvSpPr>
        <p:spPr>
          <a:xfrm>
            <a:off x="7754512" y="2626291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3" name="Shape 30"/>
          <p:cNvSpPr/>
          <p:nvPr/>
        </p:nvSpPr>
        <p:spPr>
          <a:xfrm>
            <a:off x="7958491" y="2769371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4" name="Shape 31"/>
          <p:cNvSpPr/>
          <p:nvPr/>
        </p:nvSpPr>
        <p:spPr>
          <a:xfrm>
            <a:off x="7166978" y="341668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5" name="Shape 32"/>
          <p:cNvSpPr/>
          <p:nvPr/>
        </p:nvSpPr>
        <p:spPr>
          <a:xfrm>
            <a:off x="7565503" y="2798146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6" name="Shape 33"/>
          <p:cNvSpPr/>
          <p:nvPr/>
        </p:nvSpPr>
        <p:spPr>
          <a:xfrm>
            <a:off x="7018207" y="3641137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7" name="Shape 34"/>
          <p:cNvSpPr/>
          <p:nvPr/>
        </p:nvSpPr>
        <p:spPr>
          <a:xfrm>
            <a:off x="7338085" y="3579512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8" name="Shape 35"/>
          <p:cNvSpPr/>
          <p:nvPr/>
        </p:nvSpPr>
        <p:spPr>
          <a:xfrm>
            <a:off x="7804907" y="2631333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9" name="Shape 36"/>
          <p:cNvSpPr/>
          <p:nvPr/>
        </p:nvSpPr>
        <p:spPr>
          <a:xfrm>
            <a:off x="8070975" y="2873756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0" name="Shape 37"/>
          <p:cNvSpPr/>
          <p:nvPr/>
        </p:nvSpPr>
        <p:spPr>
          <a:xfrm>
            <a:off x="8384645" y="324110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1" name="Shape 38"/>
          <p:cNvSpPr/>
          <p:nvPr/>
        </p:nvSpPr>
        <p:spPr>
          <a:xfrm>
            <a:off x="7131605" y="2613535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2" name="Shape 39"/>
          <p:cNvSpPr/>
          <p:nvPr/>
        </p:nvSpPr>
        <p:spPr>
          <a:xfrm>
            <a:off x="7763998" y="2417948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3" name="Shape 40"/>
          <p:cNvSpPr/>
          <p:nvPr/>
        </p:nvSpPr>
        <p:spPr>
          <a:xfrm>
            <a:off x="6953858" y="288915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4" name="Shape 41"/>
          <p:cNvSpPr/>
          <p:nvPr/>
        </p:nvSpPr>
        <p:spPr>
          <a:xfrm>
            <a:off x="8227836" y="3232429"/>
            <a:ext cx="118872" cy="118872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45" name="Shape 42"/>
          <p:cNvSpPr/>
          <p:nvPr/>
        </p:nvSpPr>
        <p:spPr>
          <a:xfrm>
            <a:off x="6766560" y="219456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Shape 43"/>
          <p:cNvSpPr/>
          <p:nvPr/>
        </p:nvSpPr>
        <p:spPr>
          <a:xfrm>
            <a:off x="6601968" y="2029968"/>
            <a:ext cx="475488" cy="475488"/>
          </a:xfrm>
          <a:prstGeom prst="ellipse">
            <a:avLst/>
          </a:prstGeom>
          <a:ln w="25400">
            <a:solidFill>
              <a:srgbClr val="C0392B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10972800" y="402336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8" name="Shape 45"/>
          <p:cNvSpPr/>
          <p:nvPr/>
        </p:nvSpPr>
        <p:spPr>
          <a:xfrm>
            <a:off x="10808208" y="3858768"/>
            <a:ext cx="475488" cy="475488"/>
          </a:xfrm>
          <a:prstGeom prst="ellipse">
            <a:avLst/>
          </a:prstGeom>
          <a:ln w="25400">
            <a:solidFill>
              <a:srgbClr val="C0392B"/>
            </a:solidFill>
            <a:prstDash val="dash"/>
          </a:ln>
        </p:spPr>
      </p:sp>
      <p:sp>
        <p:nvSpPr>
          <p:cNvPr id="49" name="Text 46"/>
          <p:cNvSpPr/>
          <p:nvPr/>
        </p:nvSpPr>
        <p:spPr>
          <a:xfrm>
            <a:off x="6217920" y="461772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circled = anomalies far from the dense region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rojdi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WITH WHAT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Association rule mining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find items that co-occur frequently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market-basket: 'bread → butter'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support, confidence, lift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Apriori, FP-Growth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874520"/>
            <a:ext cx="5422392" cy="2651760"/>
          </a:xfrm>
          <a:prstGeom prst="roundRect">
            <a:avLst>
              <a:gd name="adj" fmla="val 3448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rule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0" y="24688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D6A9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laptop</a:t>
            </a:r>
            <a:endParaRPr lang="en-US" sz="1100" dirty="0"/>
          </a:p>
        </p:txBody>
      </p:sp>
      <p:pic>
        <p:nvPicPr>
          <p:cNvPr id="18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670048"/>
            <a:ext cx="320040" cy="3200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869680" y="24688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3AAFA9"/>
          </a:solidFill>
          <a:ln/>
        </p:spPr>
      </p:sp>
      <p:sp>
        <p:nvSpPr>
          <p:cNvPr id="20" name="Text 16"/>
          <p:cNvSpPr/>
          <p:nvPr/>
        </p:nvSpPr>
        <p:spPr>
          <a:xfrm>
            <a:off x="8869680" y="2468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laptop bag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0.68 · lift 3.2 → strong, useful rule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WELL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 &amp; apply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of unsupervised learning: judging results with no answer key.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Foundations · Phase E  ·  04 / 22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Evaluating without a ground truth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rul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metrics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silhouette, Davies-Bouldin (no labels)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checkdb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(if any)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labels when you happen to have some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check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groups make business sense?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ear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results hold on resampled data?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truth: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labels there's no single 'accuracy'. Combine internal metrics with human judgement about usefulness.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UNSUPERVISED WORKFLOW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End to end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303020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hap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224942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254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6656" y="31181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the data</a:t>
            </a:r>
            <a:endParaRPr lang="en-US" sz="900" dirty="0"/>
          </a:p>
        </p:txBody>
      </p:sp>
      <p:pic>
        <p:nvPicPr>
          <p:cNvPr id="11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569464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834640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3" name="Shape 8"/>
          <p:cNvSpPr/>
          <p:nvPr/>
        </p:nvSpPr>
        <p:spPr>
          <a:xfrm>
            <a:off x="3570732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3" descr="ic_comparrow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2249424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26080" y="28254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2944368" y="31181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essential!</a:t>
            </a:r>
            <a:endParaRPr lang="en-US" sz="900" dirty="0"/>
          </a:p>
        </p:txBody>
      </p:sp>
      <p:pic>
        <p:nvPicPr>
          <p:cNvPr id="17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569464"/>
            <a:ext cx="146304" cy="14630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102352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9" name="Shape 12"/>
          <p:cNvSpPr/>
          <p:nvPr/>
        </p:nvSpPr>
        <p:spPr>
          <a:xfrm>
            <a:off x="5838444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5" descr="ic_vecto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5604" y="224942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93792" y="28254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212080" y="31181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high-dim</a:t>
            </a:r>
            <a:endParaRPr lang="en-US" sz="900" dirty="0"/>
          </a:p>
        </p:txBody>
      </p:sp>
      <p:pic>
        <p:nvPicPr>
          <p:cNvPr id="23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569464"/>
            <a:ext cx="146304" cy="14630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370064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25" name="Shape 16"/>
          <p:cNvSpPr/>
          <p:nvPr/>
        </p:nvSpPr>
        <p:spPr>
          <a:xfrm>
            <a:off x="8106156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7" descr="ic_objgrou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316" y="2249424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61504" y="28254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7479792" y="31181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/ detect</a:t>
            </a:r>
            <a:endParaRPr lang="en-US" sz="900" dirty="0"/>
          </a:p>
        </p:txBody>
      </p:sp>
      <p:pic>
        <p:nvPicPr>
          <p:cNvPr id="29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2569464"/>
            <a:ext cx="146304" cy="146304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637776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10373868" y="2112264"/>
            <a:ext cx="585216" cy="58521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9" descr="ic_bulb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1028" y="2249424"/>
            <a:ext cx="310896" cy="31089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729216" y="28254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9747504" y="311810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useful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36" name="Text 24"/>
          <p:cNvSpPr/>
          <p:nvPr/>
        </p:nvSpPr>
        <p:spPr>
          <a:xfrm>
            <a:off x="822960" y="3886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is the step beginners skip: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everything downstream depends on distance, an unscaled feature can silently hijack the entire result.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REAL WORLD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you'll use this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obj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market groups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earchlo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equipment-fault alerts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omparrow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high-dim data in 2-D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vecto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creation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clusters/components feed models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methods rarely work alone — they feed dashboards, alerts and downstream supervised models.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omparrow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scale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mistake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rul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magic metric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internal scores + judgement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Interpret, don't trust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found ≠ structure that's useful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vecto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first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tame high dimensions before clustering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will always find 'groups' — your job is deciding whether they're real and useful.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= structure, no labels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Cluster, reduce, detect, associate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 rests on distance / similarity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is non-negotiable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needs metrics + judgement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Euclidean vs cosine distance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scaling changes distances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3 unsupervised use cases in your field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 dataset to 2-D and plot it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up on the silhouette score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(Part 1) — k-means in depth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algorithm, choosing k, evaluating groups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obj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finds hidden structure with no answer key — built on distance, enabled by scaling, judged by usefulness.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 · Unsupervised Foundations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2026-06-11T15:25:34Z</dcterms:created>
  <dcterms:modified xsi:type="dcterms:W3CDTF">2026-06-11T15:25:34Z</dcterms:modified>
</cp:coreProperties>
</file>