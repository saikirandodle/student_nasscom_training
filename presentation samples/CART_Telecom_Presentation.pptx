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5CC-4D44-8551-A81F497FBC23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CC-4D44-8551-A81F497FBC2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5CC-4D44-8551-A81F497FBC23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CC-4D44-8551-A81F497FBC2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5CC-4D44-8551-A81F497FBC23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5CC-4D44-8551-A81F497FBC2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C5CC-4D44-8551-A81F497FBC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Monthly Charge</c:v>
                </c:pt>
                <c:pt idx="1">
                  <c:v>Contract Type</c:v>
                </c:pt>
                <c:pt idx="2">
                  <c:v>Tech Support Calls</c:v>
                </c:pt>
                <c:pt idx="3">
                  <c:v>Tenure (months)</c:v>
                </c:pt>
                <c:pt idx="4">
                  <c:v>Internet Service</c:v>
                </c:pt>
                <c:pt idx="5">
                  <c:v>Online Security</c:v>
                </c:pt>
                <c:pt idx="6">
                  <c:v>Payment Method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0.28000000000000003</c:v>
                </c:pt>
                <c:pt idx="1">
                  <c:v>0.22</c:v>
                </c:pt>
                <c:pt idx="2">
                  <c:v>0.18</c:v>
                </c:pt>
                <c:pt idx="3">
                  <c:v>0.14000000000000001</c:v>
                </c:pt>
                <c:pt idx="4">
                  <c:v>0.09</c:v>
                </c:pt>
                <c:pt idx="5">
                  <c:v>0.05</c:v>
                </c:pt>
                <c:pt idx="6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5CC-4D44-8551-A81F497FBC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C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5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30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9396"/>
                </a:solidFill>
              </a:rPr>
              <a:t>TELECOM ANALYTICS SERIES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Algorithm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 Trees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3657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noisy tower signal to a churn prediction 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algorithm tells the whole story.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Decision Trees  ·  Gini Impurity  ·  Information Gain  ·  Pruning  ·  Python Demo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589520" y="137160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C46A"/>
                </a:solidFill>
              </a:rPr>
              <a:t>ACT I -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losing customers.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why - and who's next?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27432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</a:rPr>
              <a:t>67%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of churn 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predictable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with the right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7432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7432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C46A"/>
                </a:solidFill>
              </a:rPr>
              <a:t>$300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avg cost 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replace one 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acquisition vs retention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7432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9396"/>
                </a:solidFill>
              </a:rPr>
              <a:t>CART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makes decisions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like your team does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explainable by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Today, we'll walk through how CART thinks - and build one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9396"/>
                </a:solidFill>
              </a:rPr>
              <a:t>ACT II - THE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flowchart that learns from data.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91840" y="1170432"/>
            <a:ext cx="2560320" cy="530352"/>
          </a:xfrm>
          <a:prstGeom prst="rect">
            <a:avLst/>
          </a:prstGeom>
          <a:solidFill>
            <a:srgbClr val="0A9396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91840" y="1170432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Charge &gt; Rs.500?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700784"/>
            <a:ext cx="0" cy="347472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331720" y="2048256"/>
            <a:ext cx="4480560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331720" y="2048256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12280" y="2048256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20240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C46A"/>
                </a:solidFill>
              </a:rPr>
              <a:t>YES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02552" y="2084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DB5BD"/>
                </a:solidFill>
              </a:rPr>
              <a:t>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34440" y="2359152"/>
            <a:ext cx="2194560" cy="530352"/>
          </a:xfrm>
          <a:prstGeom prst="rect">
            <a:avLst/>
          </a:prstGeom>
          <a:solidFill>
            <a:srgbClr val="1E3A5F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34440" y="2359152"/>
            <a:ext cx="21945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 &lt; 12 months?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359152"/>
            <a:ext cx="2194560" cy="530352"/>
          </a:xfrm>
          <a:prstGeom prst="rect">
            <a:avLst/>
          </a:prstGeom>
          <a:solidFill>
            <a:srgbClr val="1E3A5F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15000" y="2359152"/>
            <a:ext cx="21945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Calls &gt; 3?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889504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27048" y="3200400"/>
            <a:ext cx="1609344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27048" y="3200400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136392" y="3200400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71016" y="323697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36392" y="323697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DB5BD"/>
                </a:solidFill>
              </a:rPr>
              <a:t>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2889504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07608" y="3200400"/>
            <a:ext cx="1609344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07608" y="3200400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616952" y="3200400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51576" y="323697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16952" y="323697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DB5BD"/>
                </a:solidFill>
              </a:rPr>
              <a:t>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1248" y="3511296"/>
            <a:ext cx="13716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1248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CHURN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50592" y="3511296"/>
            <a:ext cx="13716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50592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21808" y="3511296"/>
            <a:ext cx="13716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21808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CHURN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31152" y="3511296"/>
            <a:ext cx="13716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31152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4632" y="4617720"/>
            <a:ext cx="109728" cy="32918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9224" y="46177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 node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9464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569464" y="4617720"/>
            <a:ext cx="10972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734056" y="46177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node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654296" y="4617720"/>
            <a:ext cx="109728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18888" y="46177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CHURN leaf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39128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52B788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739128" y="4617720"/>
            <a:ext cx="10972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903720" y="46177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STAY leaf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WHAT MAKES CART SPECIAL?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CART always splits into exactly two branches.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C4.5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CART  ★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Split Type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Multi-way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Multi-way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</a:rPr>
                        <a:t>Binary only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Info Gain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Gain Ratio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</a:rPr>
                        <a:t>Gini / MSE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Classification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Classification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</a:rPr>
                        <a:t>Both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Pruning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Post-prune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</a:rPr>
                        <a:t>Cost Complexity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Missing Data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9ECEF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C46A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CART is the engine behind scikit-learn's DecisionTreeClassifier.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C46A"/>
                </a:solidFill>
              </a:rPr>
              <a:t>MATH SPOTLIGHT - GINI IMPURITY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does CART decide where to split?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1188720"/>
          </a:xfrm>
          <a:prstGeom prst="rect">
            <a:avLst/>
          </a:prstGeom>
          <a:solidFill>
            <a:srgbClr val="1B2A4A"/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Gini(t)  =  1  −  Σ  pᵢ²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D2BD"/>
                </a:solidFill>
              </a:rPr>
              <a:t>where  pᵢ  =  probability of class i at node 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42062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42062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Pure Node (Good Split!)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All 10 customers → CHURN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p_churn = 1.0,  p_stay = 0.0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77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Gini = 1 − (1² + 0²) = 0.0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✅  Perfect purity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2062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Mixed Node (Bad Split)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5 CHURN,  5 STAY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529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p_churn = 0.5,  p_stay = 0.5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877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Gini = 1 − (0.5² + 0.5²) = 0.5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❌  Maximum impurity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8280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Lower Gini = Purer node = Better split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9396"/>
                </a:solidFill>
              </a:rPr>
              <a:t>MATH SPOTLIGHT - GINI GAIN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 don't just want a pure split - we want the best possible split.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960120"/>
          </a:xfrm>
          <a:prstGeom prst="rect">
            <a:avLst/>
          </a:prstGeom>
          <a:solidFill>
            <a:srgbClr val="1B2A4A"/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Gini_Gain(t, f)  =  Gini(t)  −  Σ  (Nₖ / N) × Gini(tₖ)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D2BD"/>
                </a:solidFill>
              </a:rPr>
              <a:t>t</a:t>
            </a:r>
            <a:r>
              <a:rPr lang="en-US" sz="1200" dirty="0">
                <a:solidFill>
                  <a:srgbClr val="E9ECEF"/>
                </a:solidFill>
              </a:rPr>
              <a:t> = parent node     </a:t>
            </a:r>
            <a:r>
              <a:rPr lang="en-US" sz="1200" i="1" dirty="0">
                <a:solidFill>
                  <a:srgbClr val="94D2BD"/>
                </a:solidFill>
              </a:rPr>
              <a:t>f</a:t>
            </a:r>
            <a:r>
              <a:rPr lang="en-US" sz="1200" dirty="0">
                <a:solidFill>
                  <a:srgbClr val="E9ECEF"/>
                </a:solidFill>
              </a:rPr>
              <a:t> = feature     </a:t>
            </a:r>
            <a:r>
              <a:rPr lang="en-US" sz="1200" i="1" dirty="0">
                <a:solidFill>
                  <a:srgbClr val="94D2BD"/>
                </a:solidFill>
              </a:rPr>
              <a:t>Nₖ</a:t>
            </a:r>
            <a:r>
              <a:rPr lang="en-US" sz="1200" dirty="0">
                <a:solidFill>
                  <a:srgbClr val="E9ECEF"/>
                </a:solidFill>
              </a:rPr>
              <a:t> = child samples     </a:t>
            </a:r>
            <a:r>
              <a:rPr lang="en-US" sz="1200" i="1" dirty="0">
                <a:solidFill>
                  <a:srgbClr val="94D2BD"/>
                </a:solidFill>
              </a:rPr>
              <a:t>N</a:t>
            </a:r>
            <a:r>
              <a:rPr lang="en-US" sz="1200" dirty="0">
                <a:solidFill>
                  <a:srgbClr val="E9ECEF"/>
                </a:solidFill>
              </a:rPr>
              <a:t> = total samples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CART uses this at each node: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852928"/>
            <a:ext cx="859536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28803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9396"/>
                </a:solidFill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Try every feature (Monthly Charge, Contract Type, Support Calls…)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310128"/>
            <a:ext cx="85953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3337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9396"/>
                </a:solidFill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355848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Try every threshold for each feature (e.g., Charge &gt; 200, &gt; 300, &gt; 500…)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67328"/>
            <a:ext cx="859536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9396"/>
                </a:solidFill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813048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Compute Gini Gain for each (feature, threshold) pair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224528"/>
            <a:ext cx="85953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42519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9396"/>
                </a:solidFill>
              </a:rPr>
              <a:t>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270248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Choose the pair with the HIGHEST Gini Gain → that is your split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63946"/>
                </a:solidFill>
              </a:rPr>
              <a:t>THE OVERFITTING TRAP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tree that memorises training data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is useless on new customers.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3931920" cy="2880360"/>
          </a:xfrm>
          <a:prstGeom prst="rect">
            <a:avLst/>
          </a:prstGeom>
          <a:solidFill>
            <a:srgbClr val="1B2A4A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</a:rPr>
              <a:t>Pre-Pruning (Stopping Criteria)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</a:t>
            </a:r>
            <a:r>
              <a:rPr lang="en-US" sz="1200" dirty="0" err="1">
                <a:solidFill>
                  <a:srgbClr val="E9ECEF"/>
                </a:solidFill>
              </a:rPr>
              <a:t>max_depth</a:t>
            </a:r>
            <a:r>
              <a:rPr lang="en-US" sz="1200" dirty="0">
                <a:solidFill>
                  <a:srgbClr val="E9ECEF"/>
                </a:solidFill>
              </a:rPr>
              <a:t> - limit tree height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</a:t>
            </a:r>
            <a:r>
              <a:rPr lang="en-US" sz="1200" dirty="0" err="1">
                <a:solidFill>
                  <a:srgbClr val="E9ECEF"/>
                </a:solidFill>
              </a:rPr>
              <a:t>min_samples_split</a:t>
            </a:r>
            <a:r>
              <a:rPr lang="en-US" sz="1200" dirty="0">
                <a:solidFill>
                  <a:srgbClr val="E9ECEF"/>
                </a:solidFill>
              </a:rPr>
              <a:t> - node must have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enough samples to split further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</a:t>
            </a:r>
            <a:r>
              <a:rPr lang="en-US" sz="1200" dirty="0" err="1">
                <a:solidFill>
                  <a:srgbClr val="E9ECEF"/>
                </a:solidFill>
              </a:rPr>
              <a:t>min_samples_leaf</a:t>
            </a:r>
            <a:r>
              <a:rPr lang="en-US" sz="1200" dirty="0">
                <a:solidFill>
                  <a:srgbClr val="E9ECEF"/>
                </a:solidFill>
              </a:rPr>
              <a:t> - leaf must have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minimum samples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</a:t>
            </a:r>
            <a:r>
              <a:rPr lang="en-US" sz="1200" dirty="0" err="1">
                <a:solidFill>
                  <a:srgbClr val="E9ECEF"/>
                </a:solidFill>
              </a:rPr>
              <a:t>max_features</a:t>
            </a:r>
            <a:r>
              <a:rPr lang="en-US" sz="1200" dirty="0">
                <a:solidFill>
                  <a:srgbClr val="E9ECEF"/>
                </a:solidFill>
              </a:rPr>
              <a:t> - limit features checked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74520"/>
            <a:ext cx="4297680" cy="2880360"/>
          </a:xfrm>
          <a:prstGeom prst="rect">
            <a:avLst/>
          </a:prstGeom>
          <a:solidFill>
            <a:srgbClr val="1B2A4A"/>
          </a:solidFill>
          <a:ln w="1905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</a:rPr>
              <a:t>Post-Pruning (Cost Complexity)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41148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2450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Rα(T) = R(T) + α · |T|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3154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R(T)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= Training error of tree 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538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α (alpha)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538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= Complexity penalty (tune this!)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9227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|T|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922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= Number of leaf nodes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3068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Goal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4306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= Minimize Rα → balance fit vs 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Higher α = simpler tree (less overfit).   Use cross-validation to find the sweet spot.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D2BD"/>
                </a:solidFill>
              </a:rPr>
              <a:t>CART FOR REGRESSION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Not just 'Churn or Stay' -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also predicts revenue, ARPU, LTV.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859536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MSE(t)  =  (1/N)  ×  Σ  (yᵢ  −  ȳ)²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D2BD"/>
                </a:solidFill>
              </a:rPr>
              <a:t>yᵢ</a:t>
            </a:r>
            <a:r>
              <a:rPr lang="en-US" sz="1200" dirty="0">
                <a:solidFill>
                  <a:srgbClr val="E9ECEF"/>
                </a:solidFill>
              </a:rPr>
              <a:t> = actual revenue for customer i          </a:t>
            </a:r>
            <a:r>
              <a:rPr lang="en-US" sz="1200" i="1" dirty="0">
                <a:solidFill>
                  <a:srgbClr val="94D2BD"/>
                </a:solidFill>
              </a:rPr>
              <a:t>ȳ</a:t>
            </a:r>
            <a:r>
              <a:rPr lang="en-US" sz="1200" dirty="0">
                <a:solidFill>
                  <a:srgbClr val="E9ECEF"/>
                </a:solidFill>
              </a:rPr>
              <a:t> = mean revenue at this 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Split Criterion for Regression: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474720"/>
            <a:ext cx="8595360" cy="731520"/>
          </a:xfrm>
          <a:prstGeom prst="rect">
            <a:avLst/>
          </a:prstGeom>
          <a:solidFill>
            <a:srgbClr val="1B2A4A"/>
          </a:solidFill>
          <a:ln w="1905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MSE_Gain(t, f) = MSE(t) − Σ (Nₖ / N) × MSE(tₖ)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DB5BD"/>
                </a:solidFill>
              </a:rPr>
              <a:t>Leaf prediction = mean of all training samples reaching that leaf.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9396"/>
                </a:solidFill>
              </a:rPr>
              <a:t>ACT III - THE TELECOM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Which customer signals matter most?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CART computes importance as total Gini Gain contributed by each feature across all splits.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C46A"/>
                </a:solidFill>
              </a:rPr>
              <a:t>THE CART ALGORITHM - STEP BY STEP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the algorithm actually does: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380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Start at Root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6550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All 1,000 customers in one node. Compute Gini = 0.48 (52% churn, 48% stay).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02536"/>
            <a:ext cx="8595360" cy="6309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2093976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Find Best Split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331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Test all features × thresholds. 'Monthly Charge &gt; Rs.450' gives max Gini Gain = 0.21.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79192"/>
            <a:ext cx="85953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7472" y="277063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734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Split the Node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008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Left child: 620 customers (Charge ≤ Rs.450). Right child: 380 customers (Charge &gt; Rs.450).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355848"/>
            <a:ext cx="8595360" cy="6309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47472" y="3447288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Recurse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685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Repeat steps 1–3 for each child node, until stopping criterion is met.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85953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7472" y="4123944"/>
            <a:ext cx="475488" cy="47548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688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Prune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361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Remove branches that don't improve validation accuracy. Use α to tune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HONEST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When to use CART - and when not to.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931920" cy="3383280"/>
          </a:xfrm>
          <a:prstGeom prst="rect">
            <a:avLst/>
          </a:prstGeom>
          <a:solidFill>
            <a:srgbClr val="1B2A4A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B788"/>
                </a:solidFill>
              </a:rPr>
              <a:t>✅  Strengths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Fully interpretable - show to clients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No feature scaling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Handles mixed data types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55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Built-in feature selection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94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Fast inference (rule-based)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Works for both classification &amp; regression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206240" cy="3383280"/>
          </a:xfrm>
          <a:prstGeom prst="rect">
            <a:avLst/>
          </a:prstGeom>
          <a:solidFill>
            <a:srgbClr val="1B2A4A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⚠️  Weaknesses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High variance - small data change, big tree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Prone to overfitting without pruning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9992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Greedy splits - not globally optimal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295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Biased toward high-cardinality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0599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CEF"/>
                </a:solidFill>
              </a:rPr>
              <a:t>• Can't extrapolate beyond training range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Use Random Forest or XGBoost when accuracy beats interpretability.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9396"/>
                </a:solidFill>
              </a:rPr>
              <a:t>ACT IV - THE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Now let's build this in Python.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508760"/>
          </a:xfrm>
          <a:prstGeom prst="rect">
            <a:avLst/>
          </a:prstGeom>
          <a:solidFill>
            <a:srgbClr val="1B2A4A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9396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002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 Telecom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1,500 customers  ·  10 features  ·  realistic churn labels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1B2A4A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15270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B8A6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002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Explore &amp; Visualise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Churn by segment  ·  Feature distributions  ·  Correlation heatmap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743200" cy="1508760"/>
          </a:xfrm>
          <a:prstGeom prst="rect">
            <a:avLst/>
          </a:prstGeom>
          <a:solidFill>
            <a:srgbClr val="1B2A4A"/>
          </a:solidFill>
          <a:ln w="1905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7432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15270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C46A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55080" y="2002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CART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DecisionTreeClassifier  ·  Gini  ·  Hyperparameter tuning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14500" y="3090672"/>
            <a:ext cx="2743200" cy="1508760"/>
          </a:xfrm>
          <a:prstGeom prst="rect">
            <a:avLst/>
          </a:prstGeom>
          <a:solidFill>
            <a:srgbClr val="1B2A4A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714500" y="3090672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851660" y="32004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2B788"/>
                </a:solidFill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5166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Evaluate &amp; Interpret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5166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Accuracy  ·  F1  ·  Confusion matrix  ·  Feature importance  ·  Tree plot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6300" y="3090672"/>
            <a:ext cx="2743200" cy="1508760"/>
          </a:xfrm>
          <a:prstGeom prst="rect">
            <a:avLst/>
          </a:prstGeom>
          <a:solidFill>
            <a:srgbClr val="1B2A4A"/>
          </a:solidFill>
          <a:ln w="1905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86300" y="3090672"/>
            <a:ext cx="274320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3460" y="32004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D2BD"/>
                </a:solidFill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2346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Pruning &amp; Optimisation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346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</a:rPr>
              <a:t>Cost complexity pruning  ·  Validation curves  ·  Final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B5BD"/>
                </a:solidFill>
              </a:rPr>
              <a:t>All code is commented line-by-line. Ready to run. Ready to present.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C46A"/>
                </a:solidFill>
              </a:rPr>
              <a:t>THE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 things to remember about CART: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5720" cy="60350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384048" cy="38404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5453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</a:rPr>
              <a:t>CART uses binary splits only - always left / right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8595360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45720" cy="6035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194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</a:rPr>
              <a:t>Gini Impurity measures node purity  (range: 0 → 0.5 for binary)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715768"/>
            <a:ext cx="85953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715768"/>
            <a:ext cx="45720" cy="6035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28437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</a:rPr>
              <a:t>Gini Gain = impurity before − weighted impurity after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8595360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45720" cy="6035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74720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493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</a:rPr>
              <a:t>Pruning (α) is your primary weapon against overfitting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014216"/>
            <a:ext cx="859536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014216"/>
            <a:ext cx="45720" cy="6035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41422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</a:rPr>
              <a:t>Feature importance = total Gini Gain across all splits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A9396"/>
                </a:solidFill>
              </a:rPr>
              <a:t>Let's open the Jupyter notebook.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200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DB5BD"/>
                </a:solidFill>
              </a:rPr>
              <a:t>Topics covered: </a:t>
            </a:r>
            <a:r>
              <a:rPr lang="en-US" sz="1100" dirty="0">
                <a:solidFill>
                  <a:srgbClr val="ADB5BD"/>
                </a:solidFill>
              </a:rPr>
              <a:t>Decision Trees  ·  Gini Impurity  ·  Gini Gain  ·  MSE  ·  Cost Complexity Pruning  ·  Telecom Churn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98080" y="2286000"/>
            <a:ext cx="1828800" cy="1828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1127</Words>
  <Application>Microsoft Office PowerPoint</Application>
  <PresentationFormat>On-screen Show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 Algorithm — Telecom Churn Prediction</dc:title>
  <dc:subject>PptxGenJS Presentation</dc:subject>
  <dc:creator>PptxGenJS</dc:creator>
  <cp:lastModifiedBy>Harsh Dalal</cp:lastModifiedBy>
  <cp:revision>2</cp:revision>
  <dcterms:created xsi:type="dcterms:W3CDTF">2026-05-30T09:40:51Z</dcterms:created>
  <dcterms:modified xsi:type="dcterms:W3CDTF">2026-05-30T09:55:29Z</dcterms:modified>
</cp:coreProperties>
</file>