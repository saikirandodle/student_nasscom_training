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2D6A9F"/>
            </a:solidFill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10.16326530612245</c:v>
                </c:pt>
                <c:pt idx="1">
                  <c:v>9.367346938775512</c:v>
                </c:pt>
                <c:pt idx="2">
                  <c:v>8.612244897959185</c:v>
                </c:pt>
                <c:pt idx="3">
                  <c:v>7.897959183673469</c:v>
                </c:pt>
                <c:pt idx="4">
                  <c:v>7.224489795918367</c:v>
                </c:pt>
                <c:pt idx="5">
                  <c:v>6.591836734693877</c:v>
                </c:pt>
                <c:pt idx="6">
                  <c:v>6</c:v>
                </c:pt>
                <c:pt idx="7">
                  <c:v>5.448979591836735</c:v>
                </c:pt>
                <c:pt idx="8">
                  <c:v>4.938775510204081</c:v>
                </c:pt>
                <c:pt idx="9">
                  <c:v>4.469387755102041</c:v>
                </c:pt>
                <c:pt idx="10">
                  <c:v>4.040816326530612</c:v>
                </c:pt>
                <c:pt idx="11">
                  <c:v>3.653061224489796</c:v>
                </c:pt>
                <c:pt idx="12">
                  <c:v>3.3061224489795915</c:v>
                </c:pt>
                <c:pt idx="13">
                  <c:v>3</c:v>
                </c:pt>
                <c:pt idx="14">
                  <c:v>2.7346938775510203</c:v>
                </c:pt>
                <c:pt idx="15">
                  <c:v>2.510204081632653</c:v>
                </c:pt>
                <c:pt idx="16">
                  <c:v>2.326530612244898</c:v>
                </c:pt>
                <c:pt idx="17">
                  <c:v>2.183673469387755</c:v>
                </c:pt>
                <c:pt idx="18">
                  <c:v>2.0816326530612246</c:v>
                </c:pt>
                <c:pt idx="19">
                  <c:v>2.020408163265306</c:v>
                </c:pt>
                <c:pt idx="20">
                  <c:v>2</c:v>
                </c:pt>
                <c:pt idx="21">
                  <c:v>2.020408163265306</c:v>
                </c:pt>
                <c:pt idx="22">
                  <c:v>2.0816326530612246</c:v>
                </c:pt>
                <c:pt idx="23">
                  <c:v>2.183673469387755</c:v>
                </c:pt>
                <c:pt idx="24">
                  <c:v>2.326530612244898</c:v>
                </c:pt>
                <c:pt idx="25">
                  <c:v>2.510204081632653</c:v>
                </c:pt>
                <c:pt idx="26">
                  <c:v>2.7346938775510203</c:v>
                </c:pt>
                <c:pt idx="27">
                  <c:v>3</c:v>
                </c:pt>
                <c:pt idx="28">
                  <c:v>3.3061224489795915</c:v>
                </c:pt>
                <c:pt idx="29">
                  <c:v>3.653061224489796</c:v>
                </c:pt>
                <c:pt idx="30">
                  <c:v>4.040816326530612</c:v>
                </c:pt>
                <c:pt idx="31">
                  <c:v>4.469387755102041</c:v>
                </c:pt>
                <c:pt idx="32">
                  <c:v>4.938775510204081</c:v>
                </c:pt>
                <c:pt idx="33">
                  <c:v>5.448979591836735</c:v>
                </c:pt>
                <c:pt idx="34">
                  <c:v>6</c:v>
                </c:pt>
                <c:pt idx="35">
                  <c:v>6.591836734693877</c:v>
                </c:pt>
                <c:pt idx="36">
                  <c:v>7.224489795918367</c:v>
                </c:pt>
                <c:pt idx="37">
                  <c:v>7.897959183673469</c:v>
                </c:pt>
                <c:pt idx="38">
                  <c:v>8.612244897959185</c:v>
                </c:pt>
                <c:pt idx="39">
                  <c:v>9.367346938775512</c:v>
                </c:pt>
                <c:pt idx="40">
                  <c:v>10.16326530612245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2D6A9F"/>
            </a:solidFill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10.16326530612245</c:v>
                </c:pt>
                <c:pt idx="1">
                  <c:v>9.367346938775512</c:v>
                </c:pt>
                <c:pt idx="2">
                  <c:v>8.612244897959185</c:v>
                </c:pt>
                <c:pt idx="3">
                  <c:v>7.897959183673469</c:v>
                </c:pt>
                <c:pt idx="4">
                  <c:v>7.224489795918367</c:v>
                </c:pt>
                <c:pt idx="5">
                  <c:v>6.591836734693877</c:v>
                </c:pt>
                <c:pt idx="6">
                  <c:v>6</c:v>
                </c:pt>
                <c:pt idx="7">
                  <c:v>5.448979591836735</c:v>
                </c:pt>
                <c:pt idx="8">
                  <c:v>4.938775510204081</c:v>
                </c:pt>
                <c:pt idx="9">
                  <c:v>4.469387755102041</c:v>
                </c:pt>
                <c:pt idx="10">
                  <c:v>4.040816326530612</c:v>
                </c:pt>
                <c:pt idx="11">
                  <c:v>3.653061224489796</c:v>
                </c:pt>
                <c:pt idx="12">
                  <c:v>3.3061224489795915</c:v>
                </c:pt>
                <c:pt idx="13">
                  <c:v>3</c:v>
                </c:pt>
                <c:pt idx="14">
                  <c:v>2.7346938775510203</c:v>
                </c:pt>
                <c:pt idx="15">
                  <c:v>2.510204081632653</c:v>
                </c:pt>
                <c:pt idx="16">
                  <c:v>2.326530612244898</c:v>
                </c:pt>
                <c:pt idx="17">
                  <c:v>2.183673469387755</c:v>
                </c:pt>
                <c:pt idx="18">
                  <c:v>2.0816326530612246</c:v>
                </c:pt>
                <c:pt idx="19">
                  <c:v>2.020408163265306</c:v>
                </c:pt>
                <c:pt idx="20">
                  <c:v>2</c:v>
                </c:pt>
                <c:pt idx="21">
                  <c:v>2.020408163265306</c:v>
                </c:pt>
                <c:pt idx="22">
                  <c:v>2.0816326530612246</c:v>
                </c:pt>
                <c:pt idx="23">
                  <c:v>2.183673469387755</c:v>
                </c:pt>
                <c:pt idx="24">
                  <c:v>2.326530612244898</c:v>
                </c:pt>
                <c:pt idx="25">
                  <c:v>2.510204081632653</c:v>
                </c:pt>
                <c:pt idx="26">
                  <c:v>2.7346938775510203</c:v>
                </c:pt>
                <c:pt idx="27">
                  <c:v>3</c:v>
                </c:pt>
                <c:pt idx="28">
                  <c:v>3.3061224489795915</c:v>
                </c:pt>
                <c:pt idx="29">
                  <c:v>3.653061224489796</c:v>
                </c:pt>
                <c:pt idx="30">
                  <c:v>4.040816326530612</c:v>
                </c:pt>
                <c:pt idx="31">
                  <c:v>4.469387755102041</c:v>
                </c:pt>
                <c:pt idx="32">
                  <c:v>4.938775510204081</c:v>
                </c:pt>
                <c:pt idx="33">
                  <c:v>5.448979591836735</c:v>
                </c:pt>
                <c:pt idx="34">
                  <c:v>6</c:v>
                </c:pt>
                <c:pt idx="35">
                  <c:v>6.591836734693877</c:v>
                </c:pt>
                <c:pt idx="36">
                  <c:v>7.224489795918367</c:v>
                </c:pt>
                <c:pt idx="37">
                  <c:v>7.897959183673469</c:v>
                </c:pt>
                <c:pt idx="38">
                  <c:v>8.612244897959185</c:v>
                </c:pt>
                <c:pt idx="39">
                  <c:v>9.367346938775512</c:v>
                </c:pt>
                <c:pt idx="40">
                  <c:v>10.16326530612245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3AAFA9"/>
            </a:solidFill>
            <a:ln w="3810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9.6</c:v>
                </c:pt>
                <c:pt idx="1">
                  <c:v>8.218335524015526</c:v>
                </c:pt>
                <c:pt idx="2">
                  <c:v>7.048781795164103</c:v>
                </c:pt>
                <c:pt idx="3">
                  <c:v>6.0587759374137</c:v>
                </c:pt>
                <c:pt idx="4">
                  <c:v>5.220754071293328</c:v>
                </c:pt>
                <c:pt idx="5">
                  <c:v>4.511383876563704</c:v>
                </c:pt>
                <c:pt idx="6">
                  <c:v>3.910914970542981</c:v>
                </c:pt>
                <c:pt idx="7">
                  <c:v>3.4026290152313794</c:v>
                </c:pt>
                <c:pt idx="8">
                  <c:v>2.972374243041541</c:v>
                </c:pt>
                <c:pt idx="9">
                  <c:v>2.6081714413358683</c:v>
                </c:pt>
                <c:pt idx="10">
                  <c:v>2.2998804255380563</c:v>
                </c:pt>
                <c:pt idx="11">
                  <c:v>2.038917714717245</c:v>
                </c:pt>
                <c:pt idx="12">
                  <c:v>1.8180175491295145</c:v>
                </c:pt>
                <c:pt idx="13">
                  <c:v>1.6310295959341894</c:v>
                </c:pt>
                <c:pt idx="14">
                  <c:v>1.4727477107796454</c:v>
                </c:pt>
                <c:pt idx="15">
                  <c:v>1.338764987615089</c:v>
                </c:pt>
                <c:pt idx="16">
                  <c:v>1.2253510610052138</c:v>
                </c:pt>
                <c:pt idx="17">
                  <c:v>1.1293482447818688</c:v>
                </c:pt>
                <c:pt idx="18">
                  <c:v>1.0480836153107755</c:v>
                </c:pt>
                <c:pt idx="19">
                  <c:v>0.9792945915834876</c:v>
                </c:pt>
                <c:pt idx="20">
                  <c:v>0.9210659401252715</c:v>
                </c:pt>
                <c:pt idx="21">
                  <c:v>0.8717764508008665</c:v>
                </c:pt>
                <c:pt idx="22">
                  <c:v>0.8300537988585666</c:v>
                </c:pt>
                <c:pt idx="23">
                  <c:v>0.7947363364754378</c:v>
                </c:pt>
                <c:pt idx="24">
                  <c:v>0.7648407499986076</c:v>
                </c:pt>
                <c:pt idx="25">
                  <c:v>0.7395346823910838</c:v>
                </c:pt>
                <c:pt idx="26">
                  <c:v>0.7181135586324687</c:v>
                </c:pt>
                <c:pt idx="27">
                  <c:v>0.6999809688441807</c:v>
                </c:pt>
                <c:pt idx="28">
                  <c:v>0.6846320629634568</c:v>
                </c:pt>
                <c:pt idx="29">
                  <c:v>0.671639494638358</c:v>
                </c:pt>
                <c:pt idx="30">
                  <c:v>0.6606415229917691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2D6A9F"/>
            </a:solidFill>
            <a:ln w="3175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7.25</c:v>
                </c:pt>
                <c:pt idx="1">
                  <c:v>6.640625</c:v>
                </c:pt>
                <c:pt idx="2">
                  <c:v>6.0625</c:v>
                </c:pt>
                <c:pt idx="3">
                  <c:v>5.515625</c:v>
                </c:pt>
                <c:pt idx="4">
                  <c:v>5</c:v>
                </c:pt>
                <c:pt idx="5">
                  <c:v>4.515625</c:v>
                </c:pt>
                <c:pt idx="6">
                  <c:v>4.0625</c:v>
                </c:pt>
                <c:pt idx="7">
                  <c:v>3.640625</c:v>
                </c:pt>
                <c:pt idx="8">
                  <c:v>3.25</c:v>
                </c:pt>
                <c:pt idx="9">
                  <c:v>2.890625</c:v>
                </c:pt>
                <c:pt idx="10">
                  <c:v>2.5625</c:v>
                </c:pt>
                <c:pt idx="11">
                  <c:v>2.265625</c:v>
                </c:pt>
                <c:pt idx="12">
                  <c:v>2</c:v>
                </c:pt>
                <c:pt idx="13">
                  <c:v>1.765625</c:v>
                </c:pt>
                <c:pt idx="14">
                  <c:v>1.5625</c:v>
                </c:pt>
                <c:pt idx="15">
                  <c:v>1.390625</c:v>
                </c:pt>
                <c:pt idx="16">
                  <c:v>1.25</c:v>
                </c:pt>
                <c:pt idx="17">
                  <c:v>1.140625</c:v>
                </c:pt>
                <c:pt idx="18">
                  <c:v>1.0625</c:v>
                </c:pt>
                <c:pt idx="19">
                  <c:v>1.015625</c:v>
                </c:pt>
                <c:pt idx="20">
                  <c:v>1</c:v>
                </c:pt>
                <c:pt idx="21">
                  <c:v>1.015625</c:v>
                </c:pt>
                <c:pt idx="22">
                  <c:v>1.0625</c:v>
                </c:pt>
                <c:pt idx="23">
                  <c:v>1.140625</c:v>
                </c:pt>
                <c:pt idx="24">
                  <c:v>1.25</c:v>
                </c:pt>
                <c:pt idx="25">
                  <c:v>1.390625</c:v>
                </c:pt>
                <c:pt idx="26">
                  <c:v>1.5625</c:v>
                </c:pt>
                <c:pt idx="27">
                  <c:v>1.765625</c:v>
                </c:pt>
                <c:pt idx="28">
                  <c:v>2</c:v>
                </c:pt>
                <c:pt idx="29">
                  <c:v>2.265625</c:v>
                </c:pt>
                <c:pt idx="30">
                  <c:v>2.5625</c:v>
                </c:pt>
                <c:pt idx="31">
                  <c:v>2.890625</c:v>
                </c:pt>
                <c:pt idx="32">
                  <c:v>3.25</c:v>
                </c:pt>
                <c:pt idx="33">
                  <c:v>3.640625</c:v>
                </c:pt>
                <c:pt idx="34">
                  <c:v>4.0625</c:v>
                </c:pt>
                <c:pt idx="35">
                  <c:v>4.515625</c:v>
                </c:pt>
                <c:pt idx="36">
                  <c:v>5</c:v>
                </c:pt>
                <c:pt idx="37">
                  <c:v>5.515625</c:v>
                </c:pt>
                <c:pt idx="38">
                  <c:v>6.0625</c:v>
                </c:pt>
                <c:pt idx="39">
                  <c:v>6.640625</c:v>
                </c:pt>
                <c:pt idx="40">
                  <c:v>7.25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</c:v>
                </c:pt>
              </c:strCache>
            </c:strRef>
          </c:tx>
          <c:spPr>
            <a:solidFill>
              <a:srgbClr val="3AAFA9"/>
            </a:solidFill>
            <a:ln w="3175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5.4</c:v>
                </c:pt>
                <c:pt idx="1">
                  <c:v>5.5913531058349975</c:v>
                </c:pt>
                <c:pt idx="2">
                  <c:v>5.747880743990658</c:v>
                </c:pt>
                <c:pt idx="3">
                  <c:v>5.827912280250265</c:v>
                </c:pt>
                <c:pt idx="4">
                  <c:v>5.799519271772306</c:v>
                </c:pt>
                <c:pt idx="5">
                  <c:v>5.644030345077295</c:v>
                </c:pt>
                <c:pt idx="6">
                  <c:v>5.358086654873386</c:v>
                </c:pt>
                <c:pt idx="7">
                  <c:v>4.954011646259822</c:v>
                </c:pt>
                <c:pt idx="8">
                  <c:v>4.458454414626555</c:v>
                </c:pt>
                <c:pt idx="9">
                  <c:v>3.909456010477827</c:v>
                </c:pt>
                <c:pt idx="10">
                  <c:v>3.352261648261869</c:v>
                </c:pt>
                <c:pt idx="11">
                  <c:v>2.834339836835152</c:v>
                </c:pt>
                <c:pt idx="12">
                  <c:v>2.400156756099693</c:v>
                </c:pt>
                <c:pt idx="13">
                  <c:v>2.0862811483480095</c:v>
                </c:pt>
                <c:pt idx="14">
                  <c:v>1.9173586077726932</c:v>
                </c:pt>
                <c:pt idx="15">
                  <c:v>1.9033984429379198</c:v>
                </c:pt>
                <c:pt idx="16">
                  <c:v>2.038671790962146</c:v>
                </c:pt>
                <c:pt idx="17">
                  <c:v>2.3023422857323985</c:v>
                </c:pt>
                <c:pt idx="18">
                  <c:v>2.6607598523413962</c:v>
                </c:pt>
                <c:pt idx="19">
                  <c:v>3.0711651128468245</c:v>
                </c:pt>
                <c:pt idx="20">
                  <c:v>3.486396599742586</c:v>
                </c:pt>
                <c:pt idx="21">
                  <c:v>3.860082578334426</c:v>
                </c:pt>
                <c:pt idx="22">
                  <c:v>4.151745930504448</c:v>
                </c:pt>
                <c:pt idx="23">
                  <c:v>4.331260123082285</c:v>
                </c:pt>
                <c:pt idx="24">
                  <c:v>4.382165720610397</c:v>
                </c:pt>
                <c:pt idx="25">
                  <c:v>4.303482340523103</c:v>
                </c:pt>
                <c:pt idx="26">
                  <c:v>4.10981657964698</c:v>
                </c:pt>
                <c:pt idx="27">
                  <c:v>3.829754030814284</c:v>
                </c:pt>
                <c:pt idx="28">
                  <c:v>3.502712406221174</c:v>
                </c:pt>
                <c:pt idx="29">
                  <c:v>3.174602194930589</c:v>
                </c:pt>
                <c:pt idx="30">
                  <c:v>2.8927725558438193</c:v>
                </c:pt>
                <c:pt idx="31">
                  <c:v>2.7007988331098085</c:v>
                </c:pt>
                <c:pt idx="32">
                  <c:v>2.6336855161104595</c:v>
                </c:pt>
                <c:pt idx="33">
                  <c:v>2.714012731484085</c:v>
                </c:pt>
                <c:pt idx="34">
                  <c:v>2.9494504848798697</c:v>
                </c:pt>
                <c:pt idx="35">
                  <c:v>3.331914299892433</c:v>
                </c:pt>
                <c:pt idx="36">
                  <c:v>3.8384552065994346</c:v>
                </c:pt>
                <c:pt idx="37">
                  <c:v>4.433786104328481</c:v>
                </c:pt>
                <c:pt idx="38">
                  <c:v>5.074166381210544</c:v>
                </c:pt>
                <c:pt idx="39">
                  <c:v>5.712217147874633</c:v>
                </c:pt>
                <c:pt idx="40">
                  <c:v>6.302136994950173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image" Target="../media/image-18-2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arrowdow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6  ·  PHASE D — MODEL TRAINING &amp; OPTIMIZATION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Optimization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1 — </a:t>
            </a:r>
            <a:pPr algn="l" indent="0" marL="0">
              <a:buNone/>
            </a:pPr>
            <a:r>
              <a:rPr lang="en-US" sz="25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Models Learn: Gradient Descent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· the loss landscape · gradient descent · learning rate · convergence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U13  ·  Phase D begins  ·  18 slides  (advanced optimizers follow in Part 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arrow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a model actually learns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model means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minimising a loss function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searching for the parameter values that make the model wrong as rarely as possible.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the loss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mount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44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over parameters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arrowdow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30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downhill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gau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16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a step</a:t>
            </a:r>
            <a:endParaRPr lang="en-US" sz="103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check2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02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to stop</a:t>
            </a:r>
            <a:endParaRPr lang="en-US" sz="103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engine under almost every model — from linear regression to deep neural networks. Calculus (U5) at work.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Loss &amp; the landscape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'learning' really optimises, and the surface the algorithm searches.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· Part 1 · Phase D  ·  01 / 18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= MINIMISING ERROR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optimization?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finds the model parameters (weights) that minimise a loss function — a number measuring how wrong the model 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slid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1363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the model can adjust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wa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1363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predictions are from truth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arrowdow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13639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 weights to lower the loss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rotat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13639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it stops improving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→ a loss → an adjustment. Learning is this loop, run thousands of times.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unc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MINIMISE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Loss functions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9164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69164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3500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(MSE)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2788920"/>
            <a:ext cx="4892040" cy="640080"/>
          </a:xfrm>
          <a:prstGeom prst="roundRect">
            <a:avLst>
              <a:gd name="adj" fmla="val 8571"/>
            </a:avLst>
          </a:prstGeom>
          <a:solidFill>
            <a:srgbClr val="16263F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7889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(1/n) · Σ (y − ŷ)²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35661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big errors heavily; predicts numbers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99632" y="169164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6199632" y="169164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3AAFA9"/>
          </a:solidFill>
          <a:ln/>
        </p:spPr>
      </p:sp>
      <p:sp>
        <p:nvSpPr>
          <p:cNvPr id="15" name="Text 12"/>
          <p:cNvSpPr/>
          <p:nvPr/>
        </p:nvSpPr>
        <p:spPr>
          <a:xfrm>
            <a:off x="6473952" y="169164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73952" y="23500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/ Log-Loss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73952" y="2788920"/>
            <a:ext cx="4892040" cy="640080"/>
          </a:xfrm>
          <a:prstGeom prst="roundRect">
            <a:avLst>
              <a:gd name="adj" fmla="val 8571"/>
            </a:avLst>
          </a:prstGeom>
          <a:solidFill>
            <a:srgbClr val="16263F"/>
          </a:solidFill>
          <a:ln/>
        </p:spPr>
      </p:sp>
      <p:sp>
        <p:nvSpPr>
          <p:cNvPr id="18" name="Text 15"/>
          <p:cNvSpPr/>
          <p:nvPr/>
        </p:nvSpPr>
        <p:spPr>
          <a:xfrm>
            <a:off x="6473952" y="27889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−Σ y · log(ŷ)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73952" y="35661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confident wrong class probabilities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must match the task: MSE for predicting numbers, cross-entropy for predicting classes.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ount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SPACE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loss landscape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= parameters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weight is a direction to move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= loss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lower is better; we want the valley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parameter set with lowest loss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find a path downhill to that valley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vs a single parameter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583680" y="2240280"/>
            <a:ext cx="237744" cy="23774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Shape 13"/>
          <p:cNvSpPr/>
          <p:nvPr/>
        </p:nvSpPr>
        <p:spPr>
          <a:xfrm>
            <a:off x="6812280" y="2514600"/>
            <a:ext cx="1737360" cy="1417320"/>
          </a:xfrm>
          <a:prstGeom prst="line">
            <a:avLst/>
          </a:prstGeom>
          <a:noFill/>
          <a:ln w="25400">
            <a:solidFill>
              <a:srgbClr val="9A6B12"/>
            </a:solidFill>
            <a:prstDash val="dash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813816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0" name="Shape 16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1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loss curve for a model with one weight; mark the minimum you want to reach.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arrow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Gradient descent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simple, powerful rule that walks the parameters downhill toward lower loss.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· Part 1 · Phase D  ·  02 / 18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tep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DOWNHILL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Gradient descent — the intuition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somewhere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start with random weights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slope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gradient points uphill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the other way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move opposite the gradient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step lowers the loss a little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moves toward the valley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629400" y="2286000"/>
            <a:ext cx="201168" cy="20116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40880" y="2880360"/>
            <a:ext cx="201168" cy="20116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543800" y="3429000"/>
            <a:ext cx="201168" cy="20116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38160" y="3794760"/>
            <a:ext cx="201168" cy="20116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732520" y="395020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17920" y="46451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shrink as the slope flattens near the minimum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19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steps naturally get smaller as gradient descent nears the minimum.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unc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EQUATION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gradient-descent update rule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856232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 ←  θ  −  η · ∇L(θ)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weights = old weights − learning rate × gradient of the loss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5204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6A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 (theta)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399592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parameters / weights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15968" y="333756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4544568" y="35204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AF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 (eta)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44568" y="399592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— step size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83296" y="333756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8311896" y="35204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A6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∇L(θ)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11896" y="399592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— slope of the loss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the gradient moves downhill; the learning rate scales how far each step travels.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KNOB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learning rate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92024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80160" y="2651760"/>
            <a:ext cx="128016" cy="128016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9" name="Shape 6"/>
          <p:cNvSpPr/>
          <p:nvPr/>
        </p:nvSpPr>
        <p:spPr>
          <a:xfrm>
            <a:off x="1444752" y="2596896"/>
            <a:ext cx="128016" cy="128016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10" name="Shape 7"/>
          <p:cNvSpPr/>
          <p:nvPr/>
        </p:nvSpPr>
        <p:spPr>
          <a:xfrm>
            <a:off x="1609344" y="2542032"/>
            <a:ext cx="128016" cy="128016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11" name="Shape 8"/>
          <p:cNvSpPr/>
          <p:nvPr/>
        </p:nvSpPr>
        <p:spPr>
          <a:xfrm>
            <a:off x="1773936" y="2487168"/>
            <a:ext cx="128016" cy="128016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21868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steps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1520" y="3529584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painfully slow; may never arrive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15968" y="173736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/>
        </p:spPr>
      </p:sp>
      <p:sp>
        <p:nvSpPr>
          <p:cNvPr id="15" name="Text 12"/>
          <p:cNvSpPr/>
          <p:nvPr/>
        </p:nvSpPr>
        <p:spPr>
          <a:xfrm>
            <a:off x="4498848" y="192024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47488" y="2606040"/>
            <a:ext cx="146304" cy="146304"/>
          </a:xfrm>
          <a:prstGeom prst="ellipse">
            <a:avLst/>
          </a:prstGeom>
          <a:solidFill>
            <a:srgbClr val="2E6B43"/>
          </a:solidFill>
          <a:ln/>
        </p:spPr>
      </p:sp>
      <p:sp>
        <p:nvSpPr>
          <p:cNvPr id="17" name="Shape 14"/>
          <p:cNvSpPr/>
          <p:nvPr/>
        </p:nvSpPr>
        <p:spPr>
          <a:xfrm>
            <a:off x="5550408" y="2697480"/>
            <a:ext cx="146304" cy="146304"/>
          </a:xfrm>
          <a:prstGeom prst="ellipse">
            <a:avLst/>
          </a:prstGeom>
          <a:solidFill>
            <a:srgbClr val="2E6B43"/>
          </a:solidFill>
          <a:ln/>
        </p:spPr>
      </p:sp>
      <p:sp>
        <p:nvSpPr>
          <p:cNvPr id="18" name="Shape 15"/>
          <p:cNvSpPr/>
          <p:nvPr/>
        </p:nvSpPr>
        <p:spPr>
          <a:xfrm>
            <a:off x="6053328" y="2788920"/>
            <a:ext cx="146304" cy="146304"/>
          </a:xfrm>
          <a:prstGeom prst="ellipse">
            <a:avLst/>
          </a:prstGeom>
          <a:solidFill>
            <a:srgbClr val="2E6B43"/>
          </a:solidFill>
          <a:ln/>
        </p:spPr>
      </p:sp>
      <p:sp>
        <p:nvSpPr>
          <p:cNvPr id="19" name="Shape 16"/>
          <p:cNvSpPr/>
          <p:nvPr/>
        </p:nvSpPr>
        <p:spPr>
          <a:xfrm>
            <a:off x="6556248" y="2926080"/>
            <a:ext cx="146304" cy="146304"/>
          </a:xfrm>
          <a:prstGeom prst="ellipse">
            <a:avLst/>
          </a:prstGeom>
          <a:solidFill>
            <a:srgbClr val="2E6B43"/>
          </a:solidFill>
          <a:ln/>
        </p:spPr>
      </p:sp>
      <p:sp>
        <p:nvSpPr>
          <p:cNvPr id="20" name="Text 17"/>
          <p:cNvSpPr/>
          <p:nvPr/>
        </p:nvSpPr>
        <p:spPr>
          <a:xfrm>
            <a:off x="4498848" y="321868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steps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498848" y="3529584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efficient descent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83296" y="173736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/>
        </p:spPr>
      </p:sp>
      <p:sp>
        <p:nvSpPr>
          <p:cNvPr id="23" name="Text 20"/>
          <p:cNvSpPr/>
          <p:nvPr/>
        </p:nvSpPr>
        <p:spPr>
          <a:xfrm>
            <a:off x="8266176" y="192024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723376" y="2926080"/>
            <a:ext cx="146304" cy="146304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25" name="Shape 22"/>
          <p:cNvSpPr/>
          <p:nvPr/>
        </p:nvSpPr>
        <p:spPr>
          <a:xfrm>
            <a:off x="9546336" y="2514600"/>
            <a:ext cx="146304" cy="146304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26" name="Shape 23"/>
          <p:cNvSpPr/>
          <p:nvPr/>
        </p:nvSpPr>
        <p:spPr>
          <a:xfrm>
            <a:off x="10277856" y="2971800"/>
            <a:ext cx="146304" cy="146304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27" name="Shape 24"/>
          <p:cNvSpPr/>
          <p:nvPr/>
        </p:nvSpPr>
        <p:spPr>
          <a:xfrm>
            <a:off x="10917936" y="2468880"/>
            <a:ext cx="146304" cy="146304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28" name="Text 25"/>
          <p:cNvSpPr/>
          <p:nvPr/>
        </p:nvSpPr>
        <p:spPr>
          <a:xfrm>
            <a:off x="8266176" y="321868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steps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266176" y="3529584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overshoots; can diverge / bounce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around 0.01–0.1, watch the loss curve, and adjust. It's the first hyperparameter you tune.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and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DATA PER STEP?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Batch · Stochastic · Mini-batch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83080"/>
            <a:ext cx="109728" cy="841248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0" y="1783080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dataset per step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0" y="178308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but slow on big data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73405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734056"/>
            <a:ext cx="109728" cy="841248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734056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(SGD)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57600" y="2734056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per step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72400" y="2734056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noisy, can escape ruts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68503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685032"/>
            <a:ext cx="109728" cy="84124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68503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657600" y="3685032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batch (e.g. 32) per step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772400" y="368503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default — best of both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gradient descent powers nearly all modern deep-learning training.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TO STOP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Convergence &amp; the loss curve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full pass over the training data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loss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should fall, then flatten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loss stops improving meaningfully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halt when validation loss stops falling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over epochs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at first, then flattens as it converges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8" name="Shape 1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9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training-loss curve over epochs and identify where the model has converged.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mount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TERRAIN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Minima, scaling &amp; problems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 on the loss surface — and the simple habits that help.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· Part 1 · Phase D  ·  03 / 18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ount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VALLEYS ARE EQUAL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Convex vs non-convex landscapes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91640"/>
            <a:ext cx="5440680" cy="512064"/>
          </a:xfrm>
          <a:prstGeom prst="roundRect">
            <a:avLst>
              <a:gd name="adj" fmla="val 17857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691640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3500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valley — the global minimum. Gradient descent always reaches it.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linear &amp; logistic regression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99632" y="169164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1691640"/>
            <a:ext cx="5440680" cy="512064"/>
          </a:xfrm>
          <a:prstGeom prst="roundRect">
            <a:avLst>
              <a:gd name="adj" fmla="val 17857"/>
            </a:avLst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691640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NON-CONVEX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73952" y="23500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valleys: local minima, saddle points and plateaus. May get stuck.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73952" y="3108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neural networks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822960" y="3703320"/>
          <a:ext cx="493776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6428232" y="3703320"/>
          <a:ext cx="493776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SCALED FEATURES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Scaling speeds up optimization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Unscaled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stretched, lopsided loss bowl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Zig-zag path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descent bounces across the valley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round bowl — a direct path down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fewer steps, faster convergence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Unscaled (elongated)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96112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(round)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12280" y="2811780"/>
            <a:ext cx="1463040" cy="502920"/>
          </a:xfrm>
          <a:prstGeom prst="ellipse">
            <a:avLst/>
          </a:prstGeom>
          <a:ln w="25400">
            <a:solidFill>
              <a:srgbClr val="2D6A9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18020" y="2880360"/>
            <a:ext cx="1051560" cy="365760"/>
          </a:xfrm>
          <a:prstGeom prst="ellipse">
            <a:avLst/>
          </a:prstGeom>
          <a:ln w="25400">
            <a:solidFill>
              <a:srgbClr val="2D6A9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0" y="2948940"/>
            <a:ext cx="640080" cy="228600"/>
          </a:xfrm>
          <a:prstGeom prst="ellipse">
            <a:avLst/>
          </a:prstGeom>
          <a:ln w="25400">
            <a:solidFill>
              <a:srgbClr val="F4B9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40880" y="2743200"/>
            <a:ext cx="109728" cy="109728"/>
          </a:xfrm>
          <a:prstGeom prst="ellipse">
            <a:avLst/>
          </a:prstGeom>
          <a:solidFill>
            <a:srgbClr val="9A6B12"/>
          </a:solidFill>
          <a:ln/>
        </p:spPr>
      </p:sp>
      <p:sp>
        <p:nvSpPr>
          <p:cNvPr id="20" name="Shape 17"/>
          <p:cNvSpPr/>
          <p:nvPr/>
        </p:nvSpPr>
        <p:spPr>
          <a:xfrm>
            <a:off x="7818120" y="3246120"/>
            <a:ext cx="109728" cy="109728"/>
          </a:xfrm>
          <a:prstGeom prst="ellipse">
            <a:avLst/>
          </a:prstGeom>
          <a:solidFill>
            <a:srgbClr val="9A6B12"/>
          </a:solidFill>
          <a:ln/>
        </p:spPr>
      </p:sp>
      <p:sp>
        <p:nvSpPr>
          <p:cNvPr id="21" name="Shape 18"/>
          <p:cNvSpPr/>
          <p:nvPr/>
        </p:nvSpPr>
        <p:spPr>
          <a:xfrm>
            <a:off x="7269480" y="3063240"/>
            <a:ext cx="109728" cy="109728"/>
          </a:xfrm>
          <a:prstGeom prst="ellipse">
            <a:avLst/>
          </a:prstGeom>
          <a:solidFill>
            <a:srgbClr val="9A6B12"/>
          </a:solidFill>
          <a:ln/>
        </p:spPr>
      </p:sp>
      <p:sp>
        <p:nvSpPr>
          <p:cNvPr id="22" name="Shape 19"/>
          <p:cNvSpPr/>
          <p:nvPr/>
        </p:nvSpPr>
        <p:spPr>
          <a:xfrm>
            <a:off x="7589520" y="3017520"/>
            <a:ext cx="109728" cy="109728"/>
          </a:xfrm>
          <a:prstGeom prst="ellipse">
            <a:avLst/>
          </a:prstGeom>
          <a:solidFill>
            <a:srgbClr val="9A6B12"/>
          </a:solidFill>
          <a:ln/>
        </p:spPr>
      </p:sp>
      <p:sp>
        <p:nvSpPr>
          <p:cNvPr id="23" name="Shape 20"/>
          <p:cNvSpPr/>
          <p:nvPr/>
        </p:nvSpPr>
        <p:spPr>
          <a:xfrm>
            <a:off x="9784080" y="2560320"/>
            <a:ext cx="1005840" cy="1005840"/>
          </a:xfrm>
          <a:prstGeom prst="ellipse">
            <a:avLst/>
          </a:prstGeom>
          <a:ln w="25400">
            <a:solidFill>
              <a:srgbClr val="3AAFA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944100" y="2720340"/>
            <a:ext cx="685800" cy="685800"/>
          </a:xfrm>
          <a:prstGeom prst="ellipse">
            <a:avLst/>
          </a:prstGeom>
          <a:ln w="25400">
            <a:solidFill>
              <a:srgbClr val="3AAFA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104120" y="2880360"/>
            <a:ext cx="365760" cy="365760"/>
          </a:xfrm>
          <a:prstGeom prst="ellipse">
            <a:avLst/>
          </a:prstGeom>
          <a:ln w="25400">
            <a:solidFill>
              <a:srgbClr val="F4B94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921240" y="2697480"/>
            <a:ext cx="109728" cy="109728"/>
          </a:xfrm>
          <a:prstGeom prst="ellipse">
            <a:avLst/>
          </a:prstGeom>
          <a:solidFill>
            <a:srgbClr val="2E6B43"/>
          </a:solidFill>
          <a:ln/>
        </p:spPr>
      </p:sp>
      <p:sp>
        <p:nvSpPr>
          <p:cNvPr id="27" name="Shape 24"/>
          <p:cNvSpPr/>
          <p:nvPr/>
        </p:nvSpPr>
        <p:spPr>
          <a:xfrm>
            <a:off x="10058400" y="2852928"/>
            <a:ext cx="109728" cy="109728"/>
          </a:xfrm>
          <a:prstGeom prst="ellipse">
            <a:avLst/>
          </a:prstGeom>
          <a:solidFill>
            <a:srgbClr val="2E6B43"/>
          </a:solidFill>
          <a:ln/>
        </p:spPr>
      </p:sp>
      <p:sp>
        <p:nvSpPr>
          <p:cNvPr id="28" name="Shape 25"/>
          <p:cNvSpPr/>
          <p:nvPr/>
        </p:nvSpPr>
        <p:spPr>
          <a:xfrm>
            <a:off x="10195560" y="2999232"/>
            <a:ext cx="109728" cy="109728"/>
          </a:xfrm>
          <a:prstGeom prst="ellipse">
            <a:avLst/>
          </a:prstGeom>
          <a:solidFill>
            <a:srgbClr val="2E6B43"/>
          </a:solidFill>
          <a:ln/>
        </p:spPr>
      </p:sp>
      <p:sp>
        <p:nvSpPr>
          <p:cNvPr id="29" name="Text 26"/>
          <p:cNvSpPr/>
          <p:nvPr/>
        </p:nvSpPr>
        <p:spPr>
          <a:xfrm>
            <a:off x="6217920" y="3977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features → a straight shot to the minimum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1" name="Shape 2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U8: which models need scaling? Tie it back to faster optimization here.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optimization problems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gau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learning rate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 diverges; too low crawls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mount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minima / saddles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in a sub-optimal spot or a flat region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arrowdow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shrink to ~0; learning stalls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infinit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 gradients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blow up; loss becomes NaN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thing to check: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training won't converge, the learning rate is the usual culprit — tune it before anything else.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 WORK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Practical tips &amp; what's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scale features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rounder loss bowl → faster training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learning rate first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watch the loss curve to judge it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mini-batches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standard, efficient default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loss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diagnose convergence at a glance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91640"/>
            <a:ext cx="5513832" cy="2971800"/>
          </a:xfrm>
          <a:prstGeom prst="roundRect">
            <a:avLst>
              <a:gd name="adj" fmla="val 307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in Part 2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55080" y="23317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— smooth out the zig-zags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&amp; RMSProp — adaptive learning rates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Learning-rate schedules &amp; decay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in the objective</a:t>
            </a:r>
            <a:endParaRPr lang="en-US" sz="1250" dirty="0"/>
          </a:p>
          <a:p>
            <a:pPr algn="l"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training curves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= minimising a loss function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steps downhill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← θ − η·∇L is the update rule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is the key knob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features; watch the loss curve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gradient descent for y = wx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loss vs the weight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3 learning rates; compare curves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too-large rate diverging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loss-vs-epoch curve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PART 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28600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5" name="Image 1" descr="ic_arrowdow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64" y="240487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79408" y="2212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&amp; adaptive optimizers (Adam)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394192" y="31821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2" descr="ic_arrowdow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330098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79408" y="3108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Learning-rate schedules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394192" y="4078224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1" name="Image 3" descr="ic_arrowdow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19709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79408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&amp; training diagnostics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arrowdow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568696"/>
            <a:ext cx="256032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learns by walking downhill on a loss surface. Master gradient descent and the learning rate, and you understand training.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 · Optimization (Part 1)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2026-06-11T09:22:22Z</dcterms:created>
  <dcterms:modified xsi:type="dcterms:W3CDTF">2026-06-11T09:22:22Z</dcterms:modified>
</cp:coreProperties>
</file>