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D6A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Majority</c:v>
                  </c:pt>
                  <c:pt idx="1">
                    <c:v>Minority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900</c:v>
                </c:pt>
                <c:pt idx="1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1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3.png"/><Relationship Id="rId6" Type="http://schemas.openxmlformats.org/officeDocument/2006/relationships/image" Target="../media/image-15-6.png"/><Relationship Id="rId7" Type="http://schemas.openxmlformats.org/officeDocument/2006/relationships/image" Target="../media/image-15-3.png"/><Relationship Id="rId8" Type="http://schemas.openxmlformats.org/officeDocument/2006/relationships/image" Target="../media/image-15-8.png"/><Relationship Id="rId9" Type="http://schemas.openxmlformats.org/officeDocument/2006/relationships/image" Target="../media/image-15-3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checkdbl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6  ·  PHASE C — DATA ENGINEERING &amp; PREPARATION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Building ML-Ready Datasets</a:t>
            </a:r>
            <a:endParaRPr lang="en-US" sz="4300" dirty="0"/>
          </a:p>
        </p:txBody>
      </p:sp>
      <p:sp>
        <p:nvSpPr>
          <p:cNvPr id="8" name="Text 5"/>
          <p:cNvSpPr/>
          <p:nvPr/>
        </p:nvSpPr>
        <p:spPr>
          <a:xfrm>
            <a:off x="841248" y="34015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final gate before modelling — assembling data you can trust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&amp; y · train/val/test · leakage · cross-validation · imbalance · pipelines · reproducibility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U12  ·  Phase C  ·  18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heckdb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Turning prepared data into a trustworthy dataset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cleaned, engineered and reduced. Now we assemble it into a dataset a model can learn from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fooling us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right splits, no leakage, balanced and reproducible.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gro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&amp; y, splits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58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target, three sets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war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2944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cardinal sin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lay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230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folds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balanc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7516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classes handled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pipelin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9802368" y="444398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assembly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bridge from Phase C (data) to Phase D (modelling). Get it wrong and every model result is suspect.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U12 · Building ML-Ready Datasets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Features, target &amp; splits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ML-ready dataset is, and how to divide it so results are honest.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ML-Ready Datasets · Phase C  ·  01 / 18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heckdb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makes a dataset 'ML-ready'?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ha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6771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numeric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encoded, scaled — no raw text or dates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broo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6771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missing, no duplicates, valid types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war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6771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Leak-free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future or target info hidden in features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grou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6771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&amp; labelled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X, y and train / test partitions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519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22960" y="4251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pPr algn="l" indent="0" marL="0"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numeric, clean, leak-free, well-split table where every column is a fair, available input.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U12 · Building ML-Ready Datasets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TARGET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Splitting the table into X and 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— the features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input column the model learns from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— the target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single column you want to predict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non-features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IDs, raw dates, leaky columns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rows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X and y stay row-aligned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26480" y="1664208"/>
            <a:ext cx="5513832" cy="2377440"/>
          </a:xfrm>
          <a:prstGeom prst="roundRect">
            <a:avLst>
              <a:gd name="adj" fmla="val 2308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7278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3"/>
          <p:cNvSpPr/>
          <p:nvPr/>
        </p:nvSpPr>
        <p:spPr>
          <a:xfrm>
            <a:off x="641908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56539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0" y="1737360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split_xy.py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327648" y="2048256"/>
            <a:ext cx="511149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df['churn']                 # target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df.drop(columns=[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'churn', 'customer_id',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'signup_date'])             # features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X.select_dtypes('number')  # numeric only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print(X.shape, y.shape)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is what you're predicting; X is everything you're allowed to use to predict it — nothing more.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2" name="Shape 19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3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 prepared DataFrame into X (numeric features) and y (target); confirm the shapes.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U12 · Building ML-Ready Datasets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ando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PARTITIONS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Train / validation / test split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22960" y="1828800"/>
            <a:ext cx="6309360" cy="868680"/>
          </a:xfrm>
          <a:prstGeom prst="rect">
            <a:avLst/>
          </a:prstGeom>
          <a:solidFill>
            <a:srgbClr val="2D6A9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82880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(60%)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132320" y="1828800"/>
            <a:ext cx="2103120" cy="868680"/>
          </a:xfrm>
          <a:prstGeom prst="rect">
            <a:avLst/>
          </a:prstGeom>
          <a:solidFill>
            <a:srgbClr val="3AAFA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0" y="18288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 (20%)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235440" y="1828800"/>
            <a:ext cx="2103120" cy="868680"/>
          </a:xfrm>
          <a:prstGeom prst="rect">
            <a:avLst/>
          </a:prstGeom>
          <a:solidFill>
            <a:srgbClr val="F4B9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35440" y="18288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(20%)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3063240"/>
            <a:ext cx="3584448" cy="13716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3063240"/>
            <a:ext cx="109728" cy="1371600"/>
          </a:xfrm>
          <a:prstGeom prst="rect">
            <a:avLst/>
          </a:prstGeom>
          <a:solidFill>
            <a:srgbClr val="2D6A9F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24612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68680" y="3630168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model's parameters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315968" y="3063240"/>
            <a:ext cx="3584448" cy="13716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/>
        </p:spPr>
      </p:sp>
      <p:sp>
        <p:nvSpPr>
          <p:cNvPr id="17" name="Shape 14"/>
          <p:cNvSpPr/>
          <p:nvPr/>
        </p:nvSpPr>
        <p:spPr>
          <a:xfrm>
            <a:off x="4315968" y="3063240"/>
            <a:ext cx="109728" cy="137160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8" name="Text 15"/>
          <p:cNvSpPr/>
          <p:nvPr/>
        </p:nvSpPr>
        <p:spPr>
          <a:xfrm>
            <a:off x="4636008" y="324612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636008" y="3630168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&amp; compare models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083296" y="3063240"/>
            <a:ext cx="3584448" cy="13716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8083296" y="3063240"/>
            <a:ext cx="109728" cy="1371600"/>
          </a:xfrm>
          <a:prstGeom prst="rect">
            <a:avLst/>
          </a:prstGeom>
          <a:solidFill>
            <a:srgbClr val="F4B942"/>
          </a:solidFill>
          <a:ln/>
        </p:spPr>
      </p:sp>
      <p:sp>
        <p:nvSpPr>
          <p:cNvPr id="22" name="Text 19"/>
          <p:cNvSpPr/>
          <p:nvPr/>
        </p:nvSpPr>
        <p:spPr>
          <a:xfrm>
            <a:off x="8403336" y="324612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403336" y="3630168"/>
            <a:ext cx="3035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final, untouched check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4617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16263F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" y="46177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 </a:t>
            </a:r>
            <a:pPr algn="l" indent="0" marL="0">
              <a:buNone/>
            </a:pPr>
            <a:r>
              <a:rPr lang="en-US" sz="12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set is touched once, at the very end. If you tune on it, it's no longer an honest estimate.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U12 · Building ML-Ready Datasets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THE TRAPS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Leakage, validation &amp; imbalance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mistakes that quietly ruin a dataset — and how to defeat each one.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ML-Ready Datasets · Phase C  ·  02 / 18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CARDINAL SIN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leakage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Leakage:  </a:t>
            </a:r>
            <a:pPr algn="l" indent="0" marL="0"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information the model wouldn't have at prediction time sneaks into training. Scores look amazing — then collapse in production.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11091672" cy="548640"/>
          </a:xfrm>
          <a:prstGeom prst="roundRect">
            <a:avLst>
              <a:gd name="adj" fmla="val 11667"/>
            </a:avLst>
          </a:prstGeom>
          <a:solidFill>
            <a:srgbClr val="FBEAE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514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leakage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840480" y="25146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derived from the answer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955280" y="2514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'days_until_churn' to predict churn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3136392"/>
            <a:ext cx="11091672" cy="548640"/>
          </a:xfrm>
          <a:prstGeom prst="roundRect">
            <a:avLst>
              <a:gd name="adj" fmla="val 11667"/>
            </a:avLst>
          </a:prstGeom>
          <a:solidFill>
            <a:srgbClr val="FBEAEA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1363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Train–test contamination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840480" y="31363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rows seen during fitting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955280" y="31363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scaling/encoding fit on all data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3758184"/>
            <a:ext cx="11091672" cy="548640"/>
          </a:xfrm>
          <a:prstGeom prst="roundRect">
            <a:avLst>
              <a:gd name="adj" fmla="val 11667"/>
            </a:avLst>
          </a:prstGeom>
          <a:solidFill>
            <a:srgbClr val="FBEAEA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375818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leakage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840480" y="375818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future to predict the past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955280" y="375818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time order in a split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4379976"/>
            <a:ext cx="11091672" cy="548640"/>
          </a:xfrm>
          <a:prstGeom prst="roundRect">
            <a:avLst>
              <a:gd name="adj" fmla="val 11667"/>
            </a:avLst>
          </a:prstGeom>
          <a:solidFill>
            <a:srgbClr val="FBEAEA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437997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leakage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840480" y="437997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record in train and test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955280" y="437997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rows across the split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5" name="Shape 2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6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 feature list and flag any column that could leak the target.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U12 · Building ML-Ready Datasets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DATA WISELY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Cross-validation (k-fold)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split is noisy; CV averages many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split into k parts; each takes a turn as validation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estimate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mean ± spread across the folds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k-fold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keeps class balance in every fold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645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17920" y="2011680"/>
            <a:ext cx="1042416" cy="457200"/>
          </a:xfrm>
          <a:prstGeom prst="rect">
            <a:avLst/>
          </a:prstGeom>
          <a:solidFill>
            <a:srgbClr val="F4B9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296912" y="2011680"/>
            <a:ext cx="1042416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75904" y="2011680"/>
            <a:ext cx="1042416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454896" y="2011680"/>
            <a:ext cx="1042416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533888" y="2011680"/>
            <a:ext cx="1042416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99632" y="2011680"/>
            <a:ext cx="53949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217920" y="2578608"/>
            <a:ext cx="1042416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296912" y="2578608"/>
            <a:ext cx="1042416" cy="457200"/>
          </a:xfrm>
          <a:prstGeom prst="rect">
            <a:avLst/>
          </a:prstGeom>
          <a:solidFill>
            <a:srgbClr val="F4B9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75904" y="2578608"/>
            <a:ext cx="1042416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454896" y="2578608"/>
            <a:ext cx="1042416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533888" y="2578608"/>
            <a:ext cx="1042416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99632" y="2578608"/>
            <a:ext cx="53949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217920" y="3145536"/>
            <a:ext cx="1042416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96912" y="3145536"/>
            <a:ext cx="1042416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375904" y="3145536"/>
            <a:ext cx="1042416" cy="457200"/>
          </a:xfrm>
          <a:prstGeom prst="rect">
            <a:avLst/>
          </a:prstGeom>
          <a:solidFill>
            <a:srgbClr val="F4B9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454896" y="3145536"/>
            <a:ext cx="1042416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533888" y="3145536"/>
            <a:ext cx="1042416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99632" y="3145536"/>
            <a:ext cx="53949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6217920" y="3712464"/>
            <a:ext cx="1042416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296912" y="3712464"/>
            <a:ext cx="1042416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375904" y="3712464"/>
            <a:ext cx="1042416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454896" y="3712464"/>
            <a:ext cx="1042416" cy="457200"/>
          </a:xfrm>
          <a:prstGeom prst="rect">
            <a:avLst/>
          </a:prstGeom>
          <a:solidFill>
            <a:srgbClr val="F4B9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533888" y="3712464"/>
            <a:ext cx="1042416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199632" y="3712464"/>
            <a:ext cx="53949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6217920" y="4279392"/>
            <a:ext cx="1042416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296912" y="4279392"/>
            <a:ext cx="1042416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375904" y="4279392"/>
            <a:ext cx="1042416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454896" y="4279392"/>
            <a:ext cx="1042416" cy="457200"/>
          </a:xfrm>
          <a:prstGeom prst="rect">
            <a:avLst/>
          </a:prstGeom>
          <a:solidFill>
            <a:srgbClr val="2D6A9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533888" y="4279392"/>
            <a:ext cx="1042416" cy="457200"/>
          </a:xfrm>
          <a:prstGeom prst="rect">
            <a:avLst/>
          </a:prstGeom>
          <a:solidFill>
            <a:srgbClr val="F4B94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199632" y="4279392"/>
            <a:ext cx="53949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217920" y="4846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= validation · blue = training (rotates each fold)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U12 · Building ML-Ready Datasets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CLASS IS RARE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Handling class imbalance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6276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 / 10 class split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920240"/>
          <a:ext cx="53949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236208" y="189280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5"/>
          <p:cNvSpPr/>
          <p:nvPr/>
        </p:nvSpPr>
        <p:spPr>
          <a:xfrm>
            <a:off x="6510528" y="17830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bites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99% 'accuracy' by always predicting majority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36208" y="256946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7"/>
          <p:cNvSpPr/>
          <p:nvPr/>
        </p:nvSpPr>
        <p:spPr>
          <a:xfrm>
            <a:off x="6510528" y="245973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keep the ratio in every split &amp; fold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36208" y="324612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9"/>
          <p:cNvSpPr/>
          <p:nvPr/>
        </p:nvSpPr>
        <p:spPr>
          <a:xfrm>
            <a:off x="6510528" y="313639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penalise minority errors more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36208" y="392277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1"/>
          <p:cNvSpPr/>
          <p:nvPr/>
        </p:nvSpPr>
        <p:spPr>
          <a:xfrm>
            <a:off x="6510528" y="381304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oversample minority (SMOTE) or undersample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17" name="Shape 13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8" name="Image 1" descr="ic_flas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 imbalanced target, use a stratified split and class_weight='balanced'; compare recall.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U12 · Building ML-Ready Datasets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pipe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ASSEMBLING 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Pipelines, splits &amp; reproducibility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preprocessing and splits together so the result is correct and repeatable.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ML-Ready Datasets · Phase C  ·  03 / 18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ando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SPLIT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Stratified &amp; time-aware splitting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3584448" cy="2606040"/>
          </a:xfrm>
          <a:prstGeom prst="roundRect">
            <a:avLst>
              <a:gd name="adj" fmla="val 350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37360"/>
            <a:ext cx="3584448" cy="530352"/>
          </a:xfrm>
          <a:prstGeom prst="roundRect">
            <a:avLst>
              <a:gd name="adj" fmla="val 17241"/>
            </a:avLst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37360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2414016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rows, then split.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246120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independent rows with a balanced target.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15968" y="1737360"/>
            <a:ext cx="3584448" cy="2606040"/>
          </a:xfrm>
          <a:prstGeom prst="roundRect">
            <a:avLst>
              <a:gd name="adj" fmla="val 3509"/>
            </a:avLst>
          </a:prstGeom>
          <a:solidFill>
            <a:srgbClr val="F2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4315968" y="1737360"/>
            <a:ext cx="3584448" cy="530352"/>
          </a:xfrm>
          <a:prstGeom prst="roundRect">
            <a:avLst>
              <a:gd name="adj" fmla="val 17241"/>
            </a:avLst>
          </a:prstGeom>
          <a:solidFill>
            <a:srgbClr val="3AAFA9"/>
          </a:solidFill>
          <a:ln/>
        </p:spPr>
      </p:sp>
      <p:sp>
        <p:nvSpPr>
          <p:cNvPr id="13" name="Text 10"/>
          <p:cNvSpPr/>
          <p:nvPr/>
        </p:nvSpPr>
        <p:spPr>
          <a:xfrm>
            <a:off x="4590288" y="1737360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90288" y="2414016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the class ratio in each split.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90288" y="3246120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imbalanced classification targets.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83296" y="1737360"/>
            <a:ext cx="3584448" cy="2606040"/>
          </a:xfrm>
          <a:prstGeom prst="roundRect">
            <a:avLst>
              <a:gd name="adj" fmla="val 3509"/>
            </a:avLst>
          </a:prstGeom>
          <a:solidFill>
            <a:srgbClr val="F2F5F9"/>
          </a:solidFill>
          <a:ln/>
        </p:spPr>
      </p:sp>
      <p:sp>
        <p:nvSpPr>
          <p:cNvPr id="17" name="Shape 14"/>
          <p:cNvSpPr/>
          <p:nvPr/>
        </p:nvSpPr>
        <p:spPr>
          <a:xfrm>
            <a:off x="8083296" y="1737360"/>
            <a:ext cx="3584448" cy="530352"/>
          </a:xfrm>
          <a:prstGeom prst="roundRect">
            <a:avLst>
              <a:gd name="adj" fmla="val 17241"/>
            </a:avLst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57616" y="1737360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357616" y="2414016"/>
            <a:ext cx="3035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the past, test on the future.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357616" y="3246120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time series — never shuffle across time.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random split on time-series data is a classic, silent leakage bug — the model peeks at the future.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3" name="Shape 20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4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split strategy for: a churn dataset, a fraud dataset, and a stock-price dataset.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U12 · Building ML-Ready Datasets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pipe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WITHOUT LEAKING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preprocessing pipeline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object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preprocessing + model wired together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scale numerics, encode categoricals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once, on train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step learns from training only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transform new data identically, every time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26480" y="1664208"/>
            <a:ext cx="5513832" cy="2834640"/>
          </a:xfrm>
          <a:prstGeom prst="roundRect">
            <a:avLst>
              <a:gd name="adj" fmla="val 1935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7278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3"/>
          <p:cNvSpPr/>
          <p:nvPr/>
        </p:nvSpPr>
        <p:spPr>
          <a:xfrm>
            <a:off x="641908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56539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0" y="1737360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pipeline.py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327648" y="2048256"/>
            <a:ext cx="511149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sklearn.compose import ColumnTransformer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 = ColumnTransformer([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('num', StandardScaler(), num_cols),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('cat', OneHotEncoder(), cat_cols)])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Pipeline([('prep', pre),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('model', model)])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pipe.fit(X_train, y_train)  # leak-free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1" name="Shape 18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ColumnTransformer + model Pipeline and fit it on the training split only.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U12 · Building ML-Ready Datasets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SAME RESULT TWICE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Reproducibility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di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6771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seed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on splits &amp; models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6771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data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the exact dataset used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pipeli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6771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code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pinned library versions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828800"/>
            <a:ext cx="2615184" cy="2194560"/>
          </a:xfrm>
          <a:prstGeom prst="roundRect">
            <a:avLst>
              <a:gd name="adj" fmla="val 3750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6654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clip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6771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94436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choices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55264"/>
            <a:ext cx="2322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splits, params, preprocessing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519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22960" y="4251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algn="l" indent="0" marL="0"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reproduce a result, you can't debug it, trust it, or ship it. random_state=42 everywhere.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U12 · Building ML-Ready Datasets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pipe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raw data to model-ready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8308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303020" y="2020824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broom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80" y="2157984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73405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00" dirty="0"/>
          </a:p>
        </p:txBody>
      </p:sp>
      <p:pic>
        <p:nvPicPr>
          <p:cNvPr id="10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386584"/>
            <a:ext cx="146304" cy="14630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834640" y="178308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/>
        </p:spPr>
      </p:sp>
      <p:sp>
        <p:nvSpPr>
          <p:cNvPr id="12" name="Shape 7"/>
          <p:cNvSpPr/>
          <p:nvPr/>
        </p:nvSpPr>
        <p:spPr>
          <a:xfrm>
            <a:off x="3570732" y="2020824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3" descr="ic_magic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892" y="2157984"/>
            <a:ext cx="310896" cy="3108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926080" y="273405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200" dirty="0"/>
          </a:p>
        </p:txBody>
      </p:sp>
      <p:pic>
        <p:nvPicPr>
          <p:cNvPr id="15" name="Image 4" descr="ic_arrow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386584"/>
            <a:ext cx="146304" cy="146304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5102352" y="178308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/>
        </p:spPr>
      </p:sp>
      <p:sp>
        <p:nvSpPr>
          <p:cNvPr id="17" name="Shape 10"/>
          <p:cNvSpPr/>
          <p:nvPr/>
        </p:nvSpPr>
        <p:spPr>
          <a:xfrm>
            <a:off x="5838444" y="2020824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5" descr="ic_random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5604" y="2157984"/>
            <a:ext cx="310896" cy="31089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93792" y="273405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00" dirty="0"/>
          </a:p>
        </p:txBody>
      </p:sp>
      <p:pic>
        <p:nvPicPr>
          <p:cNvPr id="20" name="Image 6" descr="ic_arrow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184" y="2386584"/>
            <a:ext cx="146304" cy="14630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7370064" y="178308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/>
        </p:spPr>
      </p:sp>
      <p:sp>
        <p:nvSpPr>
          <p:cNvPr id="22" name="Shape 13"/>
          <p:cNvSpPr/>
          <p:nvPr/>
        </p:nvSpPr>
        <p:spPr>
          <a:xfrm>
            <a:off x="8106156" y="2020824"/>
            <a:ext cx="585216" cy="58521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7" descr="ic_sliders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3316" y="2157984"/>
            <a:ext cx="310896" cy="310896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461504" y="273405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PREP</a:t>
            </a:r>
            <a:endParaRPr lang="en-US" sz="1200" dirty="0"/>
          </a:p>
        </p:txBody>
      </p:sp>
      <p:pic>
        <p:nvPicPr>
          <p:cNvPr id="25" name="Image 8" descr="ic_arrow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54896" y="2386584"/>
            <a:ext cx="146304" cy="146304"/>
          </a:xfrm>
          <a:prstGeom prst="rect">
            <a:avLst/>
          </a:prstGeom>
        </p:spPr>
      </p:pic>
      <p:sp>
        <p:nvSpPr>
          <p:cNvPr id="26" name="Shape 15"/>
          <p:cNvSpPr/>
          <p:nvPr/>
        </p:nvSpPr>
        <p:spPr>
          <a:xfrm>
            <a:off x="9637776" y="178308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16"/>
          <p:cNvSpPr/>
          <p:nvPr/>
        </p:nvSpPr>
        <p:spPr>
          <a:xfrm>
            <a:off x="10373868" y="2020824"/>
            <a:ext cx="585216" cy="585216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8" name="Image 9" descr="ic_checkdbl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11028" y="2157984"/>
            <a:ext cx="310896" cy="310896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9729216" y="273405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200" dirty="0"/>
          </a:p>
        </p:txBody>
      </p:sp>
      <p:sp>
        <p:nvSpPr>
          <p:cNvPr id="30" name="Shape 18"/>
          <p:cNvSpPr/>
          <p:nvPr/>
        </p:nvSpPr>
        <p:spPr>
          <a:xfrm>
            <a:off x="548640" y="3520440"/>
            <a:ext cx="11091672" cy="1325880"/>
          </a:xfrm>
          <a:prstGeom prst="roundRect">
            <a:avLst>
              <a:gd name="adj" fmla="val 4138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1" name="Shape 19"/>
          <p:cNvSpPr/>
          <p:nvPr/>
        </p:nvSpPr>
        <p:spPr>
          <a:xfrm>
            <a:off x="694944" y="366674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2" name="Shape 20"/>
          <p:cNvSpPr/>
          <p:nvPr/>
        </p:nvSpPr>
        <p:spPr>
          <a:xfrm>
            <a:off x="841248" y="366674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3" name="Shape 21"/>
          <p:cNvSpPr/>
          <p:nvPr/>
        </p:nvSpPr>
        <p:spPr>
          <a:xfrm>
            <a:off x="987552" y="366674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4" name="Text 22"/>
          <p:cNvSpPr/>
          <p:nvPr/>
        </p:nvSpPr>
        <p:spPr>
          <a:xfrm>
            <a:off x="1188720" y="3593592"/>
            <a:ext cx="10268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ready.py</a:t>
            </a:r>
            <a:endParaRPr lang="en-US" sz="950" dirty="0"/>
          </a:p>
        </p:txBody>
      </p:sp>
      <p:sp>
        <p:nvSpPr>
          <p:cNvPr id="35" name="Text 23"/>
          <p:cNvSpPr/>
          <p:nvPr/>
        </p:nvSpPr>
        <p:spPr>
          <a:xfrm>
            <a:off x="749808" y="3904488"/>
            <a:ext cx="106893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test_size=0.2, stratify=y, random_state=42)   # split FIRST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pipe.fit(X_train, y_train)   # prep fitted on train only -&gt; dataset is model-ready</a:t>
            </a:r>
            <a:endParaRPr lang="en-US" sz="1150" dirty="0"/>
          </a:p>
        </p:txBody>
      </p:sp>
      <p:sp>
        <p:nvSpPr>
          <p:cNvPr id="36" name="Shape 24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7" name="Shape 25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8" name="Image 10" descr="ic_flask_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 sequence: split (stratified) → fit the pipeline on train → confirm it's ready.</a:t>
            </a:r>
            <a:endParaRPr lang="en-US" sz="1100" dirty="0"/>
          </a:p>
        </p:txBody>
      </p:sp>
      <p:sp>
        <p:nvSpPr>
          <p:cNvPr id="40" name="Text 27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U12 · Building ML-Ready Datasets</a:t>
            </a:r>
            <a:endParaRPr lang="en-US" sz="950" dirty="0"/>
          </a:p>
        </p:txBody>
      </p:sp>
      <p:sp>
        <p:nvSpPr>
          <p:cNvPr id="41" name="Text 2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lip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GATE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ML-readiness checklist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713232" y="1783080"/>
            <a:ext cx="274320" cy="2743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7647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6916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is numeric (encoded &amp; scaled as needed)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221992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" y="2313432"/>
            <a:ext cx="274320" cy="2743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229514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22219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values, duplicates, or invalid types remain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2752344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713232" y="2843784"/>
            <a:ext cx="274320" cy="2743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" y="282549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88720" y="275234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and y are separated and row-aligned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3282696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/>
        </p:spPr>
      </p:sp>
      <p:sp>
        <p:nvSpPr>
          <p:cNvPr id="19" name="Shape 16"/>
          <p:cNvSpPr/>
          <p:nvPr/>
        </p:nvSpPr>
        <p:spPr>
          <a:xfrm>
            <a:off x="713232" y="3374136"/>
            <a:ext cx="274320" cy="2743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0" name="Text 17"/>
          <p:cNvSpPr/>
          <p:nvPr/>
        </p:nvSpPr>
        <p:spPr>
          <a:xfrm>
            <a:off x="713232" y="335584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88720" y="32826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done before any preprocessing was fitted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381304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13232" y="3904488"/>
            <a:ext cx="274320" cy="2743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4" name="Text 21"/>
          <p:cNvSpPr/>
          <p:nvPr/>
        </p:nvSpPr>
        <p:spPr>
          <a:xfrm>
            <a:off x="713232" y="388620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88720" y="38130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(or time-aware) split where appropriate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48640" y="4343400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/>
        </p:spPr>
      </p:sp>
      <p:sp>
        <p:nvSpPr>
          <p:cNvPr id="27" name="Shape 24"/>
          <p:cNvSpPr/>
          <p:nvPr/>
        </p:nvSpPr>
        <p:spPr>
          <a:xfrm>
            <a:off x="713232" y="4434840"/>
            <a:ext cx="274320" cy="2743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8" name="Text 25"/>
          <p:cNvSpPr/>
          <p:nvPr/>
        </p:nvSpPr>
        <p:spPr>
          <a:xfrm>
            <a:off x="713232" y="441655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188720" y="43434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leaky features; preprocessing fit on train only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48640" y="4873752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/>
        </p:spPr>
      </p:sp>
      <p:sp>
        <p:nvSpPr>
          <p:cNvPr id="31" name="Shape 28"/>
          <p:cNvSpPr/>
          <p:nvPr/>
        </p:nvSpPr>
        <p:spPr>
          <a:xfrm>
            <a:off x="713232" y="4965192"/>
            <a:ext cx="274320" cy="2743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2" name="Text 29"/>
          <p:cNvSpPr/>
          <p:nvPr/>
        </p:nvSpPr>
        <p:spPr>
          <a:xfrm>
            <a:off x="713232" y="494690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188720" y="48737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set for a reproducible result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U12 · Building ML-Ready Datasets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SAFELY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Pitfalls &amp; best practices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19751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war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17627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529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first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16382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split before scaling/encoding/selecting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3736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19751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balan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17627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529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balance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16382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target before trusting accuracy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3736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19751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17627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529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test set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16382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once, at the very end, never to tune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3736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19751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checkdbl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17627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529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it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16382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prevents manual leakage mistakes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976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BF1D8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4297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mistake:  </a:t>
            </a:r>
            <a:pPr algn="l" indent="0" marL="0">
              <a:buNone/>
            </a:pPr>
            <a:r>
              <a:rPr lang="en-US" sz="125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a scaler, encoder or imputer on the whole dataset before splitting — silent leakage that inflates every score.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U12 · Building ML-Ready Datasets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X (features) and y (target)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train / validation / test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is the cardinal sin — split first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Cross-validate; stratify imbalanced data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+ seeds = reproducible &amp; safe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X and y from a prepared dataset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stratified train/test split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preprocessing in a Pipeline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k-fold cross-validation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your features for leakage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PHASE 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— how a model actually learns from data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94192" y="34107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979408" y="33649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ready; now the model takes over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checkdb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5568696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split, zero leakage, and a reproducible pipeline matter more than any model choice that follows.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U12 · Building ML-Ready Datasets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2026-06-11T09:19:07Z</dcterms:created>
  <dcterms:modified xsi:type="dcterms:W3CDTF">2026-06-11T09:19:07Z</dcterms:modified>
</cp:coreProperties>
</file>