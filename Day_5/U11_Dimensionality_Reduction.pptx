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3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density</c:v>
                </c:pt>
              </c:strCache>
            </c:strRef>
          </c:tx>
          <c:spPr>
            <a:solidFill>
              <a:srgbClr val="2D6A9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1-D</c:v>
                  </c:pt>
                  <c:pt idx="1">
                    <c:v>2-D</c:v>
                  </c:pt>
                  <c:pt idx="2">
                    <c:v>3-D</c:v>
                  </c:pt>
                  <c:pt idx="3">
                    <c:v>5-D</c:v>
                  </c:pt>
                  <c:pt idx="4">
                    <c:v>10-D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32</c:v>
                </c:pt>
                <c:pt idx="2">
                  <c:v>10</c:v>
                </c:pt>
                <c:pt idx="3">
                  <c:v>1.6</c:v>
                </c:pt>
                <c:pt idx="4">
                  <c:v>0.1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F5F9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</c:v>
                </c:pt>
              </c:strCache>
            </c:strRef>
          </c:tx>
          <c:spPr>
            <a:solidFill>
              <a:srgbClr val="2D6A9F"/>
            </a:solidFill>
            <a:ln>
              <a:noFill/>
            </a:ln>
            <a:effectLst/>
          </c:spPr>
          <c:marker>
            <c:symbol val="circle"/>
            <c:size val="7"/>
            <c:spPr>
              <a:solidFill>
                <a:srgbClr val="2D6A9F"/>
              </a:solidFill>
              <a:ln w="9525" cap="flat">
                <a:solidFill>
                  <a:srgbClr val="2D6A9F"/>
                </a:solidFill>
                <a:prstDash val="solid"/>
                <a:round/>
              </a:ln>
              <a:effectLst/>
            </c:spPr>
          </c:marker>
          <c:xVal>
            <c:numRef>
              <c:f>Sheet1!$A$2:$A$41</c:f>
              <c:numCache>
                <c:formatCode>General</c:formatCode>
                <c:ptCount val="40"/>
                <c:pt idx="0">
                  <c:v>1</c:v>
                </c:pt>
                <c:pt idx="1">
                  <c:v>1.1538461538461537</c:v>
                </c:pt>
                <c:pt idx="2">
                  <c:v>1.3076923076923075</c:v>
                </c:pt>
                <c:pt idx="3">
                  <c:v>1.4615384615384617</c:v>
                </c:pt>
                <c:pt idx="4">
                  <c:v>1.6153846153846154</c:v>
                </c:pt>
                <c:pt idx="5">
                  <c:v>1.7692307692307692</c:v>
                </c:pt>
                <c:pt idx="6">
                  <c:v>1.9230769230769234</c:v>
                </c:pt>
                <c:pt idx="7">
                  <c:v>2.0769230769230766</c:v>
                </c:pt>
                <c:pt idx="8">
                  <c:v>2.230769230769231</c:v>
                </c:pt>
                <c:pt idx="9">
                  <c:v>2.3846153846153846</c:v>
                </c:pt>
                <c:pt idx="10">
                  <c:v>2.5384615384615383</c:v>
                </c:pt>
                <c:pt idx="11">
                  <c:v>2.6923076923076925</c:v>
                </c:pt>
                <c:pt idx="12">
                  <c:v>2.8461538461538463</c:v>
                </c:pt>
                <c:pt idx="13">
                  <c:v>3</c:v>
                </c:pt>
                <c:pt idx="14">
                  <c:v>3.1538461538461537</c:v>
                </c:pt>
                <c:pt idx="15">
                  <c:v>3.307692307692308</c:v>
                </c:pt>
                <c:pt idx="16">
                  <c:v>3.4615384615384617</c:v>
                </c:pt>
                <c:pt idx="17">
                  <c:v>3.6153846153846154</c:v>
                </c:pt>
                <c:pt idx="18">
                  <c:v>3.769230769230769</c:v>
                </c:pt>
                <c:pt idx="19">
                  <c:v>3.923076923076923</c:v>
                </c:pt>
                <c:pt idx="20">
                  <c:v>4.076923076923077</c:v>
                </c:pt>
                <c:pt idx="21">
                  <c:v>4.230769230769231</c:v>
                </c:pt>
                <c:pt idx="22">
                  <c:v>4.384615384615385</c:v>
                </c:pt>
                <c:pt idx="23">
                  <c:v>4.538461538461538</c:v>
                </c:pt>
                <c:pt idx="24">
                  <c:v>4.6923076923076925</c:v>
                </c:pt>
                <c:pt idx="25">
                  <c:v>4.846153846153847</c:v>
                </c:pt>
                <c:pt idx="26">
                  <c:v>5</c:v>
                </c:pt>
                <c:pt idx="27">
                  <c:v>5.153846153846153</c:v>
                </c:pt>
                <c:pt idx="28">
                  <c:v>5.3076923076923075</c:v>
                </c:pt>
                <c:pt idx="29">
                  <c:v>5.461538461538462</c:v>
                </c:pt>
                <c:pt idx="30">
                  <c:v>5.615384615384616</c:v>
                </c:pt>
                <c:pt idx="31">
                  <c:v>5.769230769230769</c:v>
                </c:pt>
                <c:pt idx="32">
                  <c:v>5.923076923076923</c:v>
                </c:pt>
                <c:pt idx="33">
                  <c:v>6.076923076923077</c:v>
                </c:pt>
                <c:pt idx="34">
                  <c:v>6.230769230769231</c:v>
                </c:pt>
                <c:pt idx="35">
                  <c:v>6.384615384615385</c:v>
                </c:pt>
                <c:pt idx="36">
                  <c:v>6.538461538461538</c:v>
                </c:pt>
                <c:pt idx="37">
                  <c:v>6.692307692307692</c:v>
                </c:pt>
                <c:pt idx="38">
                  <c:v>6.846153846153846</c:v>
                </c:pt>
                <c:pt idx="39">
                  <c:v>7</c:v>
                </c:pt>
              </c:numCache>
            </c:numRef>
          </c:xVal>
          <c:yVal>
            <c:numRef>
              <c:f>Sheet1!$B$2:$B$41</c:f>
              <c:numCache>
                <c:formatCode>General</c:formatCode>
                <c:ptCount val="40"/>
                <c:pt idx="0">
                  <c:v>1.5999999999999996</c:v>
                </c:pt>
                <c:pt idx="1">
                  <c:v>2.4370755866027003</c:v>
                </c:pt>
                <c:pt idx="2">
                  <c:v>1.6621642526945277</c:v>
                </c:pt>
                <c:pt idx="3">
                  <c:v>1.3026441979548018</c:v>
                </c:pt>
                <c:pt idx="4">
                  <c:v>2.4480693051274898</c:v>
                </c:pt>
                <c:pt idx="5">
                  <c:v>2.790295336473528</c:v>
                </c:pt>
                <c:pt idx="6">
                  <c:v>1.8345517633941881</c:v>
                </c:pt>
                <c:pt idx="7">
                  <c:v>2.0164797407277972</c:v>
                </c:pt>
                <c:pt idx="8">
                  <c:v>3.2032118913120615</c:v>
                </c:pt>
                <c:pt idx="9">
                  <c:v>2.9933455203463497</c:v>
                </c:pt>
                <c:pt idx="10">
                  <c:v>2.13856303661595</c:v>
                </c:pt>
                <c:pt idx="11">
                  <c:v>2.8465668552599306</c:v>
                </c:pt>
                <c:pt idx="12">
                  <c:v>3.796773965025799</c:v>
                </c:pt>
                <c:pt idx="13">
                  <c:v>3.1217816512946652</c:v>
                </c:pt>
                <c:pt idx="14">
                  <c:v>2.6233820421413414</c:v>
                </c:pt>
                <c:pt idx="15">
                  <c:v>3.7046758610498074</c:v>
                </c:pt>
                <c:pt idx="16">
                  <c:v>4.202307373619291</c:v>
                </c:pt>
                <c:pt idx="17">
                  <c:v>3.270648807526198</c:v>
                </c:pt>
                <c:pt idx="18">
                  <c:v>3.2909648625458665</c:v>
                </c:pt>
                <c:pt idx="19">
                  <c:v>4.495257618949217</c:v>
                </c:pt>
                <c:pt idx="20">
                  <c:v>4.442477995544879</c:v>
                </c:pt>
                <c:pt idx="21">
                  <c:v>3.5296553808952464</c:v>
                </c:pt>
                <c:pt idx="22">
                  <c:v>4.095528754612122</c:v>
                </c:pt>
                <c:pt idx="23">
                  <c:v>5.140401445898487</c:v>
                </c:pt>
                <c:pt idx="24">
                  <c:v>4.583145299138057</c:v>
                </c:pt>
                <c:pt idx="25">
                  <c:v>3.9597407946769696</c:v>
                </c:pt>
                <c:pt idx="26">
                  <c:v>4.955510831655516</c:v>
                </c:pt>
                <c:pt idx="27">
                  <c:v>5.600185776398767</c:v>
                </c:pt>
                <c:pt idx="28">
                  <c:v>4.716159518919775</c:v>
                </c:pt>
                <c:pt idx="29">
                  <c:v>4.577157820334656</c:v>
                </c:pt>
                <c:pt idx="30">
                  <c:v>5.774872698914923</c:v>
                </c:pt>
                <c:pt idx="31">
                  <c:v>5.88310587579868</c:v>
                </c:pt>
                <c:pt idx="32">
                  <c:v>4.935369913315679</c:v>
                </c:pt>
                <c:pt idx="33">
                  <c:v>5.349227272035969</c:v>
                </c:pt>
                <c:pt idx="34">
                  <c:v>6.4681861643098095</c:v>
                </c:pt>
                <c:pt idx="35">
                  <c:v>6.04385483434495</c:v>
                </c:pt>
                <c:pt idx="36">
                  <c:v>5.312110867297684</c:v>
                </c:pt>
                <c:pt idx="37">
                  <c:v>6.202873974018992</c:v>
                </c:pt>
                <c:pt idx="38">
                  <c:v>6.982947511001461</c:v>
                </c:pt>
                <c:pt idx="39">
                  <c:v>6.169037457488935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2F5F9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</c:v>
                </c:pt>
              </c:strCache>
            </c:strRef>
          </c:tx>
          <c:spPr>
            <a:solidFill>
              <a:srgbClr val="3AAFA9"/>
            </a:solidFill>
            <a:ln w="38100" cap="flat">
              <a:solidFill>
                <a:srgbClr val="3AAFA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AAFA9"/>
              </a:solidFill>
              <a:ln w="9525" cap="flat">
                <a:solidFill>
                  <a:srgbClr val="3AAFA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42</c:v>
                </c:pt>
                <c:pt idx="1">
                  <c:v>66</c:v>
                </c:pt>
                <c:pt idx="2">
                  <c:v>80</c:v>
                </c:pt>
                <c:pt idx="3">
                  <c:v>88</c:v>
                </c:pt>
                <c:pt idx="4">
                  <c:v>93</c:v>
                </c:pt>
                <c:pt idx="5">
                  <c:v>96</c:v>
                </c:pt>
                <c:pt idx="6">
                  <c:v>98</c:v>
                </c:pt>
                <c:pt idx="7">
                  <c:v>100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F5F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1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1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5-1.png"/><Relationship Id="rId3" Type="http://schemas.openxmlformats.org/officeDocument/2006/relationships/image" Target="../media/image-5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12-1.png"/><Relationship Id="rId3" Type="http://schemas.openxmlformats.org/officeDocument/2006/relationships/image" Target="../media/image-12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3.png"/><Relationship Id="rId6" Type="http://schemas.openxmlformats.org/officeDocument/2006/relationships/image" Target="../media/image-13-6.png"/><Relationship Id="rId7" Type="http://schemas.openxmlformats.org/officeDocument/2006/relationships/image" Target="../media/image-13-3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14-1.png"/><Relationship Id="rId3" Type="http://schemas.openxmlformats.org/officeDocument/2006/relationships/image" Target="../media/image-14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1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2.png"/><Relationship Id="rId4" Type="http://schemas.openxmlformats.org/officeDocument/2006/relationships/image" Target="../media/image-16-2.png"/><Relationship Id="rId5" Type="http://schemas.openxmlformats.org/officeDocument/2006/relationships/image" Target="../media/image-16-2.png"/><Relationship Id="rId6" Type="http://schemas.openxmlformats.org/officeDocument/2006/relationships/image" Target="../media/image-16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1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320000">
            <a:off x="8686800" y="-1097280"/>
            <a:ext cx="5486400" cy="5486400"/>
          </a:xfrm>
          <a:prstGeom prst="roundRect">
            <a:avLst>
              <a:gd name="adj" fmla="val 3333"/>
            </a:avLst>
          </a:prstGeom>
          <a:solidFill>
            <a:srgbClr val="2D6A9F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320000">
            <a:off x="9509760" y="2377440"/>
            <a:ext cx="5486400" cy="5486400"/>
          </a:xfrm>
          <a:prstGeom prst="roundRect">
            <a:avLst>
              <a:gd name="adj" fmla="val 3333"/>
            </a:avLst>
          </a:prstGeom>
          <a:solidFill>
            <a:srgbClr val="3AAFA9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868680"/>
            <a:ext cx="914400" cy="91440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5" name="Image 0" descr="ic_compress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0972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2011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TRAINING  ·  DAY 5  ·  PHASE C — DATA ENGINEERING &amp; PREPARATION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2432304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Dimensionality Reduction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41248" y="34015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DCE7F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Fewer features, more signal — taming high-dimensional data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868680" y="4114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curse of dimensionality · selection vs extraction · PCA · t-SNE &amp; UMAP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68680" y="61264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E9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U11  ·  Phase C  ·  18 slides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compres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Why fewer dimensions can mean better models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72768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7276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idea:  </a:t>
            </a:r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gave us many columns. But more is not always better — </a:t>
            </a:r>
            <a:pPr algn="l" indent="0" marL="0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dimensions hurt</a:t>
            </a:r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This unit shrinks the feature space while keeping the signal.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225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0" name="Image 1" descr="ic_war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8176" y="3236976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4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40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58368" y="4498848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curse of dimensionality</a:t>
            </a:r>
            <a:endParaRPr lang="en-US" sz="1030" dirty="0"/>
          </a:p>
        </p:txBody>
      </p:sp>
      <p:sp>
        <p:nvSpPr>
          <p:cNvPr id="14" name="Shape 10"/>
          <p:cNvSpPr/>
          <p:nvPr/>
        </p:nvSpPr>
        <p:spPr>
          <a:xfrm>
            <a:off x="2834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511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6" name="Image 2" descr="ic_random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4176" y="3236976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980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2926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families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2944368" y="4498848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vs extraction</a:t>
            </a:r>
            <a:endParaRPr lang="en-US" sz="1030" dirty="0"/>
          </a:p>
        </p:txBody>
      </p:sp>
      <p:sp>
        <p:nvSpPr>
          <p:cNvPr id="20" name="Shape 15"/>
          <p:cNvSpPr/>
          <p:nvPr/>
        </p:nvSpPr>
        <p:spPr>
          <a:xfrm>
            <a:off x="5120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797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2" name="Image 3" descr="ic_filter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176" y="3236976"/>
            <a:ext cx="402336" cy="40233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266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212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5230368" y="4498848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best columns</a:t>
            </a:r>
            <a:endParaRPr lang="en-US" sz="1030" dirty="0"/>
          </a:p>
        </p:txBody>
      </p:sp>
      <p:sp>
        <p:nvSpPr>
          <p:cNvPr id="26" name="Shape 20"/>
          <p:cNvSpPr/>
          <p:nvPr/>
        </p:nvSpPr>
        <p:spPr>
          <a:xfrm>
            <a:off x="7406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083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8" name="Image 4" descr="ic_compress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6176" y="3236976"/>
            <a:ext cx="402336" cy="40233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552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7498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</a:t>
            </a:r>
            <a:endParaRPr lang="en-US" sz="1350" dirty="0"/>
          </a:p>
        </p:txBody>
      </p:sp>
      <p:sp>
        <p:nvSpPr>
          <p:cNvPr id="31" name="Text 24"/>
          <p:cNvSpPr/>
          <p:nvPr/>
        </p:nvSpPr>
        <p:spPr>
          <a:xfrm>
            <a:off x="7516368" y="4498848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new compact axes</a:t>
            </a:r>
            <a:endParaRPr lang="en-US" sz="1030" dirty="0"/>
          </a:p>
        </p:txBody>
      </p:sp>
      <p:sp>
        <p:nvSpPr>
          <p:cNvPr id="32" name="Shape 25"/>
          <p:cNvSpPr/>
          <p:nvPr/>
        </p:nvSpPr>
        <p:spPr>
          <a:xfrm>
            <a:off x="9692640" y="2743200"/>
            <a:ext cx="2121408" cy="2331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10369296" y="3035808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34" name="Image 5" descr="ic_scatter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52176" y="3236976"/>
            <a:ext cx="402336" cy="402336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9838944" y="2852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6" name="Text 28"/>
          <p:cNvSpPr/>
          <p:nvPr/>
        </p:nvSpPr>
        <p:spPr>
          <a:xfrm>
            <a:off x="9784080" y="39684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</a:t>
            </a:r>
            <a:endParaRPr lang="en-US" sz="1350" dirty="0"/>
          </a:p>
        </p:txBody>
      </p:sp>
      <p:sp>
        <p:nvSpPr>
          <p:cNvPr id="37" name="Text 29"/>
          <p:cNvSpPr/>
          <p:nvPr/>
        </p:nvSpPr>
        <p:spPr>
          <a:xfrm>
            <a:off x="9802368" y="4498848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t-SNE, UMAP, LDA</a:t>
            </a:r>
            <a:endParaRPr lang="en-US" sz="1030" dirty="0"/>
          </a:p>
        </p:txBody>
      </p:sp>
      <p:sp>
        <p:nvSpPr>
          <p:cNvPr id="38" name="Text 30"/>
          <p:cNvSpPr/>
          <p:nvPr/>
        </p:nvSpPr>
        <p:spPr>
          <a:xfrm>
            <a:off x="548640" y="53218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 U10: once you've created features, reduction decides which to keep — or how to compress them.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U11 · Dimensionality Reduction</a:t>
            </a:r>
            <a:endParaRPr lang="en-US" sz="950" dirty="0"/>
          </a:p>
        </p:txBody>
      </p:sp>
      <p:sp>
        <p:nvSpPr>
          <p:cNvPr id="40" name="Text 3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914400"/>
            <a:ext cx="2286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24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war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curse of dimensionality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adding more and more features eventually makes models worse, not better.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Dimensionality Reduction · Phase C  ·  01 / 18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cube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FIRST, THE VOCABULARY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is 'dimensionality'?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72768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72768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 </a:t>
            </a:r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dimensionality of a dataset is simply its number of features (columns). Each feature is one axis the data lives along.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2615184" cy="1874520"/>
          </a:xfrm>
          <a:prstGeom prst="roundRect">
            <a:avLst>
              <a:gd name="adj" fmla="val 4390"/>
            </a:avLst>
          </a:prstGeom>
          <a:solidFill>
            <a:srgbClr val="F2F5F9"/>
          </a:solidFill>
          <a:ln/>
        </p:spPr>
      </p:sp>
      <p:sp>
        <p:nvSpPr>
          <p:cNvPr id="9" name="Shape 6"/>
          <p:cNvSpPr/>
          <p:nvPr/>
        </p:nvSpPr>
        <p:spPr>
          <a:xfrm>
            <a:off x="1472184" y="29352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0" name="Image 1" descr="ic_arrowsh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064" y="3136392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58368" y="38130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1-D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694944" y="4123944"/>
            <a:ext cx="23225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feature — points on a line</a:t>
            </a:r>
            <a:endParaRPr lang="en-US" sz="1030" dirty="0"/>
          </a:p>
        </p:txBody>
      </p:sp>
      <p:sp>
        <p:nvSpPr>
          <p:cNvPr id="13" name="Shape 9"/>
          <p:cNvSpPr/>
          <p:nvPr/>
        </p:nvSpPr>
        <p:spPr>
          <a:xfrm>
            <a:off x="3346704" y="2697480"/>
            <a:ext cx="2615184" cy="1874520"/>
          </a:xfrm>
          <a:prstGeom prst="roundRect">
            <a:avLst>
              <a:gd name="adj" fmla="val 4390"/>
            </a:avLst>
          </a:prstGeom>
          <a:solidFill>
            <a:srgbClr val="F2F5F9"/>
          </a:solidFill>
          <a:ln/>
        </p:spPr>
      </p:sp>
      <p:sp>
        <p:nvSpPr>
          <p:cNvPr id="14" name="Shape 10"/>
          <p:cNvSpPr/>
          <p:nvPr/>
        </p:nvSpPr>
        <p:spPr>
          <a:xfrm>
            <a:off x="4270248" y="29352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5" name="Image 2" descr="ic_thgri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3136392"/>
            <a:ext cx="402336" cy="40233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456432" y="38130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2-D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3493008" y="4123944"/>
            <a:ext cx="23225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features — points on a plane</a:t>
            </a:r>
            <a:endParaRPr lang="en-US" sz="1030" dirty="0"/>
          </a:p>
        </p:txBody>
      </p:sp>
      <p:sp>
        <p:nvSpPr>
          <p:cNvPr id="18" name="Shape 13"/>
          <p:cNvSpPr/>
          <p:nvPr/>
        </p:nvSpPr>
        <p:spPr>
          <a:xfrm>
            <a:off x="6144768" y="2697480"/>
            <a:ext cx="2615184" cy="1874520"/>
          </a:xfrm>
          <a:prstGeom prst="roundRect">
            <a:avLst>
              <a:gd name="adj" fmla="val 4390"/>
            </a:avLst>
          </a:prstGeom>
          <a:solidFill>
            <a:srgbClr val="F2F5F9"/>
          </a:solidFill>
          <a:ln/>
        </p:spPr>
      </p:sp>
      <p:sp>
        <p:nvSpPr>
          <p:cNvPr id="19" name="Shape 14"/>
          <p:cNvSpPr/>
          <p:nvPr/>
        </p:nvSpPr>
        <p:spPr>
          <a:xfrm>
            <a:off x="7068312" y="29352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0" name="Image 3" descr="ic_cube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192" y="3136392"/>
            <a:ext cx="402336" cy="40233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254496" y="38130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3-D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6291072" y="4123944"/>
            <a:ext cx="23225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features — points in a volume</a:t>
            </a:r>
            <a:endParaRPr lang="en-US" sz="1030" dirty="0"/>
          </a:p>
        </p:txBody>
      </p:sp>
      <p:sp>
        <p:nvSpPr>
          <p:cNvPr id="23" name="Shape 17"/>
          <p:cNvSpPr/>
          <p:nvPr/>
        </p:nvSpPr>
        <p:spPr>
          <a:xfrm>
            <a:off x="8942832" y="2697480"/>
            <a:ext cx="2615184" cy="1874520"/>
          </a:xfrm>
          <a:prstGeom prst="roundRect">
            <a:avLst>
              <a:gd name="adj" fmla="val 4390"/>
            </a:avLst>
          </a:prstGeom>
          <a:solidFill>
            <a:srgbClr val="F2F5F9"/>
          </a:solidFill>
          <a:ln/>
        </p:spPr>
      </p:sp>
      <p:sp>
        <p:nvSpPr>
          <p:cNvPr id="24" name="Shape 18"/>
          <p:cNvSpPr/>
          <p:nvPr/>
        </p:nvSpPr>
        <p:spPr>
          <a:xfrm>
            <a:off x="9866376" y="29352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5" name="Image 4" descr="ic_infinity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9256" y="3136392"/>
            <a:ext cx="402336" cy="40233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052560" y="38130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n-D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9089136" y="4123944"/>
            <a:ext cx="23225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features — hard to picture</a:t>
            </a:r>
            <a:endParaRPr lang="en-US" sz="1030" dirty="0"/>
          </a:p>
        </p:txBody>
      </p:sp>
      <p:sp>
        <p:nvSpPr>
          <p:cNvPr id="28" name="Text 21"/>
          <p:cNvSpPr/>
          <p:nvPr/>
        </p:nvSpPr>
        <p:spPr>
          <a:xfrm>
            <a:off x="548640" y="4709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datasets often have hundreds or thousands of features after encoding &amp; feature engineering.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U11 · Dimensionality Reduction</a:t>
            </a:r>
            <a:endParaRPr lang="en-US" sz="950" dirty="0"/>
          </a:p>
        </p:txBody>
      </p:sp>
      <p:sp>
        <p:nvSpPr>
          <p:cNvPr id="30" name="Text 2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war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IS NOT FREE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curse of dimensionality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7099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002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gets sparse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points spread thin; space is mostly empty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2423160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31343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Distances blur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everything looks far apart and equally so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313639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02666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rises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more features → more ways to fit noise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66928" y="384962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73989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grows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more memory, slower training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217920" y="159105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100 points, spread ever thinner</a:t>
            </a:r>
            <a:endParaRPr lang="en-US" sz="12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6217920" y="1920240"/>
          <a:ext cx="53949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Text 12"/>
          <p:cNvSpPr/>
          <p:nvPr/>
        </p:nvSpPr>
        <p:spPr>
          <a:xfrm>
            <a:off x="6217920" y="464515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per unit region collapse as dimensions grow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18" name="Shape 14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19" name="Image 1" descr="ic_flask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pPr algn="l" indent="0" marL="0">
              <a:buNone/>
            </a:pP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Discuss: why might a model with 500 features and 300 rows fail to generalise?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U11 · Dimensionality Reduction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compres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PAYOFF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Why reduce dimensions?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2615184" cy="2240280"/>
          </a:xfrm>
          <a:prstGeom prst="roundRect">
            <a:avLst>
              <a:gd name="adj" fmla="val 3673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1472184" y="20208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8" name="Image 1" descr="ic_shiel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064" y="2221992"/>
            <a:ext cx="402336" cy="4023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8368" y="28986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overfitting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94944" y="3209544"/>
            <a:ext cx="232257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features → simpler, more general models</a:t>
            </a:r>
            <a:endParaRPr lang="en-US" sz="1030" dirty="0"/>
          </a:p>
        </p:txBody>
      </p:sp>
      <p:sp>
        <p:nvSpPr>
          <p:cNvPr id="11" name="Shape 7"/>
          <p:cNvSpPr/>
          <p:nvPr/>
        </p:nvSpPr>
        <p:spPr>
          <a:xfrm>
            <a:off x="3346704" y="1783080"/>
            <a:ext cx="2615184" cy="2240280"/>
          </a:xfrm>
          <a:prstGeom prst="roundRect">
            <a:avLst>
              <a:gd name="adj" fmla="val 3673"/>
            </a:avLst>
          </a:prstGeom>
          <a:solidFill>
            <a:srgbClr val="F2F5F9"/>
          </a:solidFill>
          <a:ln/>
        </p:spPr>
      </p:sp>
      <p:sp>
        <p:nvSpPr>
          <p:cNvPr id="12" name="Shape 8"/>
          <p:cNvSpPr/>
          <p:nvPr/>
        </p:nvSpPr>
        <p:spPr>
          <a:xfrm>
            <a:off x="4270248" y="20208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3" name="Image 2" descr="ic_gaug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2221992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56432" y="28986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&amp; lighter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3493008" y="3209544"/>
            <a:ext cx="232257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memory, quicker to train and serve</a:t>
            </a:r>
            <a:endParaRPr lang="en-US" sz="1030" dirty="0"/>
          </a:p>
        </p:txBody>
      </p:sp>
      <p:sp>
        <p:nvSpPr>
          <p:cNvPr id="16" name="Shape 11"/>
          <p:cNvSpPr/>
          <p:nvPr/>
        </p:nvSpPr>
        <p:spPr>
          <a:xfrm>
            <a:off x="6144768" y="1783080"/>
            <a:ext cx="2615184" cy="2240280"/>
          </a:xfrm>
          <a:prstGeom prst="roundRect">
            <a:avLst>
              <a:gd name="adj" fmla="val 3673"/>
            </a:avLst>
          </a:prstGeom>
          <a:solidFill>
            <a:srgbClr val="F2F5F9"/>
          </a:solidFill>
          <a:ln/>
        </p:spPr>
      </p:sp>
      <p:sp>
        <p:nvSpPr>
          <p:cNvPr id="17" name="Shape 12"/>
          <p:cNvSpPr/>
          <p:nvPr/>
        </p:nvSpPr>
        <p:spPr>
          <a:xfrm>
            <a:off x="7068312" y="20208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8" name="Image 3" descr="ic_scatter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192" y="2221992"/>
            <a:ext cx="402336" cy="40233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54496" y="28986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6291072" y="3209544"/>
            <a:ext cx="232257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 to 2-D / 3-D to see structure</a:t>
            </a:r>
            <a:endParaRPr lang="en-US" sz="1030" dirty="0"/>
          </a:p>
        </p:txBody>
      </p:sp>
      <p:sp>
        <p:nvSpPr>
          <p:cNvPr id="21" name="Shape 15"/>
          <p:cNvSpPr/>
          <p:nvPr/>
        </p:nvSpPr>
        <p:spPr>
          <a:xfrm>
            <a:off x="8942832" y="1783080"/>
            <a:ext cx="2615184" cy="2240280"/>
          </a:xfrm>
          <a:prstGeom prst="roundRect">
            <a:avLst>
              <a:gd name="adj" fmla="val 3673"/>
            </a:avLst>
          </a:prstGeom>
          <a:solidFill>
            <a:srgbClr val="F2F5F9"/>
          </a:solidFill>
          <a:ln/>
        </p:spPr>
      </p:sp>
      <p:sp>
        <p:nvSpPr>
          <p:cNvPr id="22" name="Shape 16"/>
          <p:cNvSpPr/>
          <p:nvPr/>
        </p:nvSpPr>
        <p:spPr>
          <a:xfrm>
            <a:off x="9866376" y="202082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3" name="Image 4" descr="ic_filter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9256" y="2221992"/>
            <a:ext cx="402336" cy="40233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052560" y="28986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noise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9089136" y="3209544"/>
            <a:ext cx="232257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redundant, low-information features</a:t>
            </a:r>
            <a:endParaRPr lang="en-US" sz="1030" dirty="0"/>
          </a:p>
        </p:txBody>
      </p:sp>
      <p:sp>
        <p:nvSpPr>
          <p:cNvPr id="26" name="Shape 19"/>
          <p:cNvSpPr/>
          <p:nvPr/>
        </p:nvSpPr>
        <p:spPr>
          <a:xfrm>
            <a:off x="548640" y="425196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7" name="Text 20"/>
          <p:cNvSpPr/>
          <p:nvPr/>
        </p:nvSpPr>
        <p:spPr>
          <a:xfrm>
            <a:off x="822960" y="425196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 </a:t>
            </a:r>
            <a:pPr algn="l" indent="0" marL="0">
              <a:buNone/>
            </a:pPr>
            <a:r>
              <a:rPr lang="en-US" sz="13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as much useful information as possible while using far fewer dimensions.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U11 · Dimensionality Reduction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random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FORK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Two ways to reduce dimensions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5440680" cy="3108960"/>
          </a:xfrm>
          <a:prstGeom prst="roundRect">
            <a:avLst>
              <a:gd name="adj" fmla="val 2941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1691640"/>
            <a:ext cx="5440680" cy="603504"/>
          </a:xfrm>
          <a:prstGeom prst="roundRect">
            <a:avLst>
              <a:gd name="adj" fmla="val 15152"/>
            </a:avLst>
          </a:prstGeom>
          <a:solidFill>
            <a:srgbClr val="2D6A9F"/>
          </a:solidFill>
          <a:ln/>
        </p:spPr>
      </p:sp>
      <p:sp>
        <p:nvSpPr>
          <p:cNvPr id="8" name="Shape 5"/>
          <p:cNvSpPr/>
          <p:nvPr/>
        </p:nvSpPr>
        <p:spPr>
          <a:xfrm>
            <a:off x="749808" y="1801368"/>
            <a:ext cx="384048" cy="384048"/>
          </a:xfrm>
          <a:prstGeom prst="ellipse">
            <a:avLst/>
          </a:prstGeom>
          <a:solidFill>
            <a:srgbClr val="FFFFFF">
              <a:alpha val="88000"/>
            </a:srgbClr>
          </a:solidFill>
          <a:ln/>
        </p:spPr>
      </p:sp>
      <p:pic>
        <p:nvPicPr>
          <p:cNvPr id="9" name="Image 1" descr="ic_filte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" y="1865376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61872" y="1691640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822960" y="246888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subset of the original features; drop the rest.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868680" y="3319272"/>
            <a:ext cx="4800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real, named columns</a:t>
            </a:r>
            <a:endParaRPr lang="en-US" sz="11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interpretable</a:t>
            </a:r>
            <a:endParaRPr lang="en-US" sz="11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variance, correlation, Lasso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199632" y="1691640"/>
            <a:ext cx="5440680" cy="3108960"/>
          </a:xfrm>
          <a:prstGeom prst="roundRect">
            <a:avLst>
              <a:gd name="adj" fmla="val 2941"/>
            </a:avLst>
          </a:prstGeom>
          <a:solidFill>
            <a:srgbClr val="F2F5F9"/>
          </a:solidFill>
          <a:ln/>
        </p:spPr>
      </p:sp>
      <p:sp>
        <p:nvSpPr>
          <p:cNvPr id="14" name="Shape 10"/>
          <p:cNvSpPr/>
          <p:nvPr/>
        </p:nvSpPr>
        <p:spPr>
          <a:xfrm>
            <a:off x="6199632" y="1691640"/>
            <a:ext cx="5440680" cy="603504"/>
          </a:xfrm>
          <a:prstGeom prst="roundRect">
            <a:avLst>
              <a:gd name="adj" fmla="val 15152"/>
            </a:avLst>
          </a:prstGeom>
          <a:solidFill>
            <a:srgbClr val="3AAFA9"/>
          </a:solidFill>
          <a:ln/>
        </p:spPr>
      </p:sp>
      <p:sp>
        <p:nvSpPr>
          <p:cNvPr id="15" name="Shape 11"/>
          <p:cNvSpPr/>
          <p:nvPr/>
        </p:nvSpPr>
        <p:spPr>
          <a:xfrm>
            <a:off x="6400800" y="1801368"/>
            <a:ext cx="384048" cy="384048"/>
          </a:xfrm>
          <a:prstGeom prst="ellipse">
            <a:avLst/>
          </a:prstGeom>
          <a:solidFill>
            <a:srgbClr val="FFFFFF">
              <a:alpha val="88000"/>
            </a:srgbClr>
          </a:solidFill>
          <a:ln/>
        </p:spPr>
      </p:sp>
      <p:pic>
        <p:nvPicPr>
          <p:cNvPr id="16" name="Image 2" descr="ic_compres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808" y="1865376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12864" y="1691640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473952" y="246888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features into fewer new ones that capture the same information.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519672" y="3319272"/>
            <a:ext cx="4800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new compact axes</a:t>
            </a:r>
            <a:endParaRPr lang="en-US" sz="11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more powerful</a:t>
            </a:r>
            <a:endParaRPr lang="en-US" sz="11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PCA, t-SNE, UMAP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U11 · Dimensionality Reduction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914400"/>
            <a:ext cx="2286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24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filte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BEST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Feature selection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that pick a subset of your original, interpretable features.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Dimensionality Reduction · Phase C  ·  02 / 18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sortdow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RANK, THEN KEEP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Filter methods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572768"/>
            <a:ext cx="11091672" cy="713232"/>
          </a:xfrm>
          <a:prstGeom prst="roundRect">
            <a:avLst>
              <a:gd name="adj" fmla="val 10256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572768"/>
            <a:ext cx="10515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methods  </a:t>
            </a:r>
            <a:pPr algn="l" indent="0" marL="0">
              <a:buNone/>
            </a:pPr>
            <a:r>
              <a:rPr lang="en-US" sz="135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each feature independently of any model, then keep the top ones — fast and simple.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468880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2F5F9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246888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Low-variance filter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023360" y="246888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near-constant features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869680" y="246888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D6A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VarianceThreshold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48640" y="3108960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2F5F9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310896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filter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023360" y="310896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one of each highly-correlated pair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8869680" y="310896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D6A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.corr() then prune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48640" y="3749040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2F5F9"/>
          </a:solidFill>
          <a:ln/>
        </p:spPr>
      </p:sp>
      <p:sp>
        <p:nvSpPr>
          <p:cNvPr id="17" name="Text 14"/>
          <p:cNvSpPr/>
          <p:nvPr/>
        </p:nvSpPr>
        <p:spPr>
          <a:xfrm>
            <a:off x="777240" y="374904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information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023360" y="374904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features informative about the target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8869680" y="374904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D6A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mutual_info_classif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48640" y="4389120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2F5F9"/>
          </a:solidFill>
          <a:ln/>
        </p:spPr>
      </p:sp>
      <p:sp>
        <p:nvSpPr>
          <p:cNvPr id="21" name="Text 18"/>
          <p:cNvSpPr/>
          <p:nvPr/>
        </p:nvSpPr>
        <p:spPr>
          <a:xfrm>
            <a:off x="777240" y="438912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/ ANOVA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023360" y="438912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relevance to the target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8869680" y="438912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D6A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SelectKBest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25" name="Shape 22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6" name="Image 1" descr="ic_flas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pPr algn="l" indent="0" marL="0">
              <a:buNone/>
            </a:pP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near-zero-variance columns and one of each correlated pair from the feature set.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U11 · Dimensionality Reduction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co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 MODEL DECIDE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Wrapper &amp; embedded methods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5440680" cy="2971800"/>
          </a:xfrm>
          <a:prstGeom prst="roundRect">
            <a:avLst>
              <a:gd name="adj" fmla="val 3077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1691640"/>
            <a:ext cx="5440680" cy="548640"/>
          </a:xfrm>
          <a:prstGeom prst="roundRect">
            <a:avLst>
              <a:gd name="adj" fmla="val 16667"/>
            </a:avLst>
          </a:prstGeom>
          <a:solidFill>
            <a:srgbClr val="2D6A9F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169164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WRAPPER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2404872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models on different feature subsets and keep the best-scoring set.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68680" y="3246120"/>
            <a:ext cx="4800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Feature Elimination (RFE)</a:t>
            </a:r>
            <a:endParaRPr lang="en-US" sz="11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/ backward selection</a:t>
            </a:r>
            <a:endParaRPr lang="en-US" sz="11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but slower — many fits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199632" y="1691640"/>
            <a:ext cx="5440680" cy="2971800"/>
          </a:xfrm>
          <a:prstGeom prst="roundRect">
            <a:avLst>
              <a:gd name="adj" fmla="val 3077"/>
            </a:avLst>
          </a:prstGeom>
          <a:solidFill>
            <a:srgbClr val="F2F5F9"/>
          </a:solidFill>
          <a:ln/>
        </p:spPr>
      </p:sp>
      <p:sp>
        <p:nvSpPr>
          <p:cNvPr id="12" name="Shape 9"/>
          <p:cNvSpPr/>
          <p:nvPr/>
        </p:nvSpPr>
        <p:spPr>
          <a:xfrm>
            <a:off x="6199632" y="1691640"/>
            <a:ext cx="5440680" cy="548640"/>
          </a:xfrm>
          <a:prstGeom prst="roundRect">
            <a:avLst>
              <a:gd name="adj" fmla="val 16667"/>
            </a:avLst>
          </a:prstGeom>
          <a:solidFill>
            <a:srgbClr val="3AAFA9"/>
          </a:solidFill>
          <a:ln/>
        </p:spPr>
      </p:sp>
      <p:sp>
        <p:nvSpPr>
          <p:cNvPr id="13" name="Text 10"/>
          <p:cNvSpPr/>
          <p:nvPr/>
        </p:nvSpPr>
        <p:spPr>
          <a:xfrm>
            <a:off x="6473952" y="169164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473952" y="2404872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happens during model training, as part of the algorithm.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519672" y="3246120"/>
            <a:ext cx="4800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 (L1) shrinks weights to zero</a:t>
            </a:r>
            <a:endParaRPr lang="en-US" sz="11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/ forest feature importance</a:t>
            </a:r>
            <a:endParaRPr lang="en-US" sz="11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— one training run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48640" y="4846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methods (Lasso, tree importance) are the practical default — selection for free during training.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U11 · Dimensionality Reduction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914400"/>
            <a:ext cx="2286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0" b="1" dirty="0">
                <a:solidFill>
                  <a:srgbClr val="1F365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24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" cy="1051560"/>
          </a:xfrm>
          <a:prstGeom prst="ellipse">
            <a:avLst/>
          </a:prstGeom>
          <a:solidFill>
            <a:srgbClr val="F4B942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4" name="Image 0" descr="ic_compres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45970"/>
            <a:ext cx="525780" cy="5257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48840" y="1847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121408" y="2231136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Feature extraction &amp; PCA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148840" y="4160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few new axes that capture most of the information in many original features.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8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Dimensionality Reduction · Phase C  ·  03 / 18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compres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WORKHORSE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PCA — the intuition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7099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002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spread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directions where data varies most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2423160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31343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axes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principal components, ranked by variance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313639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02666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top few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PC1, PC2… capture most of the signal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66928" y="384962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73989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&amp; drop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represent data in fewer new dimensions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217920" y="159105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 follows the direction of greatest variance</a:t>
            </a:r>
            <a:endParaRPr lang="en-US" sz="12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6217920" y="1920240"/>
          <a:ext cx="53949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Shape 12"/>
          <p:cNvSpPr/>
          <p:nvPr/>
        </p:nvSpPr>
        <p:spPr>
          <a:xfrm>
            <a:off x="6766560" y="4160520"/>
            <a:ext cx="4297680" cy="-1828800"/>
          </a:xfrm>
          <a:prstGeom prst="line">
            <a:avLst/>
          </a:prstGeom>
          <a:noFill/>
          <a:ln w="38100">
            <a:solidFill>
              <a:srgbClr val="F4B942"/>
            </a:solidFill>
            <a:prstDash val="solid"/>
            <a:tailEnd type="triangle"/>
          </a:ln>
        </p:spPr>
      </p:sp>
      <p:sp>
        <p:nvSpPr>
          <p:cNvPr id="17" name="Text 13"/>
          <p:cNvSpPr/>
          <p:nvPr/>
        </p:nvSpPr>
        <p:spPr>
          <a:xfrm>
            <a:off x="10698480" y="21488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19" name="Shape 15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20" name="Image 1" descr="ic_flask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pPr algn="l" indent="0" marL="0">
              <a:buNone/>
            </a:pP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in your own words what PC1 and PC2 represent for a 2-feature dataset.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U11 · Dimensionality Reduction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step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STEPS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How PCA works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2615184" cy="1417320"/>
          </a:xfrm>
          <a:prstGeom prst="roundRect">
            <a:avLst>
              <a:gd name="adj" fmla="val 6452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768096" y="2075688"/>
            <a:ext cx="640080" cy="640080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8" name="Image 1" descr="ic_scal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2231136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706624" y="1764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0E6E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1517904" y="2057400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517904" y="2423160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every feature first</a:t>
            </a:r>
            <a:endParaRPr lang="en-US" sz="950" dirty="0"/>
          </a:p>
        </p:txBody>
      </p:sp>
      <p:pic>
        <p:nvPicPr>
          <p:cNvPr id="12" name="Image 2" descr="ic_arrow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2112" y="2318004"/>
            <a:ext cx="146304" cy="146304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3346704" y="1691640"/>
            <a:ext cx="2615184" cy="1417320"/>
          </a:xfrm>
          <a:prstGeom prst="roundRect">
            <a:avLst>
              <a:gd name="adj" fmla="val 6452"/>
            </a:avLst>
          </a:prstGeom>
          <a:solidFill>
            <a:srgbClr val="F2F5F9"/>
          </a:solidFill>
          <a:ln/>
        </p:spPr>
      </p:sp>
      <p:sp>
        <p:nvSpPr>
          <p:cNvPr id="14" name="Shape 9"/>
          <p:cNvSpPr/>
          <p:nvPr/>
        </p:nvSpPr>
        <p:spPr>
          <a:xfrm>
            <a:off x="3566160" y="2075688"/>
            <a:ext cx="640080" cy="640080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5" name="Image 3" descr="ic_thgri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1608" y="2231136"/>
            <a:ext cx="329184" cy="32918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504688" y="1764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0E6E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1"/>
          <p:cNvSpPr/>
          <p:nvPr/>
        </p:nvSpPr>
        <p:spPr>
          <a:xfrm>
            <a:off x="4315968" y="2057400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Covariance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4315968" y="2423160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how features co-vary</a:t>
            </a:r>
            <a:endParaRPr lang="en-US" sz="950" dirty="0"/>
          </a:p>
        </p:txBody>
      </p:sp>
      <p:pic>
        <p:nvPicPr>
          <p:cNvPr id="19" name="Image 4" descr="ic_arrow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0176" y="2318004"/>
            <a:ext cx="146304" cy="146304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6144768" y="1691640"/>
            <a:ext cx="2615184" cy="1417320"/>
          </a:xfrm>
          <a:prstGeom prst="roundRect">
            <a:avLst>
              <a:gd name="adj" fmla="val 6452"/>
            </a:avLst>
          </a:prstGeom>
          <a:solidFill>
            <a:srgbClr val="F2F5F9"/>
          </a:solidFill>
          <a:ln/>
        </p:spPr>
      </p:sp>
      <p:sp>
        <p:nvSpPr>
          <p:cNvPr id="21" name="Shape 14"/>
          <p:cNvSpPr/>
          <p:nvPr/>
        </p:nvSpPr>
        <p:spPr>
          <a:xfrm>
            <a:off x="6364224" y="2075688"/>
            <a:ext cx="640080" cy="640080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2" name="Image 5" descr="ic_compass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9672" y="2231136"/>
            <a:ext cx="329184" cy="329184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8302752" y="1764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0E6E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Text 16"/>
          <p:cNvSpPr/>
          <p:nvPr/>
        </p:nvSpPr>
        <p:spPr>
          <a:xfrm>
            <a:off x="7114032" y="2057400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Eigen-decompose</a:t>
            </a:r>
            <a:endParaRPr lang="en-US" sz="1350" dirty="0"/>
          </a:p>
        </p:txBody>
      </p:sp>
      <p:sp>
        <p:nvSpPr>
          <p:cNvPr id="25" name="Text 17"/>
          <p:cNvSpPr/>
          <p:nvPr/>
        </p:nvSpPr>
        <p:spPr>
          <a:xfrm>
            <a:off x="7114032" y="2423160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principal directions</a:t>
            </a:r>
            <a:endParaRPr lang="en-US" sz="950" dirty="0"/>
          </a:p>
        </p:txBody>
      </p:sp>
      <p:pic>
        <p:nvPicPr>
          <p:cNvPr id="26" name="Image 6" descr="ic_arrow_gol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8240" y="2318004"/>
            <a:ext cx="146304" cy="146304"/>
          </a:xfrm>
          <a:prstGeom prst="rect">
            <a:avLst/>
          </a:prstGeom>
        </p:spPr>
      </p:pic>
      <p:sp>
        <p:nvSpPr>
          <p:cNvPr id="27" name="Shape 18"/>
          <p:cNvSpPr/>
          <p:nvPr/>
        </p:nvSpPr>
        <p:spPr>
          <a:xfrm>
            <a:off x="8942832" y="1691640"/>
            <a:ext cx="2615184" cy="1417320"/>
          </a:xfrm>
          <a:prstGeom prst="roundRect">
            <a:avLst>
              <a:gd name="adj" fmla="val 6452"/>
            </a:avLst>
          </a:prstGeom>
          <a:solidFill>
            <a:srgbClr val="F2F5F9"/>
          </a:solidFill>
          <a:ln/>
        </p:spPr>
      </p:sp>
      <p:sp>
        <p:nvSpPr>
          <p:cNvPr id="28" name="Shape 19"/>
          <p:cNvSpPr/>
          <p:nvPr/>
        </p:nvSpPr>
        <p:spPr>
          <a:xfrm>
            <a:off x="9162288" y="2075688"/>
            <a:ext cx="640080" cy="640080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9" name="Image 7" descr="ic_arrowsh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17736" y="2231136"/>
            <a:ext cx="329184" cy="329184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11100816" y="1764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0E6E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2200" dirty="0"/>
          </a:p>
        </p:txBody>
      </p:sp>
      <p:sp>
        <p:nvSpPr>
          <p:cNvPr id="31" name="Text 21"/>
          <p:cNvSpPr/>
          <p:nvPr/>
        </p:nvSpPr>
        <p:spPr>
          <a:xfrm>
            <a:off x="9912096" y="2057400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350" dirty="0"/>
          </a:p>
        </p:txBody>
      </p:sp>
      <p:sp>
        <p:nvSpPr>
          <p:cNvPr id="32" name="Text 22"/>
          <p:cNvSpPr/>
          <p:nvPr/>
        </p:nvSpPr>
        <p:spPr>
          <a:xfrm>
            <a:off x="9912096" y="2423160"/>
            <a:ext cx="1517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data onto top components</a:t>
            </a:r>
            <a:endParaRPr lang="en-US" sz="950" dirty="0"/>
          </a:p>
        </p:txBody>
      </p:sp>
      <p:sp>
        <p:nvSpPr>
          <p:cNvPr id="33" name="Shape 23"/>
          <p:cNvSpPr/>
          <p:nvPr/>
        </p:nvSpPr>
        <p:spPr>
          <a:xfrm>
            <a:off x="548640" y="3383280"/>
            <a:ext cx="11091672" cy="1417320"/>
          </a:xfrm>
          <a:prstGeom prst="roundRect">
            <a:avLst>
              <a:gd name="adj" fmla="val 3871"/>
            </a:avLst>
          </a:prstGeom>
          <a:solidFill>
            <a:srgbClr val="0E1B2E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34" name="Shape 24"/>
          <p:cNvSpPr/>
          <p:nvPr/>
        </p:nvSpPr>
        <p:spPr>
          <a:xfrm>
            <a:off x="694944" y="352958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35" name="Shape 25"/>
          <p:cNvSpPr/>
          <p:nvPr/>
        </p:nvSpPr>
        <p:spPr>
          <a:xfrm>
            <a:off x="841248" y="352958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36" name="Shape 26"/>
          <p:cNvSpPr/>
          <p:nvPr/>
        </p:nvSpPr>
        <p:spPr>
          <a:xfrm>
            <a:off x="987552" y="352958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37" name="Text 27"/>
          <p:cNvSpPr/>
          <p:nvPr/>
        </p:nvSpPr>
        <p:spPr>
          <a:xfrm>
            <a:off x="1188720" y="3456432"/>
            <a:ext cx="10268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FA6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pca.py</a:t>
            </a:r>
            <a:endParaRPr lang="en-US" sz="950" dirty="0"/>
          </a:p>
        </p:txBody>
      </p:sp>
      <p:sp>
        <p:nvSpPr>
          <p:cNvPr id="38" name="Text 28"/>
          <p:cNvSpPr/>
          <p:nvPr/>
        </p:nvSpPr>
        <p:spPr>
          <a:xfrm>
            <a:off x="749808" y="3767328"/>
            <a:ext cx="1068933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sklearn.preprocessing import StandardScaler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4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sklearn.decomposition import PCA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Xs = StandardScaler().fit_transform(X)   # step 1 — scaling is essential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pca = PCA(n_components=2).fit(Xs)        # steps 2-3</a:t>
            </a:r>
            <a:endParaRPr lang="en-US" sz="11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X_reduced = pca.transform(Xs)            # step 4 — now just 2 columns</a:t>
            </a:r>
            <a:endParaRPr lang="en-US" sz="1150" dirty="0"/>
          </a:p>
        </p:txBody>
      </p:sp>
      <p:sp>
        <p:nvSpPr>
          <p:cNvPr id="39" name="Shape 29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40" name="Shape 30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41" name="Image 8" descr="ic_flask_nav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42" name="Text 31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pPr algn="l" indent="0" marL="0">
              <a:buNone/>
            </a:pP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 a dataset, fit PCA to 2 components, and check the new shape.</a:t>
            </a:r>
            <a:endParaRPr lang="en-US" sz="1100" dirty="0"/>
          </a:p>
        </p:txBody>
      </p:sp>
      <p:sp>
        <p:nvSpPr>
          <p:cNvPr id="43" name="Text 32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U11 · Dimensionality Reduction</a:t>
            </a:r>
            <a:endParaRPr lang="en-US" sz="950" dirty="0"/>
          </a:p>
        </p:txBody>
      </p:sp>
      <p:sp>
        <p:nvSpPr>
          <p:cNvPr id="44" name="Text 33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TO KEEP?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Explained variance &amp; the scree plot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66928" y="1709928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002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Explained variance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each PC captures a share of total variance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2423160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31343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add PCs until you reach ~90–95%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3136392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302666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 plot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look for the 'elbow' where gains flatten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66928" y="3849624"/>
            <a:ext cx="146304" cy="14630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73989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  </a:t>
            </a:r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fewer PCs = simpler but loses some info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217920" y="159105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explained variance</a:t>
            </a:r>
            <a:endParaRPr lang="en-US" sz="12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6217920" y="1920240"/>
          <a:ext cx="53949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Text 12"/>
          <p:cNvSpPr/>
          <p:nvPr/>
        </p:nvSpPr>
        <p:spPr>
          <a:xfrm>
            <a:off x="6217920" y="464515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5 components explain 93% of the variance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548640" y="513892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FBF1D8"/>
          </a:solidFill>
          <a:ln/>
        </p:spPr>
      </p:sp>
      <p:sp>
        <p:nvSpPr>
          <p:cNvPr id="18" name="Shape 14"/>
          <p:cNvSpPr/>
          <p:nvPr/>
        </p:nvSpPr>
        <p:spPr>
          <a:xfrm>
            <a:off x="694944" y="5257800"/>
            <a:ext cx="329184" cy="329184"/>
          </a:xfrm>
          <a:prstGeom prst="ellipse">
            <a:avLst/>
          </a:prstGeom>
          <a:solidFill>
            <a:srgbClr val="F4B942"/>
          </a:solidFill>
          <a:ln/>
        </p:spPr>
      </p:sp>
      <p:pic>
        <p:nvPicPr>
          <p:cNvPr id="19" name="Image 1" descr="ic_flask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340096"/>
            <a:ext cx="164592" cy="16459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115568" y="513892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LAB   </a:t>
            </a:r>
            <a:pPr algn="l" indent="0" marL="0">
              <a:buNone/>
            </a:pPr>
            <a:r>
              <a:rPr lang="en-US" sz="120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cumulative explained variance and pick the number of components for 90%.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U11 · Dimensionality Reduction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scatte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PCA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Nonlinear &amp; visualisation methods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2615184" cy="1874520"/>
          </a:xfrm>
          <a:prstGeom prst="roundRect">
            <a:avLst>
              <a:gd name="adj" fmla="val 4390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1472184" y="1956816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8" name="Image 1" descr="ic_scatte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064" y="2157984"/>
            <a:ext cx="402336" cy="4023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8368" y="2816352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t-SNE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94944" y="3145536"/>
            <a:ext cx="2322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visualising clusters in 2-D; not for features</a:t>
            </a:r>
            <a:endParaRPr lang="en-US" sz="980" dirty="0"/>
          </a:p>
        </p:txBody>
      </p:sp>
      <p:sp>
        <p:nvSpPr>
          <p:cNvPr id="11" name="Shape 7"/>
          <p:cNvSpPr/>
          <p:nvPr/>
        </p:nvSpPr>
        <p:spPr>
          <a:xfrm>
            <a:off x="3346704" y="1737360"/>
            <a:ext cx="2615184" cy="1874520"/>
          </a:xfrm>
          <a:prstGeom prst="roundRect">
            <a:avLst>
              <a:gd name="adj" fmla="val 4390"/>
            </a:avLst>
          </a:prstGeom>
          <a:solidFill>
            <a:srgbClr val="F2F5F9"/>
          </a:solidFill>
          <a:ln/>
        </p:spPr>
      </p:sp>
      <p:sp>
        <p:nvSpPr>
          <p:cNvPr id="12" name="Shape 8"/>
          <p:cNvSpPr/>
          <p:nvPr/>
        </p:nvSpPr>
        <p:spPr>
          <a:xfrm>
            <a:off x="4270248" y="1956816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3" name="Image 2" descr="ic_random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2157984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56432" y="2816352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UMAP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3493008" y="3145536"/>
            <a:ext cx="2322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than t-SNE, preserves more global structure</a:t>
            </a:r>
            <a:endParaRPr lang="en-US" sz="980" dirty="0"/>
          </a:p>
        </p:txBody>
      </p:sp>
      <p:sp>
        <p:nvSpPr>
          <p:cNvPr id="16" name="Shape 11"/>
          <p:cNvSpPr/>
          <p:nvPr/>
        </p:nvSpPr>
        <p:spPr>
          <a:xfrm>
            <a:off x="6144768" y="1737360"/>
            <a:ext cx="2615184" cy="1874520"/>
          </a:xfrm>
          <a:prstGeom prst="roundRect">
            <a:avLst>
              <a:gd name="adj" fmla="val 4390"/>
            </a:avLst>
          </a:prstGeom>
          <a:solidFill>
            <a:srgbClr val="F2F5F9"/>
          </a:solidFill>
          <a:ln/>
        </p:spPr>
      </p:sp>
      <p:sp>
        <p:nvSpPr>
          <p:cNvPr id="17" name="Shape 12"/>
          <p:cNvSpPr/>
          <p:nvPr/>
        </p:nvSpPr>
        <p:spPr>
          <a:xfrm>
            <a:off x="7068312" y="1956816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8" name="Image 3" descr="ic_filter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192" y="2157984"/>
            <a:ext cx="402336" cy="40233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54496" y="2816352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6291072" y="3145536"/>
            <a:ext cx="2322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— separates known classes</a:t>
            </a:r>
            <a:endParaRPr lang="en-US" sz="980" dirty="0"/>
          </a:p>
        </p:txBody>
      </p:sp>
      <p:sp>
        <p:nvSpPr>
          <p:cNvPr id="21" name="Shape 15"/>
          <p:cNvSpPr/>
          <p:nvPr/>
        </p:nvSpPr>
        <p:spPr>
          <a:xfrm>
            <a:off x="8942832" y="1737360"/>
            <a:ext cx="2615184" cy="1874520"/>
          </a:xfrm>
          <a:prstGeom prst="roundRect">
            <a:avLst>
              <a:gd name="adj" fmla="val 4390"/>
            </a:avLst>
          </a:prstGeom>
          <a:solidFill>
            <a:srgbClr val="F2F5F9"/>
          </a:solidFill>
          <a:ln/>
        </p:spPr>
      </p:sp>
      <p:sp>
        <p:nvSpPr>
          <p:cNvPr id="22" name="Shape 16"/>
          <p:cNvSpPr/>
          <p:nvPr/>
        </p:nvSpPr>
        <p:spPr>
          <a:xfrm>
            <a:off x="9866376" y="1956816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3" name="Image 4" descr="ic_compress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9256" y="2157984"/>
            <a:ext cx="402336" cy="40233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052560" y="2816352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Autoencoders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9089136" y="3145536"/>
            <a:ext cx="2322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nets that learn a compressed code</a:t>
            </a:r>
            <a:endParaRPr lang="en-US" sz="980" dirty="0"/>
          </a:p>
        </p:txBody>
      </p:sp>
      <p:sp>
        <p:nvSpPr>
          <p:cNvPr id="26" name="Shape 19"/>
          <p:cNvSpPr/>
          <p:nvPr/>
        </p:nvSpPr>
        <p:spPr>
          <a:xfrm>
            <a:off x="548640" y="4206240"/>
            <a:ext cx="11091672" cy="640080"/>
          </a:xfrm>
          <a:prstGeom prst="roundRect">
            <a:avLst>
              <a:gd name="adj" fmla="val 11429"/>
            </a:avLst>
          </a:prstGeom>
          <a:solidFill>
            <a:srgbClr val="FBF1D8"/>
          </a:solidFill>
          <a:ln/>
        </p:spPr>
      </p:sp>
      <p:sp>
        <p:nvSpPr>
          <p:cNvPr id="27" name="Text 20"/>
          <p:cNvSpPr/>
          <p:nvPr/>
        </p:nvSpPr>
        <p:spPr>
          <a:xfrm>
            <a:off x="822960" y="4206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out:  </a:t>
            </a:r>
            <a:pPr algn="l" indent="0" marL="0">
              <a:buNone/>
            </a:pPr>
            <a:r>
              <a:rPr lang="en-US" sz="1250" dirty="0">
                <a:solidFill>
                  <a:srgbClr val="6B5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t-SNE &amp; UMAP are for visualisation, not for producing features to train on — their axes aren't stable or meaningful.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U11 · Dimensionality Reduction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random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DECISION GUIDE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When to use what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11091672" cy="603504"/>
          </a:xfrm>
          <a:prstGeom prst="roundRect">
            <a:avLst>
              <a:gd name="adj" fmla="val 10606"/>
            </a:avLst>
          </a:prstGeom>
          <a:solidFill>
            <a:srgbClr val="F2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1737360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280160" y="1737360"/>
            <a:ext cx="6035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to keep interpretable columns</a:t>
            </a:r>
            <a:endParaRPr lang="en-US" sz="1250" dirty="0"/>
          </a:p>
        </p:txBody>
      </p:sp>
      <p:pic>
        <p:nvPicPr>
          <p:cNvPr id="9" name="Image 1" descr="ic_arrow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965960"/>
            <a:ext cx="146304" cy="14630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726680" y="1737360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 (filter / Lasso)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48640" y="2414016"/>
            <a:ext cx="11091672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77240" y="2414016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280160" y="2414016"/>
            <a:ext cx="6035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correlated numeric features</a:t>
            </a:r>
            <a:endParaRPr lang="en-US" sz="1250" dirty="0"/>
          </a:p>
        </p:txBody>
      </p:sp>
      <p:pic>
        <p:nvPicPr>
          <p:cNvPr id="14" name="Image 2" descr="ic_arrow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2642616"/>
            <a:ext cx="146304" cy="14630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726680" y="2414016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48640" y="3090672"/>
            <a:ext cx="11091672" cy="603504"/>
          </a:xfrm>
          <a:prstGeom prst="roundRect">
            <a:avLst>
              <a:gd name="adj" fmla="val 10606"/>
            </a:avLst>
          </a:prstGeom>
          <a:solidFill>
            <a:srgbClr val="F2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777240" y="3090672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1280160" y="3090672"/>
            <a:ext cx="6035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want to visualise clusters in 2-D</a:t>
            </a:r>
            <a:endParaRPr lang="en-US" sz="1250" dirty="0"/>
          </a:p>
        </p:txBody>
      </p:sp>
      <p:pic>
        <p:nvPicPr>
          <p:cNvPr id="19" name="Image 3" descr="ic_arrow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0" y="3319272"/>
            <a:ext cx="146304" cy="14630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726680" y="3090672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t-SNE or UMAP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548640" y="3767328"/>
            <a:ext cx="11091672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777240" y="3767328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1280160" y="3767328"/>
            <a:ext cx="6035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available, want class separation</a:t>
            </a:r>
            <a:endParaRPr lang="en-US" sz="1250" dirty="0"/>
          </a:p>
        </p:txBody>
      </p:sp>
      <p:pic>
        <p:nvPicPr>
          <p:cNvPr id="24" name="Image 4" descr="ic_arrow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0" y="3995928"/>
            <a:ext cx="146304" cy="14630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726680" y="3767328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</a:t>
            </a:r>
            <a:endParaRPr lang="en-US" sz="1250" dirty="0"/>
          </a:p>
        </p:txBody>
      </p:sp>
      <p:sp>
        <p:nvSpPr>
          <p:cNvPr id="26" name="Shape 19"/>
          <p:cNvSpPr/>
          <p:nvPr/>
        </p:nvSpPr>
        <p:spPr>
          <a:xfrm>
            <a:off x="548640" y="4443984"/>
            <a:ext cx="11091672" cy="603504"/>
          </a:xfrm>
          <a:prstGeom prst="roundRect">
            <a:avLst>
              <a:gd name="adj" fmla="val 10606"/>
            </a:avLst>
          </a:prstGeom>
          <a:solidFill>
            <a:srgbClr val="F2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777240" y="4443984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1280160" y="4443984"/>
            <a:ext cx="6035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features already, all informative</a:t>
            </a:r>
            <a:endParaRPr lang="en-US" sz="1250" dirty="0"/>
          </a:p>
        </p:txBody>
      </p:sp>
      <p:pic>
        <p:nvPicPr>
          <p:cNvPr id="29" name="Image 5" descr="ic_arrow_go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6640" y="4672584"/>
            <a:ext cx="146304" cy="146304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7726680" y="4443984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reduce — leave it</a:t>
            </a:r>
            <a:endParaRPr lang="en-US" sz="1250" dirty="0"/>
          </a:p>
        </p:txBody>
      </p:sp>
      <p:sp>
        <p:nvSpPr>
          <p:cNvPr id="31" name="Text 23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U11 · Dimensionality Reduction</a:t>
            </a:r>
            <a:endParaRPr lang="en-US" sz="950" dirty="0"/>
          </a:p>
        </p:txBody>
      </p:sp>
      <p:sp>
        <p:nvSpPr>
          <p:cNvPr id="32" name="Text 24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war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IT SAFELY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Pitfalls &amp; best practices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2615184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</p:spPr>
      </p:sp>
      <p:sp>
        <p:nvSpPr>
          <p:cNvPr id="7" name="Shape 4"/>
          <p:cNvSpPr/>
          <p:nvPr/>
        </p:nvSpPr>
        <p:spPr>
          <a:xfrm>
            <a:off x="1472184" y="197510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8" name="Image 1" descr="ic_scal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064" y="2176272"/>
            <a:ext cx="402336" cy="4023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8368" y="285292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first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94944" y="3163824"/>
            <a:ext cx="23225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&amp; distance methods need standardised inputs</a:t>
            </a:r>
            <a:endParaRPr lang="en-US" sz="1030" dirty="0"/>
          </a:p>
        </p:txBody>
      </p:sp>
      <p:sp>
        <p:nvSpPr>
          <p:cNvPr id="11" name="Shape 7"/>
          <p:cNvSpPr/>
          <p:nvPr/>
        </p:nvSpPr>
        <p:spPr>
          <a:xfrm>
            <a:off x="3346704" y="1737360"/>
            <a:ext cx="2615184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</p:spPr>
      </p:sp>
      <p:sp>
        <p:nvSpPr>
          <p:cNvPr id="12" name="Shape 8"/>
          <p:cNvSpPr/>
          <p:nvPr/>
        </p:nvSpPr>
        <p:spPr>
          <a:xfrm>
            <a:off x="4270248" y="197510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3" name="Image 2" descr="ic_warn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2176272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56432" y="285292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on train only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3493008" y="3163824"/>
            <a:ext cx="23225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the reducer on training data, then transform test</a:t>
            </a:r>
            <a:endParaRPr lang="en-US" sz="1030" dirty="0"/>
          </a:p>
        </p:txBody>
      </p:sp>
      <p:sp>
        <p:nvSpPr>
          <p:cNvPr id="16" name="Shape 11"/>
          <p:cNvSpPr/>
          <p:nvPr/>
        </p:nvSpPr>
        <p:spPr>
          <a:xfrm>
            <a:off x="6144768" y="1737360"/>
            <a:ext cx="2615184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</p:spPr>
      </p:sp>
      <p:sp>
        <p:nvSpPr>
          <p:cNvPr id="17" name="Shape 12"/>
          <p:cNvSpPr/>
          <p:nvPr/>
        </p:nvSpPr>
        <p:spPr>
          <a:xfrm>
            <a:off x="7068312" y="197510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18" name="Image 3" descr="ic_zoom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192" y="2176272"/>
            <a:ext cx="402336" cy="40233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54496" y="285292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 interpretability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6291072" y="3163824"/>
            <a:ext cx="23225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axes are mixtures — harder to explain</a:t>
            </a:r>
            <a:endParaRPr lang="en-US" sz="1030" dirty="0"/>
          </a:p>
        </p:txBody>
      </p:sp>
      <p:sp>
        <p:nvSpPr>
          <p:cNvPr id="21" name="Shape 15"/>
          <p:cNvSpPr/>
          <p:nvPr/>
        </p:nvSpPr>
        <p:spPr>
          <a:xfrm>
            <a:off x="8942832" y="1737360"/>
            <a:ext cx="2615184" cy="233172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</p:spPr>
      </p:sp>
      <p:sp>
        <p:nvSpPr>
          <p:cNvPr id="22" name="Shape 16"/>
          <p:cNvSpPr/>
          <p:nvPr/>
        </p:nvSpPr>
        <p:spPr>
          <a:xfrm>
            <a:off x="9866376" y="1975104"/>
            <a:ext cx="768096" cy="768096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3" name="Image 4" descr="ic_check2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9256" y="2176272"/>
            <a:ext cx="402336" cy="40233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052560" y="285292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with reason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9089136" y="3163824"/>
            <a:ext cx="23225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reduce just because you can; measure impact</a:t>
            </a:r>
            <a:endParaRPr lang="en-US" sz="1030" dirty="0"/>
          </a:p>
        </p:txBody>
      </p:sp>
      <p:sp>
        <p:nvSpPr>
          <p:cNvPr id="26" name="Shape 19"/>
          <p:cNvSpPr/>
          <p:nvPr/>
        </p:nvSpPr>
        <p:spPr>
          <a:xfrm>
            <a:off x="548640" y="429768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27" name="Text 20"/>
          <p:cNvSpPr/>
          <p:nvPr/>
        </p:nvSpPr>
        <p:spPr>
          <a:xfrm>
            <a:off x="822960" y="42976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reminder:  </a:t>
            </a:r>
            <a:pPr algn="l" indent="0" marL="0">
              <a:buNone/>
            </a:pPr>
            <a:r>
              <a:rPr lang="en-US" sz="13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PCA or selector fit on the whole dataset leaks test information — always fit inside the training split.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U11 · Dimensionality Reduction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3" name="Image 0" descr="ic_bul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81228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417320" y="78638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6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Recap, homework &amp; what comes next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3657600" cy="3383280"/>
          </a:xfrm>
          <a:prstGeom prst="roundRect">
            <a:avLst>
              <a:gd name="adj" fmla="val 2162"/>
            </a:avLst>
          </a:prstGeom>
          <a:solidFill>
            <a:srgbClr val="F2F5F9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181051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50" kern="0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49808" y="2212848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features hurt (the curse)</a:t>
            </a:r>
            <a:endParaRPr lang="en-US" sz="120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keeps real columns</a:t>
            </a:r>
            <a:endParaRPr lang="en-US" sz="120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(PCA) builds compact axes</a:t>
            </a:r>
            <a:endParaRPr lang="en-US" sz="120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PCs for ~90–95% variance</a:t>
            </a:r>
            <a:endParaRPr lang="en-US" sz="120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first; fit on train only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70832" y="1645920"/>
            <a:ext cx="3657600" cy="3383280"/>
          </a:xfrm>
          <a:prstGeom prst="roundRect">
            <a:avLst>
              <a:gd name="adj" fmla="val 2162"/>
            </a:avLst>
          </a:prstGeom>
          <a:solidFill>
            <a:srgbClr val="FBF1D8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0" y="181051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20" kern="0" dirty="0">
                <a:solidFill>
                  <a:srgbClr val="9A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/ SELF-PACED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0" y="2212848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low-variance &amp; correlated features</a:t>
            </a:r>
            <a:endParaRPr lang="en-US" sz="115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features by mutual information</a:t>
            </a:r>
            <a:endParaRPr lang="en-US" sz="115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PCA; plot explained variance</a:t>
            </a:r>
            <a:endParaRPr lang="en-US" sz="115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components for 90% variance</a:t>
            </a:r>
            <a:endParaRPr lang="en-US" sz="115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 data in 2-D with PCA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193024" y="1645920"/>
            <a:ext cx="3447288" cy="3383280"/>
          </a:xfrm>
          <a:prstGeom prst="roundRect">
            <a:avLst>
              <a:gd name="adj" fmla="val 2162"/>
            </a:avLst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394192" y="181051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394192" y="2331720"/>
            <a:ext cx="457200" cy="45720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5" name="Text 12"/>
          <p:cNvSpPr/>
          <p:nvPr/>
        </p:nvSpPr>
        <p:spPr>
          <a:xfrm>
            <a:off x="8394192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U12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979408" y="228600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ML-Ready Datasets — assembling everything for the model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394192" y="3410712"/>
            <a:ext cx="457200" cy="45720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8" name="Text 15"/>
          <p:cNvSpPr/>
          <p:nvPr/>
        </p:nvSpPr>
        <p:spPr>
          <a:xfrm>
            <a:off x="8394192" y="3410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U13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8979408" y="3364992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C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— how models actually learn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48640" y="5285232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F2F5F9"/>
          </a:solidFill>
          <a:ln/>
        </p:spPr>
      </p:sp>
      <p:sp>
        <p:nvSpPr>
          <p:cNvPr id="21" name="Shape 18"/>
          <p:cNvSpPr/>
          <p:nvPr/>
        </p:nvSpPr>
        <p:spPr>
          <a:xfrm>
            <a:off x="777240" y="5458968"/>
            <a:ext cx="512064" cy="512064"/>
          </a:xfrm>
          <a:prstGeom prst="ellipse">
            <a:avLst/>
          </a:prstGeom>
          <a:solidFill>
            <a:srgbClr val="16263F"/>
          </a:solidFill>
          <a:ln/>
        </p:spPr>
      </p:sp>
      <p:pic>
        <p:nvPicPr>
          <p:cNvPr id="22" name="Image 1" descr="ic_compres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5568696"/>
            <a:ext cx="292608" cy="29260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463040" y="5285232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 </a:t>
            </a:r>
            <a:pPr algn="l"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dimensions to fight overfitting and reveal structure — but only with scaling, on the training split, and for a clear reason.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548640" y="64373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U11 · Dimensionality Reduction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AI/ML Training</dc:creator>
  <cp:lastModifiedBy>AI/ML Training</cp:lastModifiedBy>
  <cp:revision>1</cp:revision>
  <dcterms:created xsi:type="dcterms:W3CDTF">2026-06-11T09:16:18Z</dcterms:created>
  <dcterms:modified xsi:type="dcterms:W3CDTF">2026-06-11T09:16:18Z</dcterms:modified>
</cp:coreProperties>
</file>